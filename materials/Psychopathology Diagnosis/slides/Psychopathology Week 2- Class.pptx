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4"/>
  </p:sldMasterIdLst>
  <p:notesMasterIdLst>
    <p:notesMasterId r:id="rId25"/>
  </p:notesMasterIdLst>
  <p:sldIdLst>
    <p:sldId id="256" r:id="rId5"/>
    <p:sldId id="299" r:id="rId6"/>
    <p:sldId id="298" r:id="rId7"/>
    <p:sldId id="264" r:id="rId8"/>
    <p:sldId id="266" r:id="rId9"/>
    <p:sldId id="292" r:id="rId10"/>
    <p:sldId id="301" r:id="rId11"/>
    <p:sldId id="297" r:id="rId12"/>
    <p:sldId id="277" r:id="rId13"/>
    <p:sldId id="276" r:id="rId14"/>
    <p:sldId id="279" r:id="rId15"/>
    <p:sldId id="267" r:id="rId16"/>
    <p:sldId id="268" r:id="rId17"/>
    <p:sldId id="296" r:id="rId18"/>
    <p:sldId id="269" r:id="rId19"/>
    <p:sldId id="270" r:id="rId20"/>
    <p:sldId id="271" r:id="rId21"/>
    <p:sldId id="272" r:id="rId22"/>
    <p:sldId id="300" r:id="rId23"/>
    <p:sldId id="278" r:id="rId24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73279" autoAdjust="0"/>
  </p:normalViewPr>
  <p:slideViewPr>
    <p:cSldViewPr snapToGrid="0">
      <p:cViewPr varScale="1">
        <p:scale>
          <a:sx n="81" d="100"/>
          <a:sy n="81" d="100"/>
        </p:scale>
        <p:origin x="15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Campbell" userId="ecf2a988-d5fc-4072-947e-3fd9e73d9868" providerId="ADAL" clId="{4FE98532-9E28-4FD1-84BF-C98A5F9C8B48}"/>
    <pc:docChg chg="custSel addSld modSld">
      <pc:chgData name="Robert Campbell" userId="ecf2a988-d5fc-4072-947e-3fd9e73d9868" providerId="ADAL" clId="{4FE98532-9E28-4FD1-84BF-C98A5F9C8B48}" dt="2026-01-14T01:22:24.662" v="207" actId="6549"/>
      <pc:docMkLst>
        <pc:docMk/>
      </pc:docMkLst>
      <pc:sldChg chg="modNotesTx">
        <pc:chgData name="Robert Campbell" userId="ecf2a988-d5fc-4072-947e-3fd9e73d9868" providerId="ADAL" clId="{4FE98532-9E28-4FD1-84BF-C98A5F9C8B48}" dt="2026-01-14T01:18:30.731" v="1" actId="6549"/>
        <pc:sldMkLst>
          <pc:docMk/>
          <pc:sldMk cId="830121039" sldId="264"/>
        </pc:sldMkLst>
      </pc:sldChg>
      <pc:sldChg chg="modNotesTx">
        <pc:chgData name="Robert Campbell" userId="ecf2a988-d5fc-4072-947e-3fd9e73d9868" providerId="ADAL" clId="{4FE98532-9E28-4FD1-84BF-C98A5F9C8B48}" dt="2026-01-14T01:18:33.398" v="2" actId="6549"/>
        <pc:sldMkLst>
          <pc:docMk/>
          <pc:sldMk cId="2913833621" sldId="266"/>
        </pc:sldMkLst>
      </pc:sldChg>
      <pc:sldChg chg="modNotesTx">
        <pc:chgData name="Robert Campbell" userId="ecf2a988-d5fc-4072-947e-3fd9e73d9868" providerId="ADAL" clId="{4FE98532-9E28-4FD1-84BF-C98A5F9C8B48}" dt="2026-01-14T01:21:58.689" v="201" actId="6549"/>
        <pc:sldMkLst>
          <pc:docMk/>
          <pc:sldMk cId="777082863" sldId="267"/>
        </pc:sldMkLst>
      </pc:sldChg>
      <pc:sldChg chg="modNotesTx">
        <pc:chgData name="Robert Campbell" userId="ecf2a988-d5fc-4072-947e-3fd9e73d9868" providerId="ADAL" clId="{4FE98532-9E28-4FD1-84BF-C98A5F9C8B48}" dt="2026-01-14T01:22:02.962" v="202" actId="6549"/>
        <pc:sldMkLst>
          <pc:docMk/>
          <pc:sldMk cId="3635386986" sldId="268"/>
        </pc:sldMkLst>
      </pc:sldChg>
      <pc:sldChg chg="modNotesTx">
        <pc:chgData name="Robert Campbell" userId="ecf2a988-d5fc-4072-947e-3fd9e73d9868" providerId="ADAL" clId="{4FE98532-9E28-4FD1-84BF-C98A5F9C8B48}" dt="2026-01-14T01:22:15.605" v="204" actId="6549"/>
        <pc:sldMkLst>
          <pc:docMk/>
          <pc:sldMk cId="3053042005" sldId="269"/>
        </pc:sldMkLst>
      </pc:sldChg>
      <pc:sldChg chg="modNotesTx">
        <pc:chgData name="Robert Campbell" userId="ecf2a988-d5fc-4072-947e-3fd9e73d9868" providerId="ADAL" clId="{4FE98532-9E28-4FD1-84BF-C98A5F9C8B48}" dt="2026-01-14T01:22:20.873" v="206" actId="6549"/>
        <pc:sldMkLst>
          <pc:docMk/>
          <pc:sldMk cId="3690731261" sldId="270"/>
        </pc:sldMkLst>
      </pc:sldChg>
      <pc:sldChg chg="modNotesTx">
        <pc:chgData name="Robert Campbell" userId="ecf2a988-d5fc-4072-947e-3fd9e73d9868" providerId="ADAL" clId="{4FE98532-9E28-4FD1-84BF-C98A5F9C8B48}" dt="2026-01-14T01:22:24.662" v="207" actId="6549"/>
        <pc:sldMkLst>
          <pc:docMk/>
          <pc:sldMk cId="2756727171" sldId="271"/>
        </pc:sldMkLst>
      </pc:sldChg>
      <pc:sldChg chg="modNotesTx">
        <pc:chgData name="Robert Campbell" userId="ecf2a988-d5fc-4072-947e-3fd9e73d9868" providerId="ADAL" clId="{4FE98532-9E28-4FD1-84BF-C98A5F9C8B48}" dt="2026-01-14T01:21:52.762" v="200" actId="6549"/>
        <pc:sldMkLst>
          <pc:docMk/>
          <pc:sldMk cId="3174653351" sldId="276"/>
        </pc:sldMkLst>
      </pc:sldChg>
      <pc:sldChg chg="modNotesTx">
        <pc:chgData name="Robert Campbell" userId="ecf2a988-d5fc-4072-947e-3fd9e73d9868" providerId="ADAL" clId="{4FE98532-9E28-4FD1-84BF-C98A5F9C8B48}" dt="2026-01-14T01:21:34.163" v="199" actId="6549"/>
        <pc:sldMkLst>
          <pc:docMk/>
          <pc:sldMk cId="2385956290" sldId="277"/>
        </pc:sldMkLst>
      </pc:sldChg>
      <pc:sldChg chg="modNotesTx">
        <pc:chgData name="Robert Campbell" userId="ecf2a988-d5fc-4072-947e-3fd9e73d9868" providerId="ADAL" clId="{4FE98532-9E28-4FD1-84BF-C98A5F9C8B48}" dt="2026-01-14T01:22:06.794" v="203" actId="6549"/>
        <pc:sldMkLst>
          <pc:docMk/>
          <pc:sldMk cId="3390252061" sldId="296"/>
        </pc:sldMkLst>
      </pc:sldChg>
      <pc:sldChg chg="modNotesTx">
        <pc:chgData name="Robert Campbell" userId="ecf2a988-d5fc-4072-947e-3fd9e73d9868" providerId="ADAL" clId="{4FE98532-9E28-4FD1-84BF-C98A5F9C8B48}" dt="2026-01-14T01:18:38.262" v="3" actId="6549"/>
        <pc:sldMkLst>
          <pc:docMk/>
          <pc:sldMk cId="2884615535" sldId="297"/>
        </pc:sldMkLst>
      </pc:sldChg>
      <pc:sldChg chg="modNotesTx">
        <pc:chgData name="Robert Campbell" userId="ecf2a988-d5fc-4072-947e-3fd9e73d9868" providerId="ADAL" clId="{4FE98532-9E28-4FD1-84BF-C98A5F9C8B48}" dt="2026-01-14T01:18:26.510" v="0" actId="6549"/>
        <pc:sldMkLst>
          <pc:docMk/>
          <pc:sldMk cId="2235473583" sldId="299"/>
        </pc:sldMkLst>
      </pc:sldChg>
      <pc:sldChg chg="modSp new mod">
        <pc:chgData name="Robert Campbell" userId="ecf2a988-d5fc-4072-947e-3fd9e73d9868" providerId="ADAL" clId="{4FE98532-9E28-4FD1-84BF-C98A5F9C8B48}" dt="2026-01-14T01:21:22.438" v="198" actId="255"/>
        <pc:sldMkLst>
          <pc:docMk/>
          <pc:sldMk cId="4007743501" sldId="301"/>
        </pc:sldMkLst>
        <pc:spChg chg="mod">
          <ac:chgData name="Robert Campbell" userId="ecf2a988-d5fc-4072-947e-3fd9e73d9868" providerId="ADAL" clId="{4FE98532-9E28-4FD1-84BF-C98A5F9C8B48}" dt="2026-01-14T01:19:54.127" v="67" actId="313"/>
          <ac:spMkLst>
            <pc:docMk/>
            <pc:sldMk cId="4007743501" sldId="301"/>
            <ac:spMk id="2" creationId="{AB586F3A-2D48-BF6A-31BF-6336C6523E7F}"/>
          </ac:spMkLst>
        </pc:spChg>
        <pc:spChg chg="mod">
          <ac:chgData name="Robert Campbell" userId="ecf2a988-d5fc-4072-947e-3fd9e73d9868" providerId="ADAL" clId="{4FE98532-9E28-4FD1-84BF-C98A5F9C8B48}" dt="2026-01-14T01:21:22.438" v="198" actId="255"/>
          <ac:spMkLst>
            <pc:docMk/>
            <pc:sldMk cId="4007743501" sldId="301"/>
            <ac:spMk id="3" creationId="{5FE76B4D-8CC5-B410-855E-F3A3A89E0DC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279CEF-0294-4817-88FE-A5FABA59B481}" type="doc">
      <dgm:prSet loTypeId="urn:microsoft.com/office/officeart/2005/8/layout/hierarchy1" loCatId="hierarchy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C8338A95-DA27-4D55-B0B6-CFB1B8085A46}">
      <dgm:prSet/>
      <dgm:spPr/>
      <dgm:t>
        <a:bodyPr/>
        <a:lstStyle/>
        <a:p>
          <a:r>
            <a:rPr lang="en-US"/>
            <a:t>When do we diagnose?</a:t>
          </a:r>
        </a:p>
      </dgm:t>
    </dgm:pt>
    <dgm:pt modelId="{F8E46DFD-12E6-4CA8-9D9E-660D5CD470B1}" type="parTrans" cxnId="{49BB5A51-80F1-4D5D-B11E-01976BA7A83E}">
      <dgm:prSet/>
      <dgm:spPr/>
      <dgm:t>
        <a:bodyPr/>
        <a:lstStyle/>
        <a:p>
          <a:endParaRPr lang="en-US"/>
        </a:p>
      </dgm:t>
    </dgm:pt>
    <dgm:pt modelId="{090C1A52-F622-4B78-ADF3-2D244C032CF2}" type="sibTrans" cxnId="{49BB5A51-80F1-4D5D-B11E-01976BA7A83E}">
      <dgm:prSet/>
      <dgm:spPr/>
      <dgm:t>
        <a:bodyPr/>
        <a:lstStyle/>
        <a:p>
          <a:endParaRPr lang="en-US"/>
        </a:p>
      </dgm:t>
    </dgm:pt>
    <dgm:pt modelId="{5AC57450-95B1-4644-BB7B-6AA733A9C950}">
      <dgm:prSet/>
      <dgm:spPr/>
      <dgm:t>
        <a:bodyPr/>
        <a:lstStyle/>
        <a:p>
          <a:r>
            <a:rPr lang="en-US"/>
            <a:t>When would we not provide a diagnosis?</a:t>
          </a:r>
        </a:p>
      </dgm:t>
    </dgm:pt>
    <dgm:pt modelId="{3DC315E2-C227-4C9F-A697-AAE1C7247BC0}" type="parTrans" cxnId="{F9C0BA85-4C9A-4C96-ADDC-DAECC3E8F4FB}">
      <dgm:prSet/>
      <dgm:spPr/>
      <dgm:t>
        <a:bodyPr/>
        <a:lstStyle/>
        <a:p>
          <a:endParaRPr lang="en-US"/>
        </a:p>
      </dgm:t>
    </dgm:pt>
    <dgm:pt modelId="{6805DB6B-9B31-4D4A-9760-777B931294BC}" type="sibTrans" cxnId="{F9C0BA85-4C9A-4C96-ADDC-DAECC3E8F4FB}">
      <dgm:prSet/>
      <dgm:spPr/>
      <dgm:t>
        <a:bodyPr/>
        <a:lstStyle/>
        <a:p>
          <a:endParaRPr lang="en-US"/>
        </a:p>
      </dgm:t>
    </dgm:pt>
    <dgm:pt modelId="{B6300984-6193-4202-A6EB-86862CCA2019}">
      <dgm:prSet/>
      <dgm:spPr/>
      <dgm:t>
        <a:bodyPr/>
        <a:lstStyle/>
        <a:p>
          <a:r>
            <a:rPr lang="en-US"/>
            <a:t>Ethical, moral and other considerations…</a:t>
          </a:r>
        </a:p>
      </dgm:t>
    </dgm:pt>
    <dgm:pt modelId="{9715D353-E6A5-4CA7-86F7-324647085745}" type="parTrans" cxnId="{5F5938A9-8B92-43B8-89F1-39B1B11D1647}">
      <dgm:prSet/>
      <dgm:spPr/>
      <dgm:t>
        <a:bodyPr/>
        <a:lstStyle/>
        <a:p>
          <a:endParaRPr lang="en-US"/>
        </a:p>
      </dgm:t>
    </dgm:pt>
    <dgm:pt modelId="{5FA83F40-DC32-45F0-81F4-39BF17E9DE50}" type="sibTrans" cxnId="{5F5938A9-8B92-43B8-89F1-39B1B11D1647}">
      <dgm:prSet/>
      <dgm:spPr/>
      <dgm:t>
        <a:bodyPr/>
        <a:lstStyle/>
        <a:p>
          <a:endParaRPr lang="en-US"/>
        </a:p>
      </dgm:t>
    </dgm:pt>
    <dgm:pt modelId="{85B85473-76CF-4914-B2D6-0EB0982C75F7}" type="pres">
      <dgm:prSet presAssocID="{BA279CEF-0294-4817-88FE-A5FABA59B4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9F087AD-755D-4091-8747-6ED15945E6DB}" type="pres">
      <dgm:prSet presAssocID="{C8338A95-DA27-4D55-B0B6-CFB1B8085A46}" presName="hierRoot1" presStyleCnt="0"/>
      <dgm:spPr/>
    </dgm:pt>
    <dgm:pt modelId="{B7867066-6083-4AB6-8E5D-BDC3845921CA}" type="pres">
      <dgm:prSet presAssocID="{C8338A95-DA27-4D55-B0B6-CFB1B8085A46}" presName="composite" presStyleCnt="0"/>
      <dgm:spPr/>
    </dgm:pt>
    <dgm:pt modelId="{6E1C603C-0BA0-4FC9-A0EE-57CB1F4F14D5}" type="pres">
      <dgm:prSet presAssocID="{C8338A95-DA27-4D55-B0B6-CFB1B8085A46}" presName="background" presStyleLbl="node0" presStyleIdx="0" presStyleCnt="3"/>
      <dgm:spPr/>
    </dgm:pt>
    <dgm:pt modelId="{176AE33C-B0FB-4258-907D-2BD2A7CB7324}" type="pres">
      <dgm:prSet presAssocID="{C8338A95-DA27-4D55-B0B6-CFB1B8085A46}" presName="text" presStyleLbl="fgAcc0" presStyleIdx="0" presStyleCnt="3">
        <dgm:presLayoutVars>
          <dgm:chPref val="3"/>
        </dgm:presLayoutVars>
      </dgm:prSet>
      <dgm:spPr/>
    </dgm:pt>
    <dgm:pt modelId="{FCD9FB9B-F35F-4AF6-87DC-93815D0AF4F6}" type="pres">
      <dgm:prSet presAssocID="{C8338A95-DA27-4D55-B0B6-CFB1B8085A46}" presName="hierChild2" presStyleCnt="0"/>
      <dgm:spPr/>
    </dgm:pt>
    <dgm:pt modelId="{2F13B017-3C12-40C6-A72E-05D6132F05DB}" type="pres">
      <dgm:prSet presAssocID="{5AC57450-95B1-4644-BB7B-6AA733A9C950}" presName="hierRoot1" presStyleCnt="0"/>
      <dgm:spPr/>
    </dgm:pt>
    <dgm:pt modelId="{7466AF91-6319-42A0-90F4-F0F76EC0FC4C}" type="pres">
      <dgm:prSet presAssocID="{5AC57450-95B1-4644-BB7B-6AA733A9C950}" presName="composite" presStyleCnt="0"/>
      <dgm:spPr/>
    </dgm:pt>
    <dgm:pt modelId="{44A833EC-AF06-479C-B82F-6F167A180BC5}" type="pres">
      <dgm:prSet presAssocID="{5AC57450-95B1-4644-BB7B-6AA733A9C950}" presName="background" presStyleLbl="node0" presStyleIdx="1" presStyleCnt="3"/>
      <dgm:spPr/>
    </dgm:pt>
    <dgm:pt modelId="{514EC804-A2FE-4926-9068-CAEC990DC576}" type="pres">
      <dgm:prSet presAssocID="{5AC57450-95B1-4644-BB7B-6AA733A9C950}" presName="text" presStyleLbl="fgAcc0" presStyleIdx="1" presStyleCnt="3">
        <dgm:presLayoutVars>
          <dgm:chPref val="3"/>
        </dgm:presLayoutVars>
      </dgm:prSet>
      <dgm:spPr/>
    </dgm:pt>
    <dgm:pt modelId="{42E3CBE9-91CD-473B-AA0D-9A63BFC652B4}" type="pres">
      <dgm:prSet presAssocID="{5AC57450-95B1-4644-BB7B-6AA733A9C950}" presName="hierChild2" presStyleCnt="0"/>
      <dgm:spPr/>
    </dgm:pt>
    <dgm:pt modelId="{6C4DBB86-0500-4520-B80A-B82BD79E0495}" type="pres">
      <dgm:prSet presAssocID="{B6300984-6193-4202-A6EB-86862CCA2019}" presName="hierRoot1" presStyleCnt="0"/>
      <dgm:spPr/>
    </dgm:pt>
    <dgm:pt modelId="{1B4087BA-C3C6-41AF-8896-3107EE5C841E}" type="pres">
      <dgm:prSet presAssocID="{B6300984-6193-4202-A6EB-86862CCA2019}" presName="composite" presStyleCnt="0"/>
      <dgm:spPr/>
    </dgm:pt>
    <dgm:pt modelId="{6C9530AF-FDC1-457B-937A-424BF4D0A0F6}" type="pres">
      <dgm:prSet presAssocID="{B6300984-6193-4202-A6EB-86862CCA2019}" presName="background" presStyleLbl="node0" presStyleIdx="2" presStyleCnt="3"/>
      <dgm:spPr/>
    </dgm:pt>
    <dgm:pt modelId="{7C0BFEBF-9CED-4D02-A599-1080FAC6929B}" type="pres">
      <dgm:prSet presAssocID="{B6300984-6193-4202-A6EB-86862CCA2019}" presName="text" presStyleLbl="fgAcc0" presStyleIdx="2" presStyleCnt="3">
        <dgm:presLayoutVars>
          <dgm:chPref val="3"/>
        </dgm:presLayoutVars>
      </dgm:prSet>
      <dgm:spPr/>
    </dgm:pt>
    <dgm:pt modelId="{5642FD21-50A1-4BE5-80CC-C6B572E01CF8}" type="pres">
      <dgm:prSet presAssocID="{B6300984-6193-4202-A6EB-86862CCA2019}" presName="hierChild2" presStyleCnt="0"/>
      <dgm:spPr/>
    </dgm:pt>
  </dgm:ptLst>
  <dgm:cxnLst>
    <dgm:cxn modelId="{FB291835-3F84-4134-8E70-B83E1E5DF389}" type="presOf" srcId="{BA279CEF-0294-4817-88FE-A5FABA59B481}" destId="{85B85473-76CF-4914-B2D6-0EB0982C75F7}" srcOrd="0" destOrd="0" presId="urn:microsoft.com/office/officeart/2005/8/layout/hierarchy1"/>
    <dgm:cxn modelId="{49BB5A51-80F1-4D5D-B11E-01976BA7A83E}" srcId="{BA279CEF-0294-4817-88FE-A5FABA59B481}" destId="{C8338A95-DA27-4D55-B0B6-CFB1B8085A46}" srcOrd="0" destOrd="0" parTransId="{F8E46DFD-12E6-4CA8-9D9E-660D5CD470B1}" sibTransId="{090C1A52-F622-4B78-ADF3-2D244C032CF2}"/>
    <dgm:cxn modelId="{F9C0BA85-4C9A-4C96-ADDC-DAECC3E8F4FB}" srcId="{BA279CEF-0294-4817-88FE-A5FABA59B481}" destId="{5AC57450-95B1-4644-BB7B-6AA733A9C950}" srcOrd="1" destOrd="0" parTransId="{3DC315E2-C227-4C9F-A697-AAE1C7247BC0}" sibTransId="{6805DB6B-9B31-4D4A-9760-777B931294BC}"/>
    <dgm:cxn modelId="{5F5938A9-8B92-43B8-89F1-39B1B11D1647}" srcId="{BA279CEF-0294-4817-88FE-A5FABA59B481}" destId="{B6300984-6193-4202-A6EB-86862CCA2019}" srcOrd="2" destOrd="0" parTransId="{9715D353-E6A5-4CA7-86F7-324647085745}" sibTransId="{5FA83F40-DC32-45F0-81F4-39BF17E9DE50}"/>
    <dgm:cxn modelId="{8B773FC6-C1BE-4EE7-8DAA-8C95E05E298E}" type="presOf" srcId="{B6300984-6193-4202-A6EB-86862CCA2019}" destId="{7C0BFEBF-9CED-4D02-A599-1080FAC6929B}" srcOrd="0" destOrd="0" presId="urn:microsoft.com/office/officeart/2005/8/layout/hierarchy1"/>
    <dgm:cxn modelId="{7BAC50D5-F099-4891-B457-ABF3421148A1}" type="presOf" srcId="{C8338A95-DA27-4D55-B0B6-CFB1B8085A46}" destId="{176AE33C-B0FB-4258-907D-2BD2A7CB7324}" srcOrd="0" destOrd="0" presId="urn:microsoft.com/office/officeart/2005/8/layout/hierarchy1"/>
    <dgm:cxn modelId="{5DE5ACE0-2917-42D6-8F9D-350AC937344D}" type="presOf" srcId="{5AC57450-95B1-4644-BB7B-6AA733A9C950}" destId="{514EC804-A2FE-4926-9068-CAEC990DC576}" srcOrd="0" destOrd="0" presId="urn:microsoft.com/office/officeart/2005/8/layout/hierarchy1"/>
    <dgm:cxn modelId="{01099164-81BF-4AF4-B777-02715B10E1A2}" type="presParOf" srcId="{85B85473-76CF-4914-B2D6-0EB0982C75F7}" destId="{A9F087AD-755D-4091-8747-6ED15945E6DB}" srcOrd="0" destOrd="0" presId="urn:microsoft.com/office/officeart/2005/8/layout/hierarchy1"/>
    <dgm:cxn modelId="{BF33F9B9-50FF-4819-888E-20EAB848D88B}" type="presParOf" srcId="{A9F087AD-755D-4091-8747-6ED15945E6DB}" destId="{B7867066-6083-4AB6-8E5D-BDC3845921CA}" srcOrd="0" destOrd="0" presId="urn:microsoft.com/office/officeart/2005/8/layout/hierarchy1"/>
    <dgm:cxn modelId="{64067DF1-F358-4EED-B075-AA5B8C2D4A13}" type="presParOf" srcId="{B7867066-6083-4AB6-8E5D-BDC3845921CA}" destId="{6E1C603C-0BA0-4FC9-A0EE-57CB1F4F14D5}" srcOrd="0" destOrd="0" presId="urn:microsoft.com/office/officeart/2005/8/layout/hierarchy1"/>
    <dgm:cxn modelId="{B67C5E79-7541-441F-BAEB-52E08E2FA0FA}" type="presParOf" srcId="{B7867066-6083-4AB6-8E5D-BDC3845921CA}" destId="{176AE33C-B0FB-4258-907D-2BD2A7CB7324}" srcOrd="1" destOrd="0" presId="urn:microsoft.com/office/officeart/2005/8/layout/hierarchy1"/>
    <dgm:cxn modelId="{B239FDF7-EE82-411D-BA29-938EEE91CB72}" type="presParOf" srcId="{A9F087AD-755D-4091-8747-6ED15945E6DB}" destId="{FCD9FB9B-F35F-4AF6-87DC-93815D0AF4F6}" srcOrd="1" destOrd="0" presId="urn:microsoft.com/office/officeart/2005/8/layout/hierarchy1"/>
    <dgm:cxn modelId="{C5B95E36-A976-4C41-884D-CA56243E8241}" type="presParOf" srcId="{85B85473-76CF-4914-B2D6-0EB0982C75F7}" destId="{2F13B017-3C12-40C6-A72E-05D6132F05DB}" srcOrd="1" destOrd="0" presId="urn:microsoft.com/office/officeart/2005/8/layout/hierarchy1"/>
    <dgm:cxn modelId="{3BCADA26-1F09-4424-8912-0D3AA82D044A}" type="presParOf" srcId="{2F13B017-3C12-40C6-A72E-05D6132F05DB}" destId="{7466AF91-6319-42A0-90F4-F0F76EC0FC4C}" srcOrd="0" destOrd="0" presId="urn:microsoft.com/office/officeart/2005/8/layout/hierarchy1"/>
    <dgm:cxn modelId="{4FFDAA5E-BDEE-40F0-80F0-1CD727D20A24}" type="presParOf" srcId="{7466AF91-6319-42A0-90F4-F0F76EC0FC4C}" destId="{44A833EC-AF06-479C-B82F-6F167A180BC5}" srcOrd="0" destOrd="0" presId="urn:microsoft.com/office/officeart/2005/8/layout/hierarchy1"/>
    <dgm:cxn modelId="{1AD9B598-8AF9-4880-B822-F43ED0BB3434}" type="presParOf" srcId="{7466AF91-6319-42A0-90F4-F0F76EC0FC4C}" destId="{514EC804-A2FE-4926-9068-CAEC990DC576}" srcOrd="1" destOrd="0" presId="urn:microsoft.com/office/officeart/2005/8/layout/hierarchy1"/>
    <dgm:cxn modelId="{F35C52E3-6BCE-4B5F-810F-27351798007E}" type="presParOf" srcId="{2F13B017-3C12-40C6-A72E-05D6132F05DB}" destId="{42E3CBE9-91CD-473B-AA0D-9A63BFC652B4}" srcOrd="1" destOrd="0" presId="urn:microsoft.com/office/officeart/2005/8/layout/hierarchy1"/>
    <dgm:cxn modelId="{D4652B79-213E-4886-8C0A-378088DADB5F}" type="presParOf" srcId="{85B85473-76CF-4914-B2D6-0EB0982C75F7}" destId="{6C4DBB86-0500-4520-B80A-B82BD79E0495}" srcOrd="2" destOrd="0" presId="urn:microsoft.com/office/officeart/2005/8/layout/hierarchy1"/>
    <dgm:cxn modelId="{2969CE52-DE90-4D84-A50A-1809147F75C3}" type="presParOf" srcId="{6C4DBB86-0500-4520-B80A-B82BD79E0495}" destId="{1B4087BA-C3C6-41AF-8896-3107EE5C841E}" srcOrd="0" destOrd="0" presId="urn:microsoft.com/office/officeart/2005/8/layout/hierarchy1"/>
    <dgm:cxn modelId="{C659A853-5980-456F-A0A0-0C2E73CCB27B}" type="presParOf" srcId="{1B4087BA-C3C6-41AF-8896-3107EE5C841E}" destId="{6C9530AF-FDC1-457B-937A-424BF4D0A0F6}" srcOrd="0" destOrd="0" presId="urn:microsoft.com/office/officeart/2005/8/layout/hierarchy1"/>
    <dgm:cxn modelId="{9C4F92DE-0BD5-479A-84AA-D9DB26A35678}" type="presParOf" srcId="{1B4087BA-C3C6-41AF-8896-3107EE5C841E}" destId="{7C0BFEBF-9CED-4D02-A599-1080FAC6929B}" srcOrd="1" destOrd="0" presId="urn:microsoft.com/office/officeart/2005/8/layout/hierarchy1"/>
    <dgm:cxn modelId="{ABD233FE-7134-4219-A147-06149CD33017}" type="presParOf" srcId="{6C4DBB86-0500-4520-B80A-B82BD79E0495}" destId="{5642FD21-50A1-4BE5-80CC-C6B572E01CF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1C603C-0BA0-4FC9-A0EE-57CB1F4F14D5}">
      <dsp:nvSpPr>
        <dsp:cNvPr id="0" name=""/>
        <dsp:cNvSpPr/>
      </dsp:nvSpPr>
      <dsp:spPr>
        <a:xfrm>
          <a:off x="0" y="1074100"/>
          <a:ext cx="2772616" cy="176061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6AE33C-B0FB-4258-907D-2BD2A7CB7324}">
      <dsp:nvSpPr>
        <dsp:cNvPr id="0" name=""/>
        <dsp:cNvSpPr/>
      </dsp:nvSpPr>
      <dsp:spPr>
        <a:xfrm>
          <a:off x="308068" y="1366765"/>
          <a:ext cx="2772616" cy="176061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When do we diagnose?</a:t>
          </a:r>
        </a:p>
      </dsp:txBody>
      <dsp:txXfrm>
        <a:off x="359635" y="1418332"/>
        <a:ext cx="2669482" cy="1657477"/>
      </dsp:txXfrm>
    </dsp:sp>
    <dsp:sp modelId="{44A833EC-AF06-479C-B82F-6F167A180BC5}">
      <dsp:nvSpPr>
        <dsp:cNvPr id="0" name=""/>
        <dsp:cNvSpPr/>
      </dsp:nvSpPr>
      <dsp:spPr>
        <a:xfrm>
          <a:off x="3388753" y="1074100"/>
          <a:ext cx="2772616" cy="176061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4EC804-A2FE-4926-9068-CAEC990DC576}">
      <dsp:nvSpPr>
        <dsp:cNvPr id="0" name=""/>
        <dsp:cNvSpPr/>
      </dsp:nvSpPr>
      <dsp:spPr>
        <a:xfrm>
          <a:off x="3696821" y="1366765"/>
          <a:ext cx="2772616" cy="176061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When would we not provide a diagnosis?</a:t>
          </a:r>
        </a:p>
      </dsp:txBody>
      <dsp:txXfrm>
        <a:off x="3748388" y="1418332"/>
        <a:ext cx="2669482" cy="1657477"/>
      </dsp:txXfrm>
    </dsp:sp>
    <dsp:sp modelId="{6C9530AF-FDC1-457B-937A-424BF4D0A0F6}">
      <dsp:nvSpPr>
        <dsp:cNvPr id="0" name=""/>
        <dsp:cNvSpPr/>
      </dsp:nvSpPr>
      <dsp:spPr>
        <a:xfrm>
          <a:off x="6777506" y="1074100"/>
          <a:ext cx="2772616" cy="176061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C0BFEBF-9CED-4D02-A599-1080FAC6929B}">
      <dsp:nvSpPr>
        <dsp:cNvPr id="0" name=""/>
        <dsp:cNvSpPr/>
      </dsp:nvSpPr>
      <dsp:spPr>
        <a:xfrm>
          <a:off x="7085574" y="1366765"/>
          <a:ext cx="2772616" cy="176061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Ethical, moral and other considerations…</a:t>
          </a:r>
        </a:p>
      </dsp:txBody>
      <dsp:txXfrm>
        <a:off x="7137141" y="1418332"/>
        <a:ext cx="2669482" cy="1657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9E1DA624-036C-443A-BD52-64F1FB142B11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8FBFF4C5-7590-46D3-803F-C86457FB5B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56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1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6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826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2AF86-3E43-4C00-9E79-6131A5C09E5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81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680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3824F-B29A-44FF-B8DD-D5EE6327825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542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3824F-B29A-44FF-B8DD-D5EE632782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11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E3824F-B29A-44FF-B8DD-D5EE6327825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79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A9ECA0-E8EE-4EF6-B29D-9349B365DBE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07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9588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250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249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69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23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932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440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842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BFF4C5-7590-46D3-803F-C86457FB5B8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78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41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92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26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97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469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4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9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96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6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94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30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385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76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07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39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7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1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Psychopathology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Week 2</a:t>
            </a:r>
          </a:p>
        </p:txBody>
      </p:sp>
    </p:spTree>
    <p:extLst>
      <p:ext uri="{BB962C8B-B14F-4D97-AF65-F5344CB8AC3E}">
        <p14:creationId xmlns:p14="http://schemas.microsoft.com/office/powerpoint/2010/main" val="254102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32DCC-0AF0-ED35-811B-67E7881DE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1E09-8246-5A2B-0C87-DBF13079C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491714"/>
            <a:ext cx="5830590" cy="4063465"/>
          </a:xfrm>
        </p:spPr>
        <p:txBody>
          <a:bodyPr>
            <a:normAutofit/>
          </a:bodyPr>
          <a:lstStyle/>
          <a:p>
            <a:r>
              <a:rPr lang="en-US" sz="2400" dirty="0"/>
              <a:t>Why is it important for us to be aware of our own view of psychopathology?</a:t>
            </a:r>
          </a:p>
          <a:p>
            <a:r>
              <a:rPr lang="en-US" sz="2400" dirty="0"/>
              <a:t>What is a definition of a mental Disorder?</a:t>
            </a:r>
          </a:p>
          <a:p>
            <a:r>
              <a:rPr lang="en-US" sz="2400" dirty="0"/>
              <a:t>Describe how and why we use the DSM as a manual?</a:t>
            </a:r>
          </a:p>
          <a:p>
            <a:r>
              <a:rPr lang="en-US" sz="2400" dirty="0"/>
              <a:t>What is the difference between a principal and provisional diagnosis?</a:t>
            </a:r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35B364CC-EE48-CDAA-5069-C26479FA2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9706" y="1933575"/>
            <a:ext cx="3639872" cy="36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7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Approach to using the DSM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865077"/>
          </a:xfrm>
        </p:spPr>
        <p:txBody>
          <a:bodyPr>
            <a:noAutofit/>
          </a:bodyPr>
          <a:lstStyle/>
          <a:p>
            <a:r>
              <a:rPr lang="en-US" sz="2400" dirty="0"/>
              <a:t>What is the presenting issue</a:t>
            </a:r>
          </a:p>
          <a:p>
            <a:pPr lvl="1"/>
            <a:r>
              <a:rPr lang="en-US" sz="2400" dirty="0"/>
              <a:t>What category do symptoms fall into</a:t>
            </a:r>
          </a:p>
          <a:p>
            <a:r>
              <a:rPr lang="en-US" sz="2400" dirty="0"/>
              <a:t>Review Diagnostic Features</a:t>
            </a:r>
          </a:p>
          <a:p>
            <a:pPr lvl="1"/>
            <a:r>
              <a:rPr lang="en-US" sz="2400" dirty="0"/>
              <a:t>Do symptoms fit?</a:t>
            </a:r>
          </a:p>
          <a:p>
            <a:r>
              <a:rPr lang="en-US" sz="2400" dirty="0"/>
              <a:t>Diagnostic Criteria</a:t>
            </a:r>
          </a:p>
          <a:p>
            <a:pPr lvl="1"/>
            <a:r>
              <a:rPr lang="en-US" sz="2400" dirty="0"/>
              <a:t>Systematically verify if FULL criteria is met</a:t>
            </a:r>
          </a:p>
          <a:p>
            <a:r>
              <a:rPr lang="en-US" sz="2400" dirty="0"/>
              <a:t>Differential Diagnosis</a:t>
            </a:r>
          </a:p>
          <a:p>
            <a:pPr lvl="1"/>
            <a:r>
              <a:rPr lang="en-US" sz="2400" dirty="0"/>
              <a:t>Could this be better identified as…</a:t>
            </a:r>
          </a:p>
          <a:p>
            <a:pPr lvl="1"/>
            <a:r>
              <a:rPr lang="en-US" sz="2400" dirty="0"/>
              <a:t>Systematically consider other disorders by repeating process above</a:t>
            </a:r>
          </a:p>
        </p:txBody>
      </p:sp>
    </p:spTree>
    <p:extLst>
      <p:ext uri="{BB962C8B-B14F-4D97-AF65-F5344CB8AC3E}">
        <p14:creationId xmlns:p14="http://schemas.microsoft.com/office/powerpoint/2010/main" val="2605156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Thoughts about Providing a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159975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800" dirty="0"/>
              <a:t>The diagnostic process is complex and multifaceted</a:t>
            </a:r>
          </a:p>
          <a:p>
            <a:pPr lvl="1"/>
            <a:r>
              <a:rPr lang="en-US" sz="2800" dirty="0"/>
              <a:t>Symptoms- current, history of…</a:t>
            </a:r>
          </a:p>
          <a:p>
            <a:pPr lvl="1"/>
            <a:r>
              <a:rPr lang="en-US" sz="2800" dirty="0"/>
              <a:t>Other considerations- Remember the Biopsychosocial approach-Etiology of mental disorders is not always straight forward- Nature and Nurture, Biological and Environmental</a:t>
            </a:r>
          </a:p>
          <a:p>
            <a:r>
              <a:rPr lang="en-US" sz="2800" dirty="0"/>
              <a:t>A Diagnosis is not Simply Checking Boxes of Symptoms</a:t>
            </a:r>
          </a:p>
          <a:p>
            <a:pPr lvl="1"/>
            <a:r>
              <a:rPr lang="en-US" sz="2600" dirty="0"/>
              <a:t>Base diagnoses off a well-informed, thorough evaluation of symptoms, mental health history, medical history, understanding of the client’s experiences</a:t>
            </a:r>
          </a:p>
          <a:p>
            <a:r>
              <a:rPr lang="en-US" sz="2800" dirty="0"/>
              <a:t>Person-Centered Approach- A person not a diagnosis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121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en-US"/>
              <a:t>To Diagnose or Not to Diagnose…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7402B9-8481-83E7-93DD-B1E8C972B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2652643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13833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Writing A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0708" y="1914731"/>
            <a:ext cx="8825659" cy="3416300"/>
          </a:xfrm>
        </p:spPr>
        <p:txBody>
          <a:bodyPr>
            <a:noAutofit/>
          </a:bodyPr>
          <a:lstStyle/>
          <a:p>
            <a:r>
              <a:rPr lang="en-US" sz="2400" dirty="0"/>
              <a:t>List principal diagnosis first</a:t>
            </a:r>
          </a:p>
          <a:p>
            <a:pPr lvl="1"/>
            <a:r>
              <a:rPr lang="en-US" sz="2400" dirty="0"/>
              <a:t>Others listed in order of clinical significance and treatment planning</a:t>
            </a:r>
          </a:p>
          <a:p>
            <a:r>
              <a:rPr lang="en-US" sz="2400" dirty="0"/>
              <a:t>Consider all subtypes and specifiers</a:t>
            </a:r>
          </a:p>
          <a:p>
            <a:r>
              <a:rPr lang="en-US" sz="2400" dirty="0"/>
              <a:t>Report influencing factors- biopsychosocial influences</a:t>
            </a:r>
          </a:p>
          <a:p>
            <a:pPr lvl="1"/>
            <a:r>
              <a:rPr lang="en-US" sz="2400" dirty="0"/>
              <a:t>Z-Codes- Not a diagnosis</a:t>
            </a:r>
          </a:p>
          <a:p>
            <a:r>
              <a:rPr lang="en-US" sz="2400" dirty="0"/>
              <a:t>Written Diagnosis will vary depending on site, context, audience</a:t>
            </a:r>
          </a:p>
          <a:p>
            <a:r>
              <a:rPr lang="en-US" sz="2400" dirty="0"/>
              <a:t>F32.0 Major Depressive Disorder, Mild, </a:t>
            </a:r>
          </a:p>
          <a:p>
            <a:r>
              <a:rPr lang="en-US" sz="2400" dirty="0"/>
              <a:t>DSM/ICD number name of disorder, specifier, specifier…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9820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6F3A-2D48-BF6A-31BF-6336C652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In – Vignettes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76B4D-8CC5-B410-855E-F3A3A89E0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How did writing the vignette go?</a:t>
            </a:r>
          </a:p>
          <a:p>
            <a:r>
              <a:rPr lang="en-US" sz="3200" dirty="0"/>
              <a:t>What did you notice- Easy, Difficult, Unexpected…</a:t>
            </a:r>
          </a:p>
          <a:p>
            <a:r>
              <a:rPr lang="en-US" sz="3200" dirty="0"/>
              <a:t>What about reading the DSM?</a:t>
            </a:r>
          </a:p>
        </p:txBody>
      </p:sp>
    </p:spTree>
    <p:extLst>
      <p:ext uri="{BB962C8B-B14F-4D97-AF65-F5344CB8AC3E}">
        <p14:creationId xmlns:p14="http://schemas.microsoft.com/office/powerpoint/2010/main" val="400774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Depressive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Sad, irritable, and cognitive changes</a:t>
            </a:r>
          </a:p>
          <a:p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Addition of Disruptive Mood Dysregulation Disorder</a:t>
            </a:r>
          </a:p>
          <a:p>
            <a:pPr lvl="1"/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Avoid over diagnosis of Bipolar in children</a:t>
            </a:r>
          </a:p>
          <a:p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Differs from grief, “normal” sadness and mood changes</a:t>
            </a:r>
          </a:p>
          <a:p>
            <a:endParaRPr lang="en-US" sz="36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05487-D615-4D49-8D54-C96A0A10A647}"/>
              </a:ext>
            </a:extLst>
          </p:cNvPr>
          <p:cNvSpPr txBox="1"/>
          <p:nvPr/>
        </p:nvSpPr>
        <p:spPr>
          <a:xfrm>
            <a:off x="9851315" y="5977468"/>
            <a:ext cx="130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2884615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046351"/>
          </a:xfrm>
        </p:spPr>
        <p:txBody>
          <a:bodyPr/>
          <a:lstStyle/>
          <a:p>
            <a:r>
              <a:rPr lang="en-US" dirty="0"/>
              <a:t>Disruptive Mood Dysregulation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268187"/>
            <a:ext cx="8595360" cy="3911950"/>
          </a:xfrm>
        </p:spPr>
        <p:txBody>
          <a:bodyPr>
            <a:no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 and frequent irritability and aggression</a:t>
            </a:r>
          </a:p>
          <a:p>
            <a:pPr lvl="1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Temper outbursts and chronic irritability</a:t>
            </a:r>
          </a:p>
          <a:p>
            <a:pPr lvl="1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Aggression is more that what would be considered appropriate to situation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Onset before age 10</a:t>
            </a:r>
          </a:p>
          <a:p>
            <a:pPr lvl="1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Must rule out development disorders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Differs from bipolar based on lack of shift from depression and irritable mood</a:t>
            </a:r>
          </a:p>
          <a:p>
            <a:pPr lvl="1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DMD does not typical shift to bipolar, but to depression and anxiety</a:t>
            </a:r>
          </a:p>
          <a:p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C67368-0488-4C95-AE53-8DF2D43D9545}"/>
              </a:ext>
            </a:extLst>
          </p:cNvPr>
          <p:cNvSpPr txBox="1"/>
          <p:nvPr/>
        </p:nvSpPr>
        <p:spPr>
          <a:xfrm>
            <a:off x="10397415" y="5977468"/>
            <a:ext cx="1537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2385956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Major Depressive Disorder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Low mood and loss of interest in ALL activities</a:t>
            </a:r>
          </a:p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Disturbances </a:t>
            </a:r>
          </a:p>
          <a:p>
            <a:pPr lvl="1"/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sleep, appetite, psychomotor activity</a:t>
            </a:r>
          </a:p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Feelings of guilt, hopelessness, suicidal ideation</a:t>
            </a:r>
          </a:p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Fatigue and decreased energy, concertation issues</a:t>
            </a:r>
          </a:p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Agitation and Irritability</a:t>
            </a:r>
          </a:p>
          <a:p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7600A5-EF1A-41EA-A973-FE725BE8E05C}"/>
              </a:ext>
            </a:extLst>
          </p:cNvPr>
          <p:cNvSpPr txBox="1"/>
          <p:nvPr/>
        </p:nvSpPr>
        <p:spPr>
          <a:xfrm>
            <a:off x="9851315" y="5977468"/>
            <a:ext cx="1643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3174653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Persistent and Premenstrual Dysphoric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3747" y="2162387"/>
            <a:ext cx="7359614" cy="3721945"/>
          </a:xfrm>
        </p:spPr>
        <p:txBody>
          <a:bodyPr>
            <a:noAutofit/>
          </a:bodyPr>
          <a:lstStyle/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Persistent Depressive Disorder</a:t>
            </a:r>
          </a:p>
          <a:p>
            <a:pPr lvl="1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occur after MD episode and MD symptoms may continue</a:t>
            </a:r>
          </a:p>
          <a:p>
            <a:pPr lvl="1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2-year period of symptoms</a:t>
            </a:r>
          </a:p>
          <a:p>
            <a:pPr lvl="1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 than 2 months without symptoms</a:t>
            </a:r>
          </a:p>
          <a:p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Premenstrual Dysphoric Disorder</a:t>
            </a:r>
          </a:p>
          <a:p>
            <a:pPr lvl="1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Mood changes, anxiety and irritability that are beyond typical experience</a:t>
            </a:r>
          </a:p>
          <a:p>
            <a:pPr lvl="1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 before Pre-menstrual Phase and subside within a week following the start of menses</a:t>
            </a:r>
          </a:p>
          <a:p>
            <a:pPr lvl="1"/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Cause clinically significant distress</a:t>
            </a:r>
          </a:p>
          <a:p>
            <a:pPr lvl="1"/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53C06-8F30-49A7-9286-EFB60B05E990}"/>
              </a:ext>
            </a:extLst>
          </p:cNvPr>
          <p:cNvSpPr txBox="1"/>
          <p:nvPr/>
        </p:nvSpPr>
        <p:spPr>
          <a:xfrm>
            <a:off x="9851315" y="5977468"/>
            <a:ext cx="1703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(APA, 2022)</a:t>
            </a:r>
          </a:p>
        </p:txBody>
      </p:sp>
    </p:spTree>
    <p:extLst>
      <p:ext uri="{BB962C8B-B14F-4D97-AF65-F5344CB8AC3E}">
        <p14:creationId xmlns:p14="http://schemas.microsoft.com/office/powerpoint/2010/main" val="2184771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Anxiety Related Disorders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6447" y="1967540"/>
            <a:ext cx="10408857" cy="4578755"/>
          </a:xfrm>
        </p:spPr>
        <p:txBody>
          <a:bodyPr>
            <a:noAutofit/>
          </a:bodyPr>
          <a:lstStyle/>
          <a:p>
            <a:r>
              <a:rPr lang="en-US" sz="2400" dirty="0"/>
              <a:t>Fear vs. Anxiety</a:t>
            </a:r>
          </a:p>
          <a:p>
            <a:pPr lvl="1"/>
            <a:r>
              <a:rPr lang="en-US" sz="2400" dirty="0"/>
              <a:t>Imminent vs. Future Orientation</a:t>
            </a:r>
          </a:p>
          <a:p>
            <a:r>
              <a:rPr lang="en-US" sz="2400" dirty="0"/>
              <a:t>Disorders differentiated by type of situation or fear object</a:t>
            </a:r>
          </a:p>
          <a:p>
            <a:pPr lvl="1"/>
            <a:r>
              <a:rPr lang="en-US" sz="2000" dirty="0"/>
              <a:t>Separation Anxiety</a:t>
            </a:r>
          </a:p>
          <a:p>
            <a:pPr lvl="1"/>
            <a:r>
              <a:rPr lang="en-US" sz="2000" dirty="0"/>
              <a:t>Specific Phobia</a:t>
            </a:r>
          </a:p>
          <a:p>
            <a:pPr lvl="1"/>
            <a:r>
              <a:rPr lang="en-US" sz="2000" dirty="0"/>
              <a:t>Social Anxiety</a:t>
            </a:r>
          </a:p>
          <a:p>
            <a:pPr lvl="1"/>
            <a:r>
              <a:rPr lang="en-US" sz="2000" dirty="0"/>
              <a:t>Panic Disorder</a:t>
            </a:r>
          </a:p>
          <a:p>
            <a:pPr lvl="1"/>
            <a:r>
              <a:rPr lang="en-US" sz="2000" dirty="0"/>
              <a:t>Generalized Anxiety</a:t>
            </a:r>
          </a:p>
          <a:p>
            <a:r>
              <a:rPr lang="en-US" sz="2400" dirty="0"/>
              <a:t>Different from developmentally appropriate worry</a:t>
            </a:r>
          </a:p>
          <a:p>
            <a:r>
              <a:rPr lang="en-US" sz="2400" dirty="0"/>
              <a:t> persistent, excessive- determination made by clinician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77708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Separation Anxiety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Distress</a:t>
            </a:r>
            <a:r>
              <a:rPr lang="en-US" sz="2400" baseline="0" dirty="0"/>
              <a:t> about separation from attachment figure</a:t>
            </a:r>
          </a:p>
          <a:p>
            <a:pPr lvl="1"/>
            <a:r>
              <a:rPr lang="en-US" sz="2400" baseline="0" dirty="0"/>
              <a:t> In children worry about harm to care giver- harm to self- getting lost kidnapped– in adults discomfort traveling alone, nightmares , excessive worry about family or other loved ones</a:t>
            </a:r>
          </a:p>
          <a:p>
            <a:r>
              <a:rPr lang="en-US" sz="2400" baseline="0" dirty="0"/>
              <a:t>Onset as early as preschool, Typically resolves with age–</a:t>
            </a:r>
          </a:p>
          <a:p>
            <a:r>
              <a:rPr lang="en-US" sz="2400" baseline="0" dirty="0"/>
              <a:t>Increased risk with life stress and trauma</a:t>
            </a:r>
          </a:p>
          <a:p>
            <a:r>
              <a:rPr lang="en-US" sz="2400" baseline="0" dirty="0"/>
              <a:t>Key words are persistent and excessive---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3635386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Mutism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Failure to speak in specific social situations</a:t>
            </a:r>
          </a:p>
          <a:p>
            <a:pPr lvl="1"/>
            <a:r>
              <a:rPr lang="en-US" sz="2200" baseline="0" dirty="0"/>
              <a:t>Not absence of ability to speak- refusal/failure to speak</a:t>
            </a:r>
          </a:p>
          <a:p>
            <a:pPr lvl="1"/>
            <a:r>
              <a:rPr lang="en-US" sz="2200" dirty="0"/>
              <a:t>Tendencies of shyness but beyond typical expressions of shyness</a:t>
            </a:r>
          </a:p>
          <a:p>
            <a:pPr lvl="1"/>
            <a:r>
              <a:rPr lang="en-US" sz="2200" dirty="0"/>
              <a:t>Use of nonverbal communication</a:t>
            </a:r>
          </a:p>
          <a:p>
            <a:r>
              <a:rPr lang="en-US" sz="2400" baseline="0" dirty="0"/>
              <a:t>Interferes with work</a:t>
            </a:r>
            <a:r>
              <a:rPr lang="en-US" sz="2400" dirty="0"/>
              <a:t>, </a:t>
            </a:r>
            <a:r>
              <a:rPr lang="en-US" sz="2400" baseline="0" dirty="0"/>
              <a:t>school or social engagement</a:t>
            </a:r>
          </a:p>
          <a:p>
            <a:r>
              <a:rPr lang="en-US" sz="2400" baseline="0" dirty="0"/>
              <a:t>Experienced for at least 1 month</a:t>
            </a:r>
          </a:p>
          <a:p>
            <a:r>
              <a:rPr lang="en-US" sz="2400" dirty="0"/>
              <a:t>Not related to lack on knowledge or another communication disorder</a:t>
            </a:r>
            <a:endParaRPr lang="en-US" sz="2400" baseline="0" dirty="0"/>
          </a:p>
          <a:p>
            <a:endParaRPr lang="en-US" sz="2400" baseline="0" dirty="0"/>
          </a:p>
          <a:p>
            <a:endParaRPr lang="en-US" sz="2400" baseline="0" dirty="0"/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3390252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Specific Phobia	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Marked Fear or Anxiety of Situations or Objects</a:t>
            </a:r>
          </a:p>
          <a:p>
            <a:pPr lvl="1"/>
            <a:r>
              <a:rPr lang="en-US" sz="2800" dirty="0"/>
              <a:t>Different from “normal” fears</a:t>
            </a:r>
          </a:p>
          <a:p>
            <a:pPr lvl="1"/>
            <a:r>
              <a:rPr lang="en-US" sz="2800" dirty="0"/>
              <a:t>Out of proportion with expected fear response</a:t>
            </a:r>
          </a:p>
          <a:p>
            <a:pPr lvl="1"/>
            <a:r>
              <a:rPr lang="en-US" sz="2800" dirty="0"/>
              <a:t>A response every time stimulus is encountered</a:t>
            </a:r>
          </a:p>
          <a:p>
            <a:r>
              <a:rPr lang="en-US" sz="2800" dirty="0"/>
              <a:t>Experiences may range from worry to panic</a:t>
            </a:r>
          </a:p>
          <a:p>
            <a:r>
              <a:rPr lang="en-US" sz="2800" dirty="0"/>
              <a:t>Must take action to avoid objects or situations</a:t>
            </a:r>
          </a:p>
          <a:p>
            <a:pPr lvl="1"/>
            <a:r>
              <a:rPr lang="en-US" sz="2800" dirty="0"/>
              <a:t>Obvious or subtle actions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3053042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Social Anxiety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18493"/>
            <a:ext cx="8825659" cy="3416300"/>
          </a:xfrm>
        </p:spPr>
        <p:txBody>
          <a:bodyPr>
            <a:noAutofit/>
          </a:bodyPr>
          <a:lstStyle/>
          <a:p>
            <a:r>
              <a:rPr lang="en-US" sz="2200" dirty="0"/>
              <a:t>Fear or worry about being judged/evaluated by others</a:t>
            </a:r>
          </a:p>
          <a:p>
            <a:pPr lvl="1"/>
            <a:r>
              <a:rPr lang="en-US" sz="2000" dirty="0"/>
              <a:t>Children must include fear related to peers</a:t>
            </a:r>
          </a:p>
          <a:p>
            <a:pPr lvl="1"/>
            <a:r>
              <a:rPr lang="en-US" sz="2000" dirty="0"/>
              <a:t>Humiliation, embarrassment, and/or rejection, afraid others will see anxiety</a:t>
            </a:r>
          </a:p>
          <a:p>
            <a:r>
              <a:rPr lang="en-US" sz="2200" dirty="0"/>
              <a:t>Avoid fear situations- eating, drinking, speaking etc.</a:t>
            </a:r>
          </a:p>
          <a:p>
            <a:r>
              <a:rPr lang="en-US" sz="2200" dirty="0"/>
              <a:t>Almost always experience fear or worry</a:t>
            </a:r>
          </a:p>
          <a:p>
            <a:pPr lvl="1"/>
            <a:r>
              <a:rPr lang="en-US" sz="2000" dirty="0"/>
              <a:t>Vary in degree and duration</a:t>
            </a:r>
          </a:p>
          <a:p>
            <a:pPr lvl="1"/>
            <a:r>
              <a:rPr lang="en-US" sz="2000" dirty="0"/>
              <a:t>Out of proportion and beyond normative shyness</a:t>
            </a:r>
          </a:p>
          <a:p>
            <a:r>
              <a:rPr lang="en-US" sz="2200" dirty="0"/>
              <a:t>On set typical in adolescence</a:t>
            </a:r>
          </a:p>
          <a:p>
            <a:pPr lvl="1"/>
            <a:r>
              <a:rPr lang="en-US" sz="2000" dirty="0"/>
              <a:t>More intense in adolescents but broader in adulthood</a:t>
            </a:r>
          </a:p>
          <a:p>
            <a:pPr lvl="1"/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3690731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Panic Disorder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354119"/>
            <a:ext cx="8825659" cy="3416300"/>
          </a:xfrm>
        </p:spPr>
        <p:txBody>
          <a:bodyPr>
            <a:noAutofit/>
          </a:bodyPr>
          <a:lstStyle/>
          <a:p>
            <a:r>
              <a:rPr lang="en-US" sz="2400" dirty="0"/>
              <a:t>Repeated sudden panic attacks</a:t>
            </a:r>
          </a:p>
          <a:p>
            <a:pPr lvl="1"/>
            <a:r>
              <a:rPr lang="en-US" sz="2000" dirty="0"/>
              <a:t>Quick onset</a:t>
            </a:r>
          </a:p>
          <a:p>
            <a:r>
              <a:rPr lang="en-US" sz="2400" dirty="0"/>
              <a:t>Fear of having more attacks</a:t>
            </a:r>
          </a:p>
          <a:p>
            <a:pPr lvl="1"/>
            <a:r>
              <a:rPr lang="en-US" sz="2000" dirty="0"/>
              <a:t>Avoidant behavior</a:t>
            </a:r>
          </a:p>
          <a:p>
            <a:pPr lvl="1"/>
            <a:r>
              <a:rPr lang="en-US" sz="2000" dirty="0"/>
              <a:t>Worry that attacks are related to other health concerns, fear other will notice panic symptoms, fear of losing control</a:t>
            </a:r>
          </a:p>
          <a:p>
            <a:r>
              <a:rPr lang="en-US" sz="2400" dirty="0"/>
              <a:t>Unexpected vs expected</a:t>
            </a:r>
          </a:p>
          <a:p>
            <a:pPr lvl="1"/>
            <a:r>
              <a:rPr lang="en-US" sz="2000" dirty="0"/>
              <a:t>Clinician evaluates and determines</a:t>
            </a:r>
          </a:p>
          <a:p>
            <a:r>
              <a:rPr lang="en-US" sz="2400" dirty="0"/>
              <a:t>Frequency and intensity vary</a:t>
            </a:r>
          </a:p>
          <a:p>
            <a:r>
              <a:rPr lang="en-US" sz="2400" dirty="0"/>
              <a:t>Onset typical in early 20’s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2756727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Generalized Anxiety Disorder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Excessive worry/anxiety about multiple areas</a:t>
            </a:r>
          </a:p>
          <a:p>
            <a:pPr lvl="1"/>
            <a:r>
              <a:rPr lang="en-US" sz="2800" dirty="0"/>
              <a:t>Difficulty controlling worry</a:t>
            </a:r>
          </a:p>
          <a:p>
            <a:pPr lvl="1"/>
            <a:r>
              <a:rPr lang="en-US" sz="2800" dirty="0"/>
              <a:t>Everyday type actives/events</a:t>
            </a:r>
          </a:p>
          <a:p>
            <a:pPr lvl="1"/>
            <a:r>
              <a:rPr lang="en-US" sz="2800" dirty="0"/>
              <a:t>Beyond typical life concerns</a:t>
            </a:r>
          </a:p>
          <a:p>
            <a:r>
              <a:rPr lang="en-US" sz="2800" dirty="0"/>
              <a:t>Pervasive and long duration</a:t>
            </a:r>
          </a:p>
          <a:p>
            <a:pPr lvl="1"/>
            <a:r>
              <a:rPr lang="en-US" sz="2800" dirty="0"/>
              <a:t>Symptoms “wax and wane”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34222" y="6176963"/>
            <a:ext cx="1603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APA, 2022</a:t>
            </a:r>
          </a:p>
        </p:txBody>
      </p:sp>
    </p:spTree>
    <p:extLst>
      <p:ext uri="{BB962C8B-B14F-4D97-AF65-F5344CB8AC3E}">
        <p14:creationId xmlns:p14="http://schemas.microsoft.com/office/powerpoint/2010/main" val="1837319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C4F1-1850-77F0-2066-F89E2D35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 to Listen Differently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E4B6-8123-9EA1-12C4-6AB2CDA52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74" y="2603499"/>
            <a:ext cx="10010899" cy="3809175"/>
          </a:xfrm>
        </p:spPr>
        <p:txBody>
          <a:bodyPr>
            <a:noAutofit/>
          </a:bodyPr>
          <a:lstStyle/>
          <a:p>
            <a:r>
              <a:rPr lang="en-US" sz="2200" dirty="0"/>
              <a:t>As we investigate for symptoms</a:t>
            </a:r>
          </a:p>
          <a:p>
            <a:pPr lvl="1"/>
            <a:r>
              <a:rPr lang="en-US" sz="2200" dirty="0"/>
              <a:t>Be Curious</a:t>
            </a:r>
          </a:p>
          <a:p>
            <a:pPr lvl="1"/>
            <a:r>
              <a:rPr lang="en-US" sz="2200" dirty="0"/>
              <a:t>Look for the thread that </a:t>
            </a:r>
            <a:r>
              <a:rPr lang="en-US" sz="2200" i="1" dirty="0"/>
              <a:t>COULD BE </a:t>
            </a:r>
            <a:r>
              <a:rPr lang="en-US" sz="2200" dirty="0"/>
              <a:t>related to a mental health disorder</a:t>
            </a:r>
          </a:p>
          <a:p>
            <a:pPr lvl="1"/>
            <a:r>
              <a:rPr lang="en-US" sz="2200" dirty="0"/>
              <a:t>Listen for Themes</a:t>
            </a:r>
          </a:p>
          <a:p>
            <a:pPr lvl="1"/>
            <a:r>
              <a:rPr lang="en-US" sz="2200" dirty="0"/>
              <a:t>Do NOT assume but seek to clarify</a:t>
            </a:r>
          </a:p>
          <a:p>
            <a:pPr lvl="1"/>
            <a:r>
              <a:rPr lang="en-US" sz="2200" dirty="0"/>
              <a:t>Listen for what is NOT said</a:t>
            </a:r>
          </a:p>
          <a:p>
            <a:pPr lvl="2"/>
            <a:r>
              <a:rPr lang="en-US" sz="2200" dirty="0"/>
              <a:t>Does the client talk around an issues, avoid, vague responses</a:t>
            </a:r>
          </a:p>
        </p:txBody>
      </p:sp>
    </p:spTree>
    <p:extLst>
      <p:ext uri="{BB962C8B-B14F-4D97-AF65-F5344CB8AC3E}">
        <p14:creationId xmlns:p14="http://schemas.microsoft.com/office/powerpoint/2010/main" val="144400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Vignettes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Breakout groups of three.</a:t>
            </a:r>
          </a:p>
          <a:p>
            <a:r>
              <a:rPr lang="en-US" sz="2800" dirty="0"/>
              <a:t>Take turns reading vignettes and working through the diagnostic Process.</a:t>
            </a:r>
          </a:p>
          <a:p>
            <a:pPr lvl="1"/>
            <a:r>
              <a:rPr lang="en-US" sz="2800" dirty="0"/>
              <a:t>Client- Reads vignette and answers clarifying questions</a:t>
            </a:r>
          </a:p>
          <a:p>
            <a:pPr lvl="1"/>
            <a:r>
              <a:rPr lang="en-US" sz="2800" dirty="0"/>
              <a:t>Clinician- Listens, makes notes, practices clinical interviewing skills, formulate diagnosis.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050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DDAEFC8D976C4FB6F382A1C2EEBBF5" ma:contentTypeVersion="12" ma:contentTypeDescription="Create a new document." ma:contentTypeScope="" ma:versionID="f76ae13385f17dac50ea52e0c151acb1">
  <xsd:schema xmlns:xsd="http://www.w3.org/2001/XMLSchema" xmlns:xs="http://www.w3.org/2001/XMLSchema" xmlns:p="http://schemas.microsoft.com/office/2006/metadata/properties" xmlns:ns3="8cbdc006-41eb-4d7f-b199-172e6709308c" xmlns:ns4="dd1d4fd1-2ee7-44ff-8b26-28b204d969a9" targetNamespace="http://schemas.microsoft.com/office/2006/metadata/properties" ma:root="true" ma:fieldsID="2e49b525173310c1de61e466e631fcfe" ns3:_="" ns4:_="">
    <xsd:import namespace="8cbdc006-41eb-4d7f-b199-172e6709308c"/>
    <xsd:import namespace="dd1d4fd1-2ee7-44ff-8b26-28b204d969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dc006-41eb-4d7f-b199-172e67093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1d4fd1-2ee7-44ff-8b26-28b204d969a9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E9BF0B-F883-4B3E-BBFD-EDA22697F72E}">
  <ds:schemaRefs>
    <ds:schemaRef ds:uri="http://purl.org/dc/terms/"/>
    <ds:schemaRef ds:uri="8cbdc006-41eb-4d7f-b199-172e6709308c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infopath/2007/PartnerControls"/>
    <ds:schemaRef ds:uri="dd1d4fd1-2ee7-44ff-8b26-28b204d969a9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DBDCB55-3B13-4FA4-BE64-281B0CC4D29E}">
  <ds:schemaRefs>
    <ds:schemaRef ds:uri="8cbdc006-41eb-4d7f-b199-172e6709308c"/>
    <ds:schemaRef ds:uri="dd1d4fd1-2ee7-44ff-8b26-28b204d969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299F12-7616-4542-8EBD-BF5EADDB881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680</TotalTime>
  <Words>1016</Words>
  <Application>Microsoft Office PowerPoint</Application>
  <PresentationFormat>Widescreen</PresentationFormat>
  <Paragraphs>176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Gothic</vt:lpstr>
      <vt:lpstr>Wingdings 3</vt:lpstr>
      <vt:lpstr>Ion Boardroom</vt:lpstr>
      <vt:lpstr>Psychopathology  </vt:lpstr>
      <vt:lpstr>Review</vt:lpstr>
      <vt:lpstr>An Approach to using the DSM </vt:lpstr>
      <vt:lpstr>Thoughts about Providing a Diagnosis</vt:lpstr>
      <vt:lpstr>To Diagnose or Not to Diagnose…</vt:lpstr>
      <vt:lpstr>Writing A Diagnosis</vt:lpstr>
      <vt:lpstr>Check In – Vignettes </vt:lpstr>
      <vt:lpstr>Depressive Disorders</vt:lpstr>
      <vt:lpstr>Disruptive Mood Dysregulation </vt:lpstr>
      <vt:lpstr>Major Depressive Disorder </vt:lpstr>
      <vt:lpstr>Persistent and Premenstrual Dysphoric Disorders</vt:lpstr>
      <vt:lpstr>Anxiety Related Disorders</vt:lpstr>
      <vt:lpstr>Separation Anxiety</vt:lpstr>
      <vt:lpstr>Selective Mutism</vt:lpstr>
      <vt:lpstr>Specific Phobia  </vt:lpstr>
      <vt:lpstr>Social Anxiety </vt:lpstr>
      <vt:lpstr>Panic Disorder</vt:lpstr>
      <vt:lpstr>Generalized Anxiety Disorder</vt:lpstr>
      <vt:lpstr>Learn to Listen Differently</vt:lpstr>
      <vt:lpstr>Vignettes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Campbell</dc:creator>
  <cp:lastModifiedBy>Robert Campbell</cp:lastModifiedBy>
  <cp:revision>6</cp:revision>
  <cp:lastPrinted>2026-01-14T00:37:35Z</cp:lastPrinted>
  <dcterms:created xsi:type="dcterms:W3CDTF">2019-09-18T21:53:24Z</dcterms:created>
  <dcterms:modified xsi:type="dcterms:W3CDTF">2026-01-14T01:22:33Z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0x01010084DDAEFC8D976C4FB6F382A1C2EEBBF5</vt:lpwstr>
  </property>
</Properties>
</file>