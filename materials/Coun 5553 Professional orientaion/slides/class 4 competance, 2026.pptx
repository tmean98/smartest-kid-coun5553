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6" r:id="rId1"/>
    <p:sldMasterId id="2147483706" r:id="rId2"/>
    <p:sldMasterId id="2147483712" r:id="rId3"/>
    <p:sldMasterId id="2147483724" r:id="rId4"/>
  </p:sldMasterIdLst>
  <p:notesMasterIdLst>
    <p:notesMasterId r:id="rId71"/>
  </p:notesMasterIdLst>
  <p:handoutMasterIdLst>
    <p:handoutMasterId r:id="rId72"/>
  </p:handoutMasterIdLst>
  <p:sldIdLst>
    <p:sldId id="434" r:id="rId5"/>
    <p:sldId id="446" r:id="rId6"/>
    <p:sldId id="541" r:id="rId7"/>
    <p:sldId id="497" r:id="rId8"/>
    <p:sldId id="504" r:id="rId9"/>
    <p:sldId id="921" r:id="rId10"/>
    <p:sldId id="926" r:id="rId11"/>
    <p:sldId id="516" r:id="rId12"/>
    <p:sldId id="505" r:id="rId13"/>
    <p:sldId id="506" r:id="rId14"/>
    <p:sldId id="544" r:id="rId15"/>
    <p:sldId id="924" r:id="rId16"/>
    <p:sldId id="499" r:id="rId17"/>
    <p:sldId id="542" r:id="rId18"/>
    <p:sldId id="507" r:id="rId19"/>
    <p:sldId id="928" r:id="rId20"/>
    <p:sldId id="508" r:id="rId21"/>
    <p:sldId id="514" r:id="rId22"/>
    <p:sldId id="533" r:id="rId23"/>
    <p:sldId id="481" r:id="rId24"/>
    <p:sldId id="480" r:id="rId25"/>
    <p:sldId id="459" r:id="rId26"/>
    <p:sldId id="922" r:id="rId27"/>
    <p:sldId id="455" r:id="rId28"/>
    <p:sldId id="518" r:id="rId29"/>
    <p:sldId id="547" r:id="rId30"/>
    <p:sldId id="889" r:id="rId31"/>
    <p:sldId id="890" r:id="rId32"/>
    <p:sldId id="891" r:id="rId33"/>
    <p:sldId id="892" r:id="rId34"/>
    <p:sldId id="893" r:id="rId35"/>
    <p:sldId id="894" r:id="rId36"/>
    <p:sldId id="895" r:id="rId37"/>
    <p:sldId id="896" r:id="rId38"/>
    <p:sldId id="923" r:id="rId39"/>
    <p:sldId id="897" r:id="rId40"/>
    <p:sldId id="276" r:id="rId41"/>
    <p:sldId id="545" r:id="rId42"/>
    <p:sldId id="546" r:id="rId43"/>
    <p:sldId id="520" r:id="rId44"/>
    <p:sldId id="905" r:id="rId45"/>
    <p:sldId id="898" r:id="rId46"/>
    <p:sldId id="899" r:id="rId47"/>
    <p:sldId id="900" r:id="rId48"/>
    <p:sldId id="901" r:id="rId49"/>
    <p:sldId id="902" r:id="rId50"/>
    <p:sldId id="903" r:id="rId51"/>
    <p:sldId id="904" r:id="rId52"/>
    <p:sldId id="540" r:id="rId53"/>
    <p:sldId id="465" r:id="rId54"/>
    <p:sldId id="873" r:id="rId55"/>
    <p:sldId id="908" r:id="rId56"/>
    <p:sldId id="909" r:id="rId57"/>
    <p:sldId id="489" r:id="rId58"/>
    <p:sldId id="919" r:id="rId59"/>
    <p:sldId id="888" r:id="rId60"/>
    <p:sldId id="875" r:id="rId61"/>
    <p:sldId id="910" r:id="rId62"/>
    <p:sldId id="914" r:id="rId63"/>
    <p:sldId id="911" r:id="rId64"/>
    <p:sldId id="470" r:id="rId65"/>
    <p:sldId id="290" r:id="rId66"/>
    <p:sldId id="915" r:id="rId67"/>
    <p:sldId id="917" r:id="rId68"/>
    <p:sldId id="485" r:id="rId69"/>
    <p:sldId id="920"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288" userDrawn="1">
          <p15:clr>
            <a:srgbClr val="F26B43"/>
          </p15:clr>
        </p15:guide>
        <p15:guide id="3" orient="horz" pos="4056" userDrawn="1">
          <p15:clr>
            <a:srgbClr val="F26B43"/>
          </p15:clr>
        </p15:guide>
        <p15:guide id="4" orient="horz" pos="1488" userDrawn="1">
          <p15:clr>
            <a:srgbClr val="A4A3A4"/>
          </p15:clr>
        </p15:guide>
        <p15:guide id="5" pos="3816" userDrawn="1">
          <p15:clr>
            <a:srgbClr val="A4A3A4"/>
          </p15:clr>
        </p15:guide>
        <p15:guide id="6" pos="7416" userDrawn="1">
          <p15:clr>
            <a:srgbClr val="F26B43"/>
          </p15:clr>
        </p15:guide>
        <p15:guide id="7" orient="horz" pos="312" userDrawn="1">
          <p15:clr>
            <a:srgbClr val="F26B43"/>
          </p15:clr>
        </p15:guide>
        <p15:guide id="8" orient="horz" pos="2160" userDrawn="1">
          <p15:clr>
            <a:srgbClr val="A4A3A4"/>
          </p15:clr>
        </p15:guide>
        <p15:guide id="9" orient="horz" pos="23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A0A9"/>
    <a:srgbClr val="7C6560"/>
    <a:srgbClr val="8C5896"/>
    <a:srgbClr val="29282D"/>
    <a:srgbClr val="E288B6"/>
    <a:srgbClr val="D75078"/>
    <a:srgbClr val="B38F6A"/>
    <a:srgbClr val="6667AB"/>
    <a:srgbClr val="BBBBBB"/>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32AF41-DEBD-3F49-B2FC-806975813B8C}" v="10" dt="2026-02-13T01:07:31.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3672"/>
        <p:guide pos="288"/>
        <p:guide orient="horz" pos="4056"/>
        <p:guide orient="horz" pos="1488"/>
        <p:guide pos="3816"/>
        <p:guide pos="7416"/>
        <p:guide orient="horz" pos="312"/>
        <p:guide orient="horz" pos="2160"/>
        <p:guide orient="horz" pos="2304"/>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8/10/relationships/authors" Target="author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3440B4-626E-4F3C-BAEA-93BE989AF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3A5570-8E4E-4AA9-B246-5A27A383B9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4A69E4-EFBB-4687-8058-A94EE1B5781B}" type="datetimeFigureOut">
              <a:rPr lang="en-US" smtClean="0"/>
              <a:t>2/12/26</a:t>
            </a:fld>
            <a:endParaRPr lang="en-US"/>
          </a:p>
        </p:txBody>
      </p:sp>
      <p:sp>
        <p:nvSpPr>
          <p:cNvPr id="4" name="Footer Placeholder 3">
            <a:extLst>
              <a:ext uri="{FF2B5EF4-FFF2-40B4-BE49-F238E27FC236}">
                <a16:creationId xmlns:a16="http://schemas.microsoft.com/office/drawing/2014/main" id="{D50D364A-9468-466A-ACCD-ABB3762BE8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9EF394-4AD6-48D1-9C4C-1B3D44BBF5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004FE7-BA7C-4FF4-9756-C6A1F2BCA37F}" type="slidenum">
              <a:rPr lang="en-US" smtClean="0"/>
              <a:t>‹#›</a:t>
            </a:fld>
            <a:endParaRPr lang="en-US"/>
          </a:p>
        </p:txBody>
      </p:sp>
    </p:spTree>
    <p:extLst>
      <p:ext uri="{BB962C8B-B14F-4D97-AF65-F5344CB8AC3E}">
        <p14:creationId xmlns:p14="http://schemas.microsoft.com/office/powerpoint/2010/main" val="2097717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546B2-EB9C-4E9C-8793-C25F32D58B9A}" type="datetimeFigureOut">
              <a:rPr lang="en-US" smtClean="0"/>
              <a:t>2/12/26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3F1C3-4FA3-4491-97F4-43CA9C8BDFDF}" type="slidenum">
              <a:rPr lang="en-US" smtClean="0"/>
              <a:t>‹#›</a:t>
            </a:fld>
            <a:endParaRPr lang="en-US"/>
          </a:p>
        </p:txBody>
      </p:sp>
    </p:spTree>
    <p:extLst>
      <p:ext uri="{BB962C8B-B14F-4D97-AF65-F5344CB8AC3E}">
        <p14:creationId xmlns:p14="http://schemas.microsoft.com/office/powerpoint/2010/main" val="379634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8083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59027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19907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04486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86587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449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5771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A5EF7-41FB-157D-6DCF-6BE993A2B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0FE11-CD06-A605-3A2B-7EC10C757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9E58D-2B18-E2AC-05AF-0F4C42C237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36F29F-DE6F-4B96-B987-8888506AE2C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5320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9243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30709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81234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02503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78039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5857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72135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06519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466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54421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04246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51298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57584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548851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72369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65000"/>
              <a:lumOff val="35000"/>
            </a:schemeClr>
          </a:solidFill>
        </p:spPr>
        <p:txBody>
          <a:bodyPr anchor="ctr"/>
          <a:lstStyle>
            <a:lvl1pPr marL="0" indent="0" algn="ctr">
              <a:buNone/>
              <a:defRPr>
                <a:solidFill>
                  <a:schemeClr val="bg1"/>
                </a:solidFill>
              </a:defRPr>
            </a:lvl1pPr>
          </a:lstStyle>
          <a:p>
            <a:endParaRPr lang="en-US"/>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200" y="4517136"/>
            <a:ext cx="6581554" cy="1371600"/>
          </a:xfrm>
        </p:spPr>
        <p:txBody>
          <a:bodyPr>
            <a:normAutofit/>
          </a:bodyPr>
          <a:lstStyle>
            <a:lvl1pPr>
              <a:lnSpc>
                <a:spcPts val="4600"/>
              </a:lnSpc>
              <a:defRPr sz="3600" cap="all" baseline="0">
                <a:solidFill>
                  <a:schemeClr val="bg1"/>
                </a:solidFill>
              </a:defRPr>
            </a:lvl1pPr>
          </a:lstStyle>
          <a:p>
            <a:r>
              <a:rPr lang="en-US"/>
              <a:t>Click to edit Master title style</a:t>
            </a:r>
          </a:p>
        </p:txBody>
      </p:sp>
    </p:spTree>
    <p:extLst>
      <p:ext uri="{BB962C8B-B14F-4D97-AF65-F5344CB8AC3E}">
        <p14:creationId xmlns:p14="http://schemas.microsoft.com/office/powerpoint/2010/main" val="365024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50000"/>
              <a:lumOff val="50000"/>
            </a:schemeClr>
          </a:solidFill>
        </p:spPr>
        <p:txBody>
          <a:bodyPr anchor="ctr"/>
          <a:lstStyle>
            <a:lvl1pPr marL="0" indent="0">
              <a:buNone/>
              <a:defRPr>
                <a:solidFill>
                  <a:schemeClr val="bg1"/>
                </a:solidFill>
              </a:defRPr>
            </a:lvl1pPr>
          </a:lstStyle>
          <a:p>
            <a:endParaRPr lang="en-US"/>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p:txBody>
          <a:bodyPr/>
          <a:lstStyle>
            <a:lvl1pPr>
              <a:defRPr cap="all" baseline="0">
                <a:solidFill>
                  <a:schemeClr val="bg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3429000" y="2240280"/>
            <a:ext cx="4645152" cy="4197096"/>
          </a:xfrm>
          <a:prstGeom prst="rect">
            <a:avLst/>
          </a:prstGeom>
        </p:spPr>
        <p:txBody>
          <a:bodyPr/>
          <a:lstStyle>
            <a:lvl1pPr marL="0" indent="0">
              <a:lnSpc>
                <a:spcPts val="28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Text Placeholder 6">
            <a:extLst>
              <a:ext uri="{FF2B5EF4-FFF2-40B4-BE49-F238E27FC236}">
                <a16:creationId xmlns:a16="http://schemas.microsoft.com/office/drawing/2014/main" id="{EC1CB8E8-F58A-4B26-B8AA-8977FC608E83}"/>
              </a:ext>
            </a:extLst>
          </p:cNvPr>
          <p:cNvSpPr>
            <a:spLocks noGrp="1"/>
          </p:cNvSpPr>
          <p:nvPr>
            <p:ph type="body" sz="quarter" idx="15" hasCustomPrompt="1"/>
          </p:nvPr>
        </p:nvSpPr>
        <p:spPr>
          <a:xfrm>
            <a:off x="630936" y="4498848"/>
            <a:ext cx="2121408" cy="621792"/>
          </a:xfrm>
          <a:prstGeom prst="rect">
            <a:avLst/>
          </a:prstGeom>
        </p:spPr>
        <p:txBody>
          <a:bodyPr lIns="0"/>
          <a:lstStyle>
            <a:lvl1pPr marL="0" indent="0">
              <a:lnSpc>
                <a:spcPts val="1800"/>
              </a:lnSpc>
              <a:spcBef>
                <a:spcPts val="0"/>
              </a:spcBef>
              <a:buNone/>
              <a:defRPr sz="1200" b="1"/>
            </a:lvl1pPr>
            <a:lvl2pPr marL="457200" indent="0">
              <a:lnSpc>
                <a:spcPts val="1800"/>
              </a:lnSpc>
              <a:spcBef>
                <a:spcPts val="0"/>
              </a:spcBef>
              <a:buNone/>
              <a:defRPr sz="1200" b="1"/>
            </a:lvl2pPr>
            <a:lvl3pPr marL="914400" indent="0">
              <a:lnSpc>
                <a:spcPts val="1800"/>
              </a:lnSpc>
              <a:spcBef>
                <a:spcPts val="0"/>
              </a:spcBef>
              <a:buNone/>
              <a:defRPr sz="1200" b="1"/>
            </a:lvl3pPr>
            <a:lvl4pPr marL="1371600" indent="0">
              <a:lnSpc>
                <a:spcPts val="1800"/>
              </a:lnSpc>
              <a:spcBef>
                <a:spcPts val="0"/>
              </a:spcBef>
              <a:buNone/>
              <a:defRPr sz="1200" b="1"/>
            </a:lvl4pPr>
            <a:lvl5pPr marL="1828800" indent="0">
              <a:lnSpc>
                <a:spcPts val="1800"/>
              </a:lnSpc>
              <a:spcBef>
                <a:spcPts val="0"/>
              </a:spcBef>
              <a:buNone/>
              <a:defRPr sz="1200" b="1"/>
            </a:lvl5pPr>
          </a:lstStyle>
          <a:p>
            <a:pPr lvl="0"/>
            <a:r>
              <a:rPr lang="en-US"/>
              <a:t>Click to text</a:t>
            </a:r>
          </a:p>
        </p:txBody>
      </p:sp>
    </p:spTree>
    <p:extLst>
      <p:ext uri="{BB962C8B-B14F-4D97-AF65-F5344CB8AC3E}">
        <p14:creationId xmlns:p14="http://schemas.microsoft.com/office/powerpoint/2010/main" val="198059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lette Balance act">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cap="all" baseline="0"/>
            </a:lvl1pPr>
          </a:lstStyle>
          <a:p>
            <a:r>
              <a:rPr lang="en-US"/>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a:p>
        </p:txBody>
      </p:sp>
    </p:spTree>
    <p:extLst>
      <p:ext uri="{BB962C8B-B14F-4D97-AF65-F5344CB8AC3E}">
        <p14:creationId xmlns:p14="http://schemas.microsoft.com/office/powerpoint/2010/main" val="2901903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mersive palette Balancing Act">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869985-B973-4011-9FA2-83D7EBB2EA53}"/>
              </a:ext>
            </a:extLst>
          </p:cNvPr>
          <p:cNvSpPr/>
          <p:nvPr userDrawn="1"/>
        </p:nvSpPr>
        <p:spPr>
          <a:xfrm>
            <a:off x="0" y="2400300"/>
            <a:ext cx="4267200" cy="4457700"/>
          </a:xfrm>
          <a:prstGeom prst="rect">
            <a:avLst/>
          </a:prstGeom>
          <a:solidFill>
            <a:srgbClr val="D293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99032"/>
            <a:ext cx="3619501" cy="877824"/>
          </a:xfrm>
        </p:spPr>
        <p:txBody>
          <a:bodyPr/>
          <a:lstStyle>
            <a:lvl1pPr>
              <a:defRPr cap="all" baseline="0">
                <a:solidFill>
                  <a:schemeClr val="bg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254500" y="0"/>
            <a:ext cx="7480300" cy="6858000"/>
          </a:xfrm>
          <a:prstGeom prst="rect">
            <a:avLst/>
          </a:prstGeom>
        </p:spPr>
        <p:txBody>
          <a:bodyPr anchor="ctr"/>
          <a:lstStyle>
            <a:lvl1pPr marL="0" indent="0" algn="ctr">
              <a:buNone/>
              <a:defRPr>
                <a:solidFill>
                  <a:schemeClr val="bg1"/>
                </a:solidFill>
              </a:defRPr>
            </a:lvl1pPr>
          </a:lstStyle>
          <a:p>
            <a:endParaRPr lang="en-US"/>
          </a:p>
        </p:txBody>
      </p:sp>
      <p:sp>
        <p:nvSpPr>
          <p:cNvPr id="8" name="Rectangle 7">
            <a:extLst>
              <a:ext uri="{FF2B5EF4-FFF2-40B4-BE49-F238E27FC236}">
                <a16:creationId xmlns:a16="http://schemas.microsoft.com/office/drawing/2014/main" id="{E75D44F0-DADD-4DCC-82EC-FDB3E9878AA9}"/>
              </a:ext>
            </a:extLst>
          </p:cNvPr>
          <p:cNvSpPr/>
          <p:nvPr userDrawn="1"/>
        </p:nvSpPr>
        <p:spPr>
          <a:xfrm>
            <a:off x="11734800" y="4445000"/>
            <a:ext cx="457200" cy="2413000"/>
          </a:xfrm>
          <a:prstGeom prst="rect">
            <a:avLst/>
          </a:prstGeom>
          <a:solidFill>
            <a:srgbClr val="884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8CFE2C9-8B6E-4DDA-A5EA-04581F7629F0}"/>
              </a:ext>
            </a:extLst>
          </p:cNvPr>
          <p:cNvSpPr/>
          <p:nvPr userDrawn="1"/>
        </p:nvSpPr>
        <p:spPr>
          <a:xfrm>
            <a:off x="11734800" y="0"/>
            <a:ext cx="457200" cy="4462272"/>
          </a:xfrm>
          <a:prstGeom prst="rect">
            <a:avLst/>
          </a:prstGeom>
          <a:solidFill>
            <a:srgbClr val="86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18234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9" name="Rectangle 8" hidden="1"/>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a:p>
        </p:txBody>
      </p:sp>
      <p:sp>
        <p:nvSpPr>
          <p:cNvPr id="12" name="Title 1">
            <a:extLst>
              <a:ext uri="{FF2B5EF4-FFF2-40B4-BE49-F238E27FC236}">
                <a16:creationId xmlns:a16="http://schemas.microsoft.com/office/drawing/2014/main" id="{96FEDCD9-19A7-423B-ABE0-DDD032DE8879}"/>
              </a:ext>
            </a:extLst>
          </p:cNvPr>
          <p:cNvSpPr>
            <a:spLocks noGrp="1"/>
          </p:cNvSpPr>
          <p:nvPr>
            <p:ph type="title"/>
          </p:nvPr>
        </p:nvSpPr>
        <p:spPr>
          <a:xfrm>
            <a:off x="457199" y="914400"/>
            <a:ext cx="7467601" cy="1572768"/>
          </a:xfrm>
        </p:spPr>
        <p:txBody>
          <a:bodyPr/>
          <a:lstStyle>
            <a:lvl1pPr>
              <a:lnSpc>
                <a:spcPts val="4600"/>
              </a:lnSpc>
              <a:defRPr/>
            </a:lvl1pPr>
          </a:lstStyle>
          <a:p>
            <a:r>
              <a:rPr lang="en-US"/>
              <a:t>Click to edit Master title style</a:t>
            </a:r>
          </a:p>
        </p:txBody>
      </p:sp>
      <p:sp>
        <p:nvSpPr>
          <p:cNvPr id="14" name="Text Placeholder 9">
            <a:extLst>
              <a:ext uri="{FF2B5EF4-FFF2-40B4-BE49-F238E27FC236}">
                <a16:creationId xmlns:a16="http://schemas.microsoft.com/office/drawing/2014/main" id="{EBD7372B-17B4-4062-8BFA-745581B27349}"/>
              </a:ext>
            </a:extLst>
          </p:cNvPr>
          <p:cNvSpPr>
            <a:spLocks noGrp="1"/>
          </p:cNvSpPr>
          <p:nvPr>
            <p:ph type="body" sz="quarter" idx="14" hasCustomPrompt="1"/>
          </p:nvPr>
        </p:nvSpPr>
        <p:spPr>
          <a:xfrm>
            <a:off x="457200" y="2540000"/>
            <a:ext cx="6591300" cy="3403600"/>
          </a:xfrm>
          <a:prstGeom prst="rect">
            <a:avLst/>
          </a:prstGeom>
        </p:spPr>
        <p:txBody>
          <a:bodyPr/>
          <a:lstStyle>
            <a:lvl1pPr marL="342900" indent="-342900">
              <a:lnSpc>
                <a:spcPts val="3000"/>
              </a:lnSpc>
              <a:spcBef>
                <a:spcPts val="0"/>
              </a:spcBef>
              <a:buFont typeface="+mj-lt"/>
              <a:buAutoNum type="arabicPeriod"/>
              <a:defRPr sz="1800"/>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3" name="Picture Placeholder 2">
            <a:extLst>
              <a:ext uri="{FF2B5EF4-FFF2-40B4-BE49-F238E27FC236}">
                <a16:creationId xmlns:a16="http://schemas.microsoft.com/office/drawing/2014/main" id="{C09A28F9-9D68-48A2-A1AD-C1C318C0EC8D}"/>
              </a:ext>
            </a:extLst>
          </p:cNvPr>
          <p:cNvSpPr>
            <a:spLocks noGrp="1"/>
          </p:cNvSpPr>
          <p:nvPr>
            <p:ph type="pic" sz="quarter" idx="15"/>
          </p:nvPr>
        </p:nvSpPr>
        <p:spPr>
          <a:xfrm>
            <a:off x="8115300" y="1384300"/>
            <a:ext cx="3410712" cy="4572000"/>
          </a:xfrm>
          <a:prstGeom prst="roundRect">
            <a:avLst>
              <a:gd name="adj" fmla="val 2543"/>
            </a:avLst>
          </a:prstGeom>
        </p:spPr>
        <p:txBody>
          <a:bodyPr anchor="ctr"/>
          <a:lstStyle>
            <a:lvl1pPr marL="0" indent="0" algn="ctr">
              <a:buNone/>
              <a:defRPr/>
            </a:lvl1pPr>
          </a:lstStyle>
          <a:p>
            <a:endParaRPr lang="en-US"/>
          </a:p>
        </p:txBody>
      </p:sp>
    </p:spTree>
    <p:extLst>
      <p:ext uri="{BB962C8B-B14F-4D97-AF65-F5344CB8AC3E}">
        <p14:creationId xmlns:p14="http://schemas.microsoft.com/office/powerpoint/2010/main" val="218583654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lette Wellsprin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a:p>
        </p:txBody>
      </p:sp>
    </p:spTree>
    <p:extLst>
      <p:ext uri="{BB962C8B-B14F-4D97-AF65-F5344CB8AC3E}">
        <p14:creationId xmlns:p14="http://schemas.microsoft.com/office/powerpoint/2010/main" val="220594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mersive palette Wellspring">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86ECD6-DF3C-4CA6-9A77-ED32AC37F81F}"/>
              </a:ext>
            </a:extLst>
          </p:cNvPr>
          <p:cNvSpPr/>
          <p:nvPr userDrawn="1"/>
        </p:nvSpPr>
        <p:spPr>
          <a:xfrm>
            <a:off x="0" y="0"/>
            <a:ext cx="2445488"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D3F081E-4462-4B33-A41E-0432A3B439D9}"/>
              </a:ext>
            </a:extLst>
          </p:cNvPr>
          <p:cNvSpPr/>
          <p:nvPr userDrawn="1"/>
        </p:nvSpPr>
        <p:spPr>
          <a:xfrm rot="5400000">
            <a:off x="10740656" y="5406656"/>
            <a:ext cx="2445488" cy="457200"/>
          </a:xfrm>
          <a:prstGeom prst="rect">
            <a:avLst/>
          </a:prstGeom>
          <a:solidFill>
            <a:srgbClr val="8A58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5FA2D1-6BF4-4194-B815-8C66D013FD27}"/>
              </a:ext>
            </a:extLst>
          </p:cNvPr>
          <p:cNvSpPr/>
          <p:nvPr userDrawn="1"/>
        </p:nvSpPr>
        <p:spPr>
          <a:xfrm>
            <a:off x="7982712" y="495300"/>
            <a:ext cx="3753612" cy="5943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88F0DF-BC0B-473C-82DC-7FC46D38FAC1}"/>
              </a:ext>
            </a:extLst>
          </p:cNvPr>
          <p:cNvSpPr/>
          <p:nvPr userDrawn="1"/>
        </p:nvSpPr>
        <p:spPr>
          <a:xfrm>
            <a:off x="4251158" y="495300"/>
            <a:ext cx="3787056" cy="594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709160" y="960120"/>
            <a:ext cx="6574536" cy="5074920"/>
          </a:xfrm>
          <a:prstGeom prst="rect">
            <a:avLst/>
          </a:prstGeom>
        </p:spPr>
        <p:txBody>
          <a:bodyPr anchor="ctr"/>
          <a:lstStyle>
            <a:lvl1pPr marL="0" indent="0" algn="ctr">
              <a:buNone/>
              <a:defRPr>
                <a:solidFill>
                  <a:schemeClr val="bg1"/>
                </a:solidFill>
              </a:defRPr>
            </a:lvl1pPr>
          </a:lstStyle>
          <a:p>
            <a:endParaRPr lang="en-US"/>
          </a:p>
        </p:txBody>
      </p:sp>
      <p:sp>
        <p:nvSpPr>
          <p:cNvPr id="13" name="Rectangle 12">
            <a:extLst>
              <a:ext uri="{FF2B5EF4-FFF2-40B4-BE49-F238E27FC236}">
                <a16:creationId xmlns:a16="http://schemas.microsoft.com/office/drawing/2014/main" id="{FDF3E524-6AEB-4529-804C-0B9CD9992050}"/>
              </a:ext>
            </a:extLst>
          </p:cNvPr>
          <p:cNvSpPr/>
          <p:nvPr userDrawn="1"/>
        </p:nvSpPr>
        <p:spPr>
          <a:xfrm>
            <a:off x="228600" y="241300"/>
            <a:ext cx="11772900" cy="6400800"/>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4CFF2CAC-AD21-48FA-AD68-A643AAA6A8C4}"/>
              </a:ext>
            </a:extLst>
          </p:cNvPr>
          <p:cNvCxnSpPr>
            <a:cxnSpLocks/>
          </p:cNvCxnSpPr>
          <p:nvPr userDrawn="1"/>
        </p:nvCxnSpPr>
        <p:spPr>
          <a:xfrm>
            <a:off x="228600" y="2415910"/>
            <a:ext cx="402255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71600"/>
            <a:ext cx="3619501" cy="877824"/>
          </a:xfrm>
        </p:spPr>
        <p:txBody>
          <a:bodyPr/>
          <a:lstStyle>
            <a:lvl1pPr>
              <a:lnSpc>
                <a:spcPts val="4320"/>
              </a:lnSpc>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51225590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165EB-E7F0-DA9F-8A12-263A3261F2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2B5C8C-FC89-46FF-1429-3547FA543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9C152-84AC-F57A-69BF-D7357291D78D}"/>
              </a:ext>
            </a:extLst>
          </p:cNvPr>
          <p:cNvSpPr>
            <a:spLocks noGrp="1"/>
          </p:cNvSpPr>
          <p:nvPr>
            <p:ph type="dt" sz="half" idx="10"/>
          </p:nvPr>
        </p:nvSpPr>
        <p:spPr/>
        <p:txBody>
          <a:bodyPr/>
          <a:lstStyle/>
          <a:p>
            <a:fld id="{919EB33A-A819-6E47-97E1-C76663BE5B67}" type="datetimeFigureOut">
              <a:rPr lang="en-US" smtClean="0"/>
              <a:t>2/12/26</a:t>
            </a:fld>
            <a:endParaRPr lang="en-US"/>
          </a:p>
        </p:txBody>
      </p:sp>
      <p:sp>
        <p:nvSpPr>
          <p:cNvPr id="5" name="Footer Placeholder 4">
            <a:extLst>
              <a:ext uri="{FF2B5EF4-FFF2-40B4-BE49-F238E27FC236}">
                <a16:creationId xmlns:a16="http://schemas.microsoft.com/office/drawing/2014/main" id="{AAEC627E-DD23-4D27-3B25-22514DB15C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2E936-0400-C860-32EF-C5CFB0E077A2}"/>
              </a:ext>
            </a:extLst>
          </p:cNvPr>
          <p:cNvSpPr>
            <a:spLocks noGrp="1"/>
          </p:cNvSpPr>
          <p:nvPr>
            <p:ph type="sldNum" sz="quarter" idx="12"/>
          </p:nvPr>
        </p:nvSpPr>
        <p:spPr/>
        <p:txBody>
          <a:bodyPr/>
          <a:lstStyle/>
          <a:p>
            <a:fld id="{612B98BB-A1E0-254C-AD93-21D9244F8AA6}" type="slidenum">
              <a:rPr lang="en-US" smtClean="0"/>
              <a:t>‹#›</a:t>
            </a:fld>
            <a:endParaRPr lang="en-US"/>
          </a:p>
        </p:txBody>
      </p:sp>
    </p:spTree>
    <p:extLst>
      <p:ext uri="{BB962C8B-B14F-4D97-AF65-F5344CB8AC3E}">
        <p14:creationId xmlns:p14="http://schemas.microsoft.com/office/powerpoint/2010/main" val="189820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a:p>
        </p:txBody>
      </p:sp>
      <p:sp>
        <p:nvSpPr>
          <p:cNvPr id="22" name="Shape 22"/>
          <p:cNvSpPr txBox="1">
            <a:spLocks noGrp="1"/>
          </p:cNvSpPr>
          <p:nvPr>
            <p:ph type="dt" idx="10"/>
          </p:nvPr>
        </p:nvSpPr>
        <p:spPr>
          <a:xfrm>
            <a:off x="8447617" y="113071"/>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kern="0">
              <a:solidFill>
                <a:srgbClr val="FFFFFF"/>
              </a:solidFill>
            </a:endParaRPr>
          </a:p>
        </p:txBody>
      </p:sp>
      <p:sp>
        <p:nvSpPr>
          <p:cNvPr id="23" name="Shape 23"/>
          <p:cNvSpPr txBox="1">
            <a:spLocks noGrp="1"/>
          </p:cNvSpPr>
          <p:nvPr>
            <p:ph type="sldNum" idx="12"/>
          </p:nvPr>
        </p:nvSpPr>
        <p:spPr>
          <a:xfrm>
            <a:off x="11292415" y="113071"/>
            <a:ext cx="735711" cy="182879"/>
          </a:xfrm>
          <a:prstGeom prst="rect">
            <a:avLst/>
          </a:prstGeom>
          <a:noFill/>
          <a:ln>
            <a:noFill/>
          </a:ln>
        </p:spPr>
        <p:txBody>
          <a:bodyPr lIns="91425" tIns="45700" rIns="91425" bIns="45700" anchor="ctr" anchorCtr="0">
            <a:noAutofit/>
          </a:bodyPr>
          <a:lstStyle/>
          <a:p>
            <a:pPr>
              <a:buSzPct val="25000"/>
              <a:defRPr/>
            </a:pPr>
            <a:fld id="{00000000-1234-1234-1234-123412341234}" type="slidenum">
              <a:rPr lang="en-US" sz="900" kern="0" smtClean="0">
                <a:solidFill>
                  <a:srgbClr val="FFFFFF"/>
                </a:solidFill>
                <a:latin typeface="Arial"/>
                <a:ea typeface="Arial"/>
                <a:cs typeface="Arial"/>
                <a:sym typeface="Arial"/>
              </a:rPr>
              <a:pPr>
                <a:buSzPct val="25000"/>
                <a:defRPr/>
              </a:pPr>
              <a:t>‹#›</a:t>
            </a:fld>
            <a:endParaRPr lang="en-US" sz="900" kern="0">
              <a:solidFill>
                <a:srgbClr val="FFFFFF"/>
              </a:solidFill>
              <a:latin typeface="Arial"/>
              <a:ea typeface="Arial"/>
              <a:cs typeface="Arial"/>
              <a:sym typeface="Arial"/>
            </a:endParaRPr>
          </a:p>
        </p:txBody>
      </p:sp>
    </p:spTree>
    <p:extLst>
      <p:ext uri="{BB962C8B-B14F-4D97-AF65-F5344CB8AC3E}">
        <p14:creationId xmlns:p14="http://schemas.microsoft.com/office/powerpoint/2010/main" val="34371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1"/>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5"/>
            <a:ext cx="10972800" cy="2105025"/>
          </a:xfrm>
        </p:spPr>
        <p:txBody>
          <a:bodyPr/>
          <a:lstStyle/>
          <a:p>
            <a:pPr lvl="0"/>
            <a:r>
              <a:rPr lang="en-US"/>
              <a:t>Edit Master text styles</a:t>
            </a:r>
          </a:p>
        </p:txBody>
      </p:sp>
      <p:sp>
        <p:nvSpPr>
          <p:cNvPr id="35" name="Shape 35"/>
          <p:cNvSpPr txBox="1">
            <a:spLocks noGrp="1"/>
          </p:cNvSpPr>
          <p:nvPr>
            <p:ph type="dt" idx="10"/>
          </p:nvPr>
        </p:nvSpPr>
        <p:spPr>
          <a:xfrm>
            <a:off x="8447617" y="113071"/>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1"/>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Tree>
    <p:extLst>
      <p:ext uri="{BB962C8B-B14F-4D97-AF65-F5344CB8AC3E}">
        <p14:creationId xmlns:p14="http://schemas.microsoft.com/office/powerpoint/2010/main" val="1282943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Instructions">
    <p:spTree>
      <p:nvGrpSpPr>
        <p:cNvPr id="1" name=""/>
        <p:cNvGrpSpPr/>
        <p:nvPr/>
      </p:nvGrpSpPr>
      <p:grpSpPr>
        <a:xfrm>
          <a:off x="0" y="0"/>
          <a:ext cx="0" cy="0"/>
          <a:chOff x="0" y="0"/>
          <a:chExt cx="0" cy="0"/>
        </a:xfrm>
      </p:grpSpPr>
      <p:sp>
        <p:nvSpPr>
          <p:cNvPr id="9" name="Rectangle 8" hidden="1"/>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a:p>
        </p:txBody>
      </p:sp>
      <p:sp>
        <p:nvSpPr>
          <p:cNvPr id="12" name="Title 1">
            <a:extLst>
              <a:ext uri="{FF2B5EF4-FFF2-40B4-BE49-F238E27FC236}">
                <a16:creationId xmlns:a16="http://schemas.microsoft.com/office/drawing/2014/main" id="{96FEDCD9-19A7-423B-ABE0-DDD032DE8879}"/>
              </a:ext>
            </a:extLst>
          </p:cNvPr>
          <p:cNvSpPr>
            <a:spLocks noGrp="1"/>
          </p:cNvSpPr>
          <p:nvPr>
            <p:ph type="title"/>
          </p:nvPr>
        </p:nvSpPr>
        <p:spPr>
          <a:xfrm>
            <a:off x="457199" y="914400"/>
            <a:ext cx="7467601" cy="1572768"/>
          </a:xfrm>
        </p:spPr>
        <p:txBody>
          <a:bodyPr/>
          <a:lstStyle>
            <a:lvl1pPr>
              <a:lnSpc>
                <a:spcPts val="4600"/>
              </a:lnSpc>
              <a:defRPr/>
            </a:lvl1pPr>
          </a:lstStyle>
          <a:p>
            <a:r>
              <a:rPr lang="en-US"/>
              <a:t>Click to edit Master title style</a:t>
            </a:r>
          </a:p>
        </p:txBody>
      </p:sp>
      <p:sp>
        <p:nvSpPr>
          <p:cNvPr id="14" name="Text Placeholder 9">
            <a:extLst>
              <a:ext uri="{FF2B5EF4-FFF2-40B4-BE49-F238E27FC236}">
                <a16:creationId xmlns:a16="http://schemas.microsoft.com/office/drawing/2014/main" id="{EBD7372B-17B4-4062-8BFA-745581B27349}"/>
              </a:ext>
            </a:extLst>
          </p:cNvPr>
          <p:cNvSpPr>
            <a:spLocks noGrp="1"/>
          </p:cNvSpPr>
          <p:nvPr>
            <p:ph type="body" sz="quarter" idx="14" hasCustomPrompt="1"/>
          </p:nvPr>
        </p:nvSpPr>
        <p:spPr>
          <a:xfrm>
            <a:off x="457200" y="2540000"/>
            <a:ext cx="6591300" cy="3403600"/>
          </a:xfrm>
          <a:prstGeom prst="rect">
            <a:avLst/>
          </a:prstGeom>
        </p:spPr>
        <p:txBody>
          <a:bodyPr/>
          <a:lstStyle>
            <a:lvl1pPr marL="342900" indent="-342900">
              <a:lnSpc>
                <a:spcPts val="3000"/>
              </a:lnSpc>
              <a:spcBef>
                <a:spcPts val="0"/>
              </a:spcBef>
              <a:buFont typeface="+mj-lt"/>
              <a:buAutoNum type="arabicPeriod"/>
              <a:defRPr sz="1800"/>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3" name="Picture Placeholder 2">
            <a:extLst>
              <a:ext uri="{FF2B5EF4-FFF2-40B4-BE49-F238E27FC236}">
                <a16:creationId xmlns:a16="http://schemas.microsoft.com/office/drawing/2014/main" id="{C09A28F9-9D68-48A2-A1AD-C1C318C0EC8D}"/>
              </a:ext>
            </a:extLst>
          </p:cNvPr>
          <p:cNvSpPr>
            <a:spLocks noGrp="1"/>
          </p:cNvSpPr>
          <p:nvPr>
            <p:ph type="pic" sz="quarter" idx="15"/>
          </p:nvPr>
        </p:nvSpPr>
        <p:spPr>
          <a:xfrm>
            <a:off x="8115300" y="1384300"/>
            <a:ext cx="3410712" cy="4572000"/>
          </a:xfrm>
          <a:prstGeom prst="roundRect">
            <a:avLst>
              <a:gd name="adj" fmla="val 2543"/>
            </a:avLst>
          </a:prstGeom>
        </p:spPr>
        <p:txBody>
          <a:bodyPr anchor="ctr"/>
          <a:lstStyle>
            <a:lvl1pPr marL="0" indent="0" algn="ctr">
              <a:buNone/>
              <a:defRPr/>
            </a:lvl1pPr>
          </a:lstStyle>
          <a:p>
            <a:endParaRPr lang="en-US"/>
          </a:p>
        </p:txBody>
      </p:sp>
    </p:spTree>
    <p:extLst>
      <p:ext uri="{BB962C8B-B14F-4D97-AF65-F5344CB8AC3E}">
        <p14:creationId xmlns:p14="http://schemas.microsoft.com/office/powerpoint/2010/main" val="1618718433"/>
      </p:ext>
    </p:extLst>
  </p:cSld>
  <p:clrMapOvr>
    <a:masterClrMapping/>
  </p:clrMapOvr>
  <p:extLst>
    <p:ext uri="{DCECCB84-F9BA-43D5-87BE-67443E8EF086}">
      <p15:sldGuideLst xmlns:p15="http://schemas.microsoft.com/office/powerpoint/2012/main">
        <p15:guide id="1" orient="horz" pos="1032">
          <p15:clr>
            <a:srgbClr val="FBAE40"/>
          </p15:clr>
        </p15:guide>
        <p15:guide id="2" pos="3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lette Star of the show">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t" anchorCtr="0">
            <a:normAutofit/>
          </a:bodyPr>
          <a:lstStyle>
            <a:lvl1pPr>
              <a:lnSpc>
                <a:spcPts val="4000"/>
              </a:lnSpc>
              <a:defRPr sz="3200"/>
            </a:lvl1pPr>
          </a:lstStyle>
          <a:p>
            <a:r>
              <a:rPr lang="en-US"/>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a:p>
        </p:txBody>
      </p:sp>
    </p:spTree>
    <p:extLst>
      <p:ext uri="{BB962C8B-B14F-4D97-AF65-F5344CB8AC3E}">
        <p14:creationId xmlns:p14="http://schemas.microsoft.com/office/powerpoint/2010/main" val="1553920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mersive palette Star of the show">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462B86F-90E5-425E-9F83-8477D8111E1D}"/>
              </a:ext>
            </a:extLst>
          </p:cNvPr>
          <p:cNvSpPr/>
          <p:nvPr userDrawn="1"/>
        </p:nvSpPr>
        <p:spPr>
          <a:xfrm>
            <a:off x="0" y="495300"/>
            <a:ext cx="6057900" cy="133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5269853-3C2C-4F9C-B1BB-E00F7A1DB9E1}"/>
              </a:ext>
            </a:extLst>
          </p:cNvPr>
          <p:cNvSpPr/>
          <p:nvPr userDrawn="1"/>
        </p:nvSpPr>
        <p:spPr>
          <a:xfrm>
            <a:off x="6530703" y="495300"/>
            <a:ext cx="2931587" cy="262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759D58-52AF-4785-8A33-F528F46D88A3}"/>
              </a:ext>
            </a:extLst>
          </p:cNvPr>
          <p:cNvSpPr/>
          <p:nvPr userDrawn="1"/>
        </p:nvSpPr>
        <p:spPr>
          <a:xfrm>
            <a:off x="8852618" y="3863713"/>
            <a:ext cx="2921000" cy="259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D3E0F4-EC0D-43C2-AC84-A53134C8566E}"/>
              </a:ext>
            </a:extLst>
          </p:cNvPr>
          <p:cNvSpPr/>
          <p:nvPr userDrawn="1"/>
        </p:nvSpPr>
        <p:spPr>
          <a:xfrm>
            <a:off x="228600" y="241300"/>
            <a:ext cx="11772900" cy="640080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38801" cy="1572126"/>
          </a:xfrm>
        </p:spPr>
        <p:txBody>
          <a:bodyPr anchor="t" anchorCtr="0">
            <a:noAutofit/>
          </a:bodyPr>
          <a:lstStyle>
            <a:lvl1pPr>
              <a:defRPr>
                <a:solidFill>
                  <a:schemeClr val="tx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489200"/>
            <a:ext cx="5202936" cy="3547872"/>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6997700" y="914400"/>
            <a:ext cx="4334256" cy="5093208"/>
          </a:xfrm>
          <a:prstGeom prst="rect">
            <a:avLst/>
          </a:prstGeom>
          <a:solidFill>
            <a:schemeClr val="accent3"/>
          </a:solidFill>
        </p:spPr>
        <p:txBody>
          <a:bodyPr anchor="ctr"/>
          <a:lstStyle>
            <a:lvl1pPr marL="0" indent="0" algn="ctr">
              <a:buNone/>
              <a:defRPr/>
            </a:lvl1pPr>
          </a:lstStyle>
          <a:p>
            <a:endParaRPr lang="en-US"/>
          </a:p>
        </p:txBody>
      </p:sp>
    </p:spTree>
    <p:extLst>
      <p:ext uri="{BB962C8B-B14F-4D97-AF65-F5344CB8AC3E}">
        <p14:creationId xmlns:p14="http://schemas.microsoft.com/office/powerpoint/2010/main" val="318036680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alette Amusements">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a:p>
        </p:txBody>
      </p:sp>
    </p:spTree>
    <p:extLst>
      <p:ext uri="{BB962C8B-B14F-4D97-AF65-F5344CB8AC3E}">
        <p14:creationId xmlns:p14="http://schemas.microsoft.com/office/powerpoint/2010/main" val="1542889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mersive palette Amusements">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A3BC27-A809-4F76-931E-2DE01059A5AB}"/>
              </a:ext>
            </a:extLst>
          </p:cNvPr>
          <p:cNvSpPr/>
          <p:nvPr userDrawn="1"/>
        </p:nvSpPr>
        <p:spPr>
          <a:xfrm>
            <a:off x="6712974" y="1651000"/>
            <a:ext cx="460459" cy="520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6A5108-5EBA-43CE-BA4A-DA9EEF5D808A}"/>
              </a:ext>
            </a:extLst>
          </p:cNvPr>
          <p:cNvSpPr/>
          <p:nvPr userDrawn="1"/>
        </p:nvSpPr>
        <p:spPr>
          <a:xfrm>
            <a:off x="9271000" y="0"/>
            <a:ext cx="2921000" cy="539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712910-50D0-4906-AB08-F37D02F96D4A}"/>
              </a:ext>
            </a:extLst>
          </p:cNvPr>
          <p:cNvSpPr/>
          <p:nvPr userDrawn="1"/>
        </p:nvSpPr>
        <p:spPr>
          <a:xfrm>
            <a:off x="0" y="2387600"/>
            <a:ext cx="5461000" cy="215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AC760C-BE23-4DA2-A294-3B5668F8AECA}"/>
              </a:ext>
            </a:extLst>
          </p:cNvPr>
          <p:cNvSpPr/>
          <p:nvPr userDrawn="1"/>
        </p:nvSpPr>
        <p:spPr>
          <a:xfrm>
            <a:off x="228600" y="241300"/>
            <a:ext cx="11772900" cy="64008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05272" cy="1572126"/>
          </a:xfrm>
        </p:spPr>
        <p:txBody>
          <a:bodyPr anchor="ctr" anchorCtr="0"/>
          <a:lstStyle>
            <a:lvl1pPr>
              <a:defRPr>
                <a:solidFill>
                  <a:schemeClr val="bg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3072384"/>
            <a:ext cx="4946904" cy="2871216"/>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7178040" y="457200"/>
            <a:ext cx="4562856" cy="6400800"/>
          </a:xfrm>
          <a:prstGeom prst="rect">
            <a:avLst/>
          </a:prstGeom>
          <a:solidFill>
            <a:schemeClr val="accent5">
              <a:lumMod val="20000"/>
              <a:lumOff val="80000"/>
            </a:schemeClr>
          </a:solidFill>
        </p:spPr>
        <p:txBody>
          <a:bodyPr anchor="ctr"/>
          <a:lstStyle>
            <a:lvl1pPr marL="0" indent="0" algn="ctr">
              <a:buNone/>
              <a:defRPr/>
            </a:lvl1pPr>
          </a:lstStyle>
          <a:p>
            <a:endParaRPr lang="en-US"/>
          </a:p>
        </p:txBody>
      </p:sp>
    </p:spTree>
    <p:extLst>
      <p:ext uri="{BB962C8B-B14F-4D97-AF65-F5344CB8AC3E}">
        <p14:creationId xmlns:p14="http://schemas.microsoft.com/office/powerpoint/2010/main" val="403717604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2/12/26</a:t>
            </a:fld>
            <a:endParaRPr lang="en-US"/>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a:p>
        </p:txBody>
      </p:sp>
    </p:spTree>
    <p:extLst>
      <p:ext uri="{BB962C8B-B14F-4D97-AF65-F5344CB8AC3E}">
        <p14:creationId xmlns:p14="http://schemas.microsoft.com/office/powerpoint/2010/main" val="2263488725"/>
      </p:ext>
    </p:extLst>
  </p:cSld>
  <p:clrMap bg1="lt1" tx1="dk1" bg2="lt2" tx2="dk2" accent1="accent1" accent2="accent2" accent3="accent3" accent4="accent4" accent5="accent5" accent6="accent6" hlink="hlink" folHlink="folHlink"/>
  <p:sldLayoutIdLst>
    <p:sldLayoutId id="2147483688" r:id="rId1"/>
    <p:sldLayoutId id="2147483700" r:id="rId2"/>
    <p:sldLayoutId id="2147483701" r:id="rId3"/>
    <p:sldLayoutId id="2147483702" r:id="rId4"/>
    <p:sldLayoutId id="2147483662" r:id="rId5"/>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2/12/26</a:t>
            </a:fld>
            <a:endParaRPr lang="en-US"/>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a:p>
        </p:txBody>
      </p:sp>
    </p:spTree>
    <p:extLst>
      <p:ext uri="{BB962C8B-B14F-4D97-AF65-F5344CB8AC3E}">
        <p14:creationId xmlns:p14="http://schemas.microsoft.com/office/powerpoint/2010/main" val="2911603562"/>
      </p:ext>
    </p:extLst>
  </p:cSld>
  <p:clrMap bg1="lt1" tx1="dk1" bg2="lt2" tx2="dk2" accent1="accent1" accent2="accent2" accent3="accent3" accent4="accent4" accent5="accent5" accent6="accent6" hlink="hlink" folHlink="folHlink"/>
  <p:sldLayoutIdLst>
    <p:sldLayoutId id="2147483729" r:id="rId1"/>
    <p:sldLayoutId id="2147483711" r:id="rId2"/>
    <p:sldLayoutId id="2147483732" r:id="rId3"/>
    <p:sldLayoutId id="2147483734" r:id="rId4"/>
    <p:sldLayoutId id="2147483735" r:id="rId5"/>
    <p:sldLayoutId id="2147483737" r:id="rId6"/>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2/12/26</a:t>
            </a:fld>
            <a:endParaRPr lang="en-US"/>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a:p>
        </p:txBody>
      </p:sp>
    </p:spTree>
    <p:extLst>
      <p:ext uri="{BB962C8B-B14F-4D97-AF65-F5344CB8AC3E}">
        <p14:creationId xmlns:p14="http://schemas.microsoft.com/office/powerpoint/2010/main" val="1044508539"/>
      </p:ext>
    </p:extLst>
  </p:cSld>
  <p:clrMap bg1="lt1" tx1="dk1" bg2="lt2" tx2="dk2" accent1="accent1" accent2="accent2" accent3="accent3" accent4="accent4" accent5="accent5" accent6="accent6" hlink="hlink" folHlink="folHlink"/>
  <p:sldLayoutIdLst>
    <p:sldLayoutId id="2147483730" r:id="rId1"/>
    <p:sldLayoutId id="2147483723"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2/12/26</a:t>
            </a:fld>
            <a:endParaRPr lang="en-US"/>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a:p>
        </p:txBody>
      </p:sp>
    </p:spTree>
    <p:extLst>
      <p:ext uri="{BB962C8B-B14F-4D97-AF65-F5344CB8AC3E}">
        <p14:creationId xmlns:p14="http://schemas.microsoft.com/office/powerpoint/2010/main" val="2032013640"/>
      </p:ext>
    </p:extLst>
  </p:cSld>
  <p:clrMap bg1="lt1" tx1="dk1" bg2="lt2" tx2="dk2" accent1="accent1" accent2="accent2" accent3="accent3" accent4="accent4" accent5="accent5" accent6="accent6" hlink="hlink" folHlink="folHlink"/>
  <p:sldLayoutIdLst>
    <p:sldLayoutId id="2147483731" r:id="rId1"/>
    <p:sldLayoutId id="2147483704"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a2znnlABdpg&amp;t=147s"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hyperlink" Target="https://counselingcompact.org/map/" TargetMode="Externa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67C909B-0AD0-483C-AAC3-96A0A3D16BE1}"/>
              </a:ext>
            </a:extLst>
          </p:cNvPr>
          <p:cNvSpPr>
            <a:spLocks noGrp="1"/>
          </p:cNvSpPr>
          <p:nvPr>
            <p:ph type="title"/>
          </p:nvPr>
        </p:nvSpPr>
        <p:spPr>
          <a:xfrm>
            <a:off x="457199" y="1371600"/>
            <a:ext cx="3619501" cy="877824"/>
          </a:xfrm>
        </p:spPr>
        <p:txBody>
          <a:bodyPr/>
          <a:lstStyle/>
          <a:p>
            <a:r>
              <a:rPr lang="en-US"/>
              <a:t>Class 4</a:t>
            </a:r>
          </a:p>
        </p:txBody>
      </p:sp>
      <p:pic>
        <p:nvPicPr>
          <p:cNvPr id="10" name="Picture Placeholder 5" descr="Close up of white flower on black background">
            <a:extLst>
              <a:ext uri="{FF2B5EF4-FFF2-40B4-BE49-F238E27FC236}">
                <a16:creationId xmlns:a16="http://schemas.microsoft.com/office/drawing/2014/main" id="{025F302E-F817-4901-88E0-088AAEB6D59E}"/>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a:ext>
            </a:extLst>
          </a:blip>
          <a:srcRect t="17178" b="17178"/>
          <a:stretch/>
        </p:blipFill>
        <p:spPr>
          <a:xfrm>
            <a:off x="4708525" y="960438"/>
            <a:ext cx="6575425" cy="5075237"/>
          </a:xfrm>
        </p:spPr>
      </p:pic>
      <p:sp>
        <p:nvSpPr>
          <p:cNvPr id="8" name="Text Placeholder 7">
            <a:extLst>
              <a:ext uri="{FF2B5EF4-FFF2-40B4-BE49-F238E27FC236}">
                <a16:creationId xmlns:a16="http://schemas.microsoft.com/office/drawing/2014/main" id="{E154013F-D2A9-4715-ACE2-3720EA35B8D0}"/>
              </a:ext>
            </a:extLst>
          </p:cNvPr>
          <p:cNvSpPr>
            <a:spLocks noGrp="1"/>
          </p:cNvSpPr>
          <p:nvPr>
            <p:ph type="body" sz="quarter" idx="14"/>
          </p:nvPr>
        </p:nvSpPr>
        <p:spPr>
          <a:xfrm>
            <a:off x="457200" y="2779776"/>
            <a:ext cx="3465576" cy="3255264"/>
          </a:xfrm>
        </p:spPr>
        <p:txBody>
          <a:bodyPr lIns="91440" tIns="45720" rIns="91440" bIns="45720" anchor="t"/>
          <a:lstStyle/>
          <a:p>
            <a:r>
              <a:rPr lang="en-US" sz="1800">
                <a:effectLst/>
                <a:latin typeface="Segoe UI" panose="020B0502040204020203" pitchFamily="34" charset="0"/>
              </a:rPr>
              <a:t>February 12</a:t>
            </a:r>
            <a:r>
              <a:rPr lang="en-US">
                <a:latin typeface="Segoe UI" panose="020B0502040204020203" pitchFamily="34" charset="0"/>
              </a:rPr>
              <a:t>, 2026</a:t>
            </a:r>
            <a:endParaRPr lang="en-US" sz="1800">
              <a:effectLst/>
              <a:latin typeface="Segoe UI" panose="020B0502040204020203" pitchFamily="34" charset="0"/>
            </a:endParaRPr>
          </a:p>
          <a:p>
            <a:endParaRPr lang="en-US">
              <a:latin typeface="Segoe UI"/>
              <a:cs typeface="Segoe UI"/>
            </a:endParaRPr>
          </a:p>
          <a:p>
            <a:endParaRPr lang="en-US">
              <a:latin typeface="Segoe UI" panose="020B0502040204020203" pitchFamily="34" charset="0"/>
            </a:endParaRPr>
          </a:p>
          <a:p>
            <a:r>
              <a:rPr lang="en-US">
                <a:latin typeface="Segoe UI"/>
                <a:cs typeface="Segoe UI"/>
              </a:rPr>
              <a:t>Records, Competence and Malpractice</a:t>
            </a:r>
          </a:p>
          <a:p>
            <a:endParaRPr lang="en-US"/>
          </a:p>
        </p:txBody>
      </p:sp>
    </p:spTree>
    <p:extLst>
      <p:ext uri="{BB962C8B-B14F-4D97-AF65-F5344CB8AC3E}">
        <p14:creationId xmlns:p14="http://schemas.microsoft.com/office/powerpoint/2010/main" val="1881260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9667726-A22A-7DAA-9307-FFAF15CF4D25}"/>
              </a:ext>
            </a:extLst>
          </p:cNvPr>
          <p:cNvSpPr>
            <a:spLocks noGrp="1"/>
          </p:cNvSpPr>
          <p:nvPr>
            <p:ph type="title"/>
          </p:nvPr>
        </p:nvSpPr>
        <p:spPr>
          <a:xfrm>
            <a:off x="1389278" y="1233241"/>
            <a:ext cx="3240506" cy="4064628"/>
          </a:xfrm>
        </p:spPr>
        <p:txBody>
          <a:bodyPr vert="horz" lIns="91440" tIns="45720" rIns="91440" bIns="45720" rtlCol="0" anchor="ctr">
            <a:normAutofit/>
          </a:bodyPr>
          <a:lstStyle/>
          <a:p>
            <a:pPr>
              <a:lnSpc>
                <a:spcPct val="90000"/>
              </a:lnSpc>
            </a:pPr>
            <a:r>
              <a:rPr lang="en-US" sz="4400" kern="1200">
                <a:solidFill>
                  <a:srgbClr val="FFFFFF"/>
                </a:solidFill>
                <a:latin typeface="+mj-lt"/>
                <a:ea typeface="+mj-ea"/>
                <a:cs typeface="+mj-cs"/>
              </a:rPr>
              <a:t>agenda</a:t>
            </a:r>
          </a:p>
        </p:txBody>
      </p:sp>
      <p:sp>
        <p:nvSpPr>
          <p:cNvPr id="13" name="Freeform: Shape 12">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 Placeholder 1">
            <a:extLst>
              <a:ext uri="{FF2B5EF4-FFF2-40B4-BE49-F238E27FC236}">
                <a16:creationId xmlns:a16="http://schemas.microsoft.com/office/drawing/2014/main" id="{0E0789A1-6E29-D5A0-E1E1-8AC9AAAEC425}"/>
              </a:ext>
            </a:extLst>
          </p:cNvPr>
          <p:cNvSpPr>
            <a:spLocks noGrp="1"/>
          </p:cNvSpPr>
          <p:nvPr>
            <p:ph type="body" sz="quarter" idx="14"/>
          </p:nvPr>
        </p:nvSpPr>
        <p:spPr>
          <a:xfrm>
            <a:off x="6096000" y="820880"/>
            <a:ext cx="5257799" cy="4889350"/>
          </a:xfrm>
        </p:spPr>
        <p:txBody>
          <a:bodyPr vert="horz" lIns="91440" tIns="45720" rIns="91440" bIns="45720" rtlCol="0" anchor="t">
            <a:normAutofit fontScale="55000" lnSpcReduction="20000"/>
          </a:bodyPr>
          <a:lstStyle/>
          <a:p>
            <a:pPr>
              <a:lnSpc>
                <a:spcPct val="90000"/>
              </a:lnSpc>
              <a:spcAft>
                <a:spcPts val="600"/>
              </a:spcAft>
            </a:pPr>
            <a:endParaRPr lang="en-US" sz="2800" b="1">
              <a:solidFill>
                <a:schemeClr val="tx1"/>
              </a:solidFill>
            </a:endParaRPr>
          </a:p>
          <a:p>
            <a:pPr indent="-228600">
              <a:lnSpc>
                <a:spcPct val="90000"/>
              </a:lnSpc>
              <a:spcAft>
                <a:spcPts val="600"/>
              </a:spcAft>
              <a:buFont typeface="Arial" panose="020B0604020202020204" pitchFamily="34" charset="0"/>
              <a:buChar char="•"/>
            </a:pPr>
            <a:r>
              <a:rPr lang="en-US" sz="3600" b="1">
                <a:solidFill>
                  <a:schemeClr val="tx1"/>
                </a:solidFill>
              </a:rPr>
              <a:t>Records and Subpoenas </a:t>
            </a:r>
          </a:p>
          <a:p>
            <a:pPr>
              <a:lnSpc>
                <a:spcPct val="90000"/>
              </a:lnSpc>
              <a:spcAft>
                <a:spcPts val="600"/>
              </a:spcAft>
            </a:pPr>
            <a:endParaRPr lang="en-US" sz="2800"/>
          </a:p>
          <a:p>
            <a:pPr indent="-228600">
              <a:lnSpc>
                <a:spcPct val="90000"/>
              </a:lnSpc>
              <a:buFont typeface="Arial" panose="020B0604020202020204" pitchFamily="34" charset="0"/>
              <a:buChar char="•"/>
            </a:pPr>
            <a:endParaRPr lang="en-US" sz="2800"/>
          </a:p>
          <a:p>
            <a:pPr indent="-228600">
              <a:lnSpc>
                <a:spcPct val="90000"/>
              </a:lnSpc>
              <a:buFont typeface="Arial" panose="020B0604020202020204" pitchFamily="34" charset="0"/>
              <a:buChar char="•"/>
            </a:pPr>
            <a:r>
              <a:rPr lang="en-US" sz="3600" b="1"/>
              <a:t>Competence</a:t>
            </a:r>
            <a:endParaRPr lang="en-US" sz="3800" b="1"/>
          </a:p>
          <a:p>
            <a:pPr lvl="1" indent="-228600">
              <a:buFont typeface="Arial" panose="020B0604020202020204" pitchFamily="34" charset="0"/>
              <a:buChar char="•"/>
            </a:pPr>
            <a:r>
              <a:rPr lang="en-US"/>
              <a:t>Training and preparation</a:t>
            </a:r>
          </a:p>
          <a:p>
            <a:pPr lvl="1" indent="-228600">
              <a:buFont typeface="Arial" panose="020B0604020202020204" pitchFamily="34" charset="0"/>
              <a:buChar char="•"/>
            </a:pPr>
            <a:r>
              <a:rPr lang="en-US"/>
              <a:t>Credentialing</a:t>
            </a:r>
          </a:p>
          <a:p>
            <a:pPr lvl="1" indent="-228600">
              <a:buFont typeface="Arial" panose="020B0604020202020204" pitchFamily="34" charset="0"/>
              <a:buChar char="•"/>
            </a:pPr>
            <a:r>
              <a:rPr lang="en-US"/>
              <a:t>Maintenance and continuing education</a:t>
            </a:r>
          </a:p>
          <a:p>
            <a:pPr lvl="1" indent="-228600">
              <a:buFont typeface="Arial" panose="020B0604020202020204" pitchFamily="34" charset="0"/>
              <a:buChar char="•"/>
            </a:pPr>
            <a:r>
              <a:rPr lang="en-US"/>
              <a:t>Burnout</a:t>
            </a:r>
          </a:p>
          <a:p>
            <a:pPr lvl="1" indent="-228600">
              <a:buFont typeface="Arial" panose="020B0604020202020204" pitchFamily="34" charset="0"/>
              <a:buChar char="•"/>
            </a:pPr>
            <a:r>
              <a:rPr lang="en-US"/>
              <a:t>Diagnosis and Assessment</a:t>
            </a:r>
          </a:p>
          <a:p>
            <a:pPr lvl="1" indent="-228600">
              <a:buFont typeface="Arial" panose="020B0604020202020204" pitchFamily="34" charset="0"/>
              <a:buChar char="•"/>
            </a:pPr>
            <a:r>
              <a:rPr lang="en-US"/>
              <a:t>Diversity issues in testing</a:t>
            </a:r>
          </a:p>
          <a:p>
            <a:pPr lvl="1" indent="-228600">
              <a:buFont typeface="Arial" panose="020B0604020202020204" pitchFamily="34" charset="0"/>
              <a:buChar char="•"/>
            </a:pPr>
            <a:r>
              <a:rPr lang="en-US"/>
              <a:t>Consultation</a:t>
            </a:r>
          </a:p>
          <a:p>
            <a:pPr marL="228600" lvl="1"/>
            <a:endParaRPr lang="en-US"/>
          </a:p>
          <a:p>
            <a:pPr indent="-228600">
              <a:buFont typeface="Arial" panose="020B0604020202020204" pitchFamily="34" charset="0"/>
              <a:buChar char="•"/>
            </a:pPr>
            <a:r>
              <a:rPr lang="en-US" sz="3600" b="1"/>
              <a:t>Malpractice</a:t>
            </a:r>
          </a:p>
          <a:p>
            <a:pPr lvl="1" indent="-228600">
              <a:buFont typeface="Arial" panose="020B0604020202020204" pitchFamily="34" charset="0"/>
              <a:buChar char="•"/>
            </a:pPr>
            <a:r>
              <a:rPr lang="en-US" sz="2600"/>
              <a:t>Relevant Legal cases</a:t>
            </a:r>
          </a:p>
          <a:p>
            <a:pPr lvl="1" indent="-228600">
              <a:buFont typeface="Arial" panose="020B0604020202020204" pitchFamily="34" charset="0"/>
              <a:buChar char="•"/>
            </a:pPr>
            <a:r>
              <a:rPr lang="en-US"/>
              <a:t>re: suicidal clients</a:t>
            </a:r>
          </a:p>
          <a:p>
            <a:pPr lvl="1" indent="-228600">
              <a:buFont typeface="Arial" panose="020B0604020202020204" pitchFamily="34" charset="0"/>
              <a:buChar char="•"/>
            </a:pPr>
            <a:r>
              <a:rPr lang="en-US"/>
              <a:t>re: threats to hurt others</a:t>
            </a:r>
          </a:p>
          <a:p>
            <a:pPr lvl="1" indent="-228600">
              <a:buFont typeface="Arial" panose="020B0604020202020204" pitchFamily="34" charset="0"/>
              <a:buChar char="•"/>
            </a:pPr>
            <a:r>
              <a:rPr lang="en-US"/>
              <a:t>reporting </a:t>
            </a:r>
          </a:p>
          <a:p>
            <a:pPr lvl="1" indent="-228600">
              <a:buFont typeface="Arial" panose="020B0604020202020204" pitchFamily="34" charset="0"/>
              <a:buChar char="•"/>
            </a:pPr>
            <a:endParaRPr lang="en-US" sz="2400" b="1">
              <a:solidFill>
                <a:schemeClr val="tx1"/>
              </a:solidFill>
            </a:endParaRPr>
          </a:p>
          <a:p>
            <a:pPr indent="-228600">
              <a:buFont typeface="Arial" panose="020B0604020202020204" pitchFamily="34" charset="0"/>
              <a:buChar char="•"/>
            </a:pPr>
            <a:r>
              <a:rPr lang="en-US" sz="3600" b="1">
                <a:solidFill>
                  <a:schemeClr val="tx1"/>
                </a:solidFill>
              </a:rPr>
              <a:t>Presenting your cases</a:t>
            </a:r>
          </a:p>
          <a:p>
            <a:pPr marL="228600" lvl="1"/>
            <a:endParaRPr lang="en-US"/>
          </a:p>
          <a:p>
            <a:pPr marL="228600" lvl="1"/>
            <a:endParaRPr lang="en-US"/>
          </a:p>
          <a:p>
            <a:pPr lvl="1" indent="-228600">
              <a:buFont typeface="Arial" panose="020B0604020202020204" pitchFamily="34" charset="0"/>
              <a:buChar char="•"/>
            </a:pPr>
            <a:endParaRPr lang="en-US"/>
          </a:p>
          <a:p>
            <a:pPr indent="-228600">
              <a:lnSpc>
                <a:spcPct val="90000"/>
              </a:lnSpc>
              <a:buFont typeface="Arial" panose="020B0604020202020204" pitchFamily="34" charset="0"/>
              <a:buChar char="•"/>
            </a:pPr>
            <a:endParaRPr lang="en-US"/>
          </a:p>
        </p:txBody>
      </p:sp>
      <p:sp>
        <p:nvSpPr>
          <p:cNvPr id="19" name="Freeform: Shape 18">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14713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Sheets of magazines being recycled">
            <a:extLst>
              <a:ext uri="{FF2B5EF4-FFF2-40B4-BE49-F238E27FC236}">
                <a16:creationId xmlns:a16="http://schemas.microsoft.com/office/drawing/2014/main" id="{71583FC9-8FE7-4664-A474-F908D21584E6}"/>
              </a:ext>
            </a:extLst>
          </p:cNvPr>
          <p:cNvPicPr>
            <a:picLocks noChangeAspect="1"/>
          </p:cNvPicPr>
          <p:nvPr/>
        </p:nvPicPr>
        <p:blipFill>
          <a:blip r:embed="rId2"/>
          <a:srcRect l="6166" r="9461" b="-1"/>
          <a:stretch/>
        </p:blipFill>
        <p:spPr>
          <a:xfrm>
            <a:off x="3523488" y="10"/>
            <a:ext cx="8668512" cy="6857990"/>
          </a:xfrm>
          <a:prstGeom prst="rect">
            <a:avLst/>
          </a:prstGeom>
        </p:spPr>
      </p:pic>
      <p:sp>
        <p:nvSpPr>
          <p:cNvPr id="28" name="Rectangle 27">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6FE1215B-9553-1D45-4D20-D58DE494C1D6}"/>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a:solidFill>
                  <a:schemeClr val="bg1"/>
                </a:solidFill>
              </a:rPr>
              <a:t>Records and Subpoenas </a:t>
            </a:r>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745040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marL="57150">
              <a:spcAft>
                <a:spcPts val="600"/>
              </a:spcAft>
            </a:pPr>
            <a:r>
              <a:rPr lang="en-US" sz="4400" kern="1200">
                <a:solidFill>
                  <a:srgbClr val="FFFFFF"/>
                </a:solidFill>
                <a:latin typeface="+mj-lt"/>
                <a:ea typeface="+mj-ea"/>
                <a:cs typeface="+mj-cs"/>
              </a:rPr>
              <a:t>ACA on Records: what stands out or Suprises you?</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a:lnSpc>
                <a:spcPct val="90000"/>
              </a:lnSpc>
              <a:buFont typeface="Arial" panose="020B0604020202020204" pitchFamily="34" charset="0"/>
              <a:buChar char="•"/>
            </a:pPr>
            <a:r>
              <a:rPr lang="en-US" altLang="en-US" b="1"/>
              <a:t>B.6.a-B.6.h</a:t>
            </a:r>
          </a:p>
          <a:p>
            <a:pPr indent="-228600">
              <a:lnSpc>
                <a:spcPct val="90000"/>
              </a:lnSpc>
              <a:buFont typeface="Arial" panose="020B0604020202020204" pitchFamily="34" charset="0"/>
              <a:buChar char="•"/>
            </a:pPr>
            <a:r>
              <a:rPr lang="en-US" altLang="en-US" b="0"/>
              <a:t>B.6.a. – Counselors maintain documentation necessary for rendering professional services to their clients. </a:t>
            </a:r>
          </a:p>
          <a:p>
            <a:pPr indent="-228600">
              <a:lnSpc>
                <a:spcPct val="90000"/>
              </a:lnSpc>
              <a:buFont typeface="Arial" panose="020B0604020202020204" pitchFamily="34" charset="0"/>
              <a:buChar char="•"/>
            </a:pPr>
            <a:r>
              <a:rPr lang="en-US" altLang="en-US" b="0"/>
              <a:t>B.6.b. – Records must be kept private/secure.</a:t>
            </a:r>
          </a:p>
          <a:p>
            <a:pPr indent="-228600">
              <a:lnSpc>
                <a:spcPct val="90000"/>
              </a:lnSpc>
              <a:buFont typeface="Arial" panose="020B0604020202020204" pitchFamily="34" charset="0"/>
              <a:buChar char="•"/>
            </a:pPr>
            <a:r>
              <a:rPr lang="en-US" altLang="en-US" b="0"/>
              <a:t>B.6.c. – Must have permission from client to record.</a:t>
            </a:r>
          </a:p>
          <a:p>
            <a:pPr indent="-228600">
              <a:lnSpc>
                <a:spcPct val="90000"/>
              </a:lnSpc>
              <a:buFont typeface="Arial" panose="020B0604020202020204" pitchFamily="34" charset="0"/>
              <a:buChar char="•"/>
            </a:pPr>
            <a:r>
              <a:rPr lang="en-US" altLang="en-US" b="0"/>
              <a:t>B.6.d. – Must have permission to observe sessions or review transcripts or review recordings of sessions.</a:t>
            </a:r>
          </a:p>
          <a:p>
            <a:pPr indent="-228600">
              <a:lnSpc>
                <a:spcPct val="90000"/>
              </a:lnSpc>
              <a:buFont typeface="Arial" panose="020B0604020202020204" pitchFamily="34" charset="0"/>
              <a:buChar char="•"/>
            </a:pPr>
            <a:r>
              <a:rPr lang="en-US" altLang="en-US" b="0"/>
              <a:t>B.6.e. – Competent clients should have reasonable access to their records. </a:t>
            </a:r>
          </a:p>
          <a:p>
            <a:pPr indent="-228600">
              <a:lnSpc>
                <a:spcPct val="90000"/>
              </a:lnSpc>
              <a:buFont typeface="Arial" panose="020B0604020202020204" pitchFamily="34" charset="0"/>
              <a:buChar char="•"/>
            </a:pPr>
            <a:r>
              <a:rPr lang="en-US" altLang="en-US" b="0"/>
              <a:t>B.6.f. – Counselors provide assistance and consultation to clients to help them interpret counseling records. </a:t>
            </a:r>
          </a:p>
          <a:p>
            <a:pPr indent="-228600">
              <a:lnSpc>
                <a:spcPct val="90000"/>
              </a:lnSpc>
              <a:buFont typeface="Arial" panose="020B0604020202020204" pitchFamily="34" charset="0"/>
              <a:buChar char="•"/>
            </a:pPr>
            <a:r>
              <a:rPr lang="en-US" altLang="en-US" b="0"/>
              <a:t>B.6.g.. – Counselors obtain written permission from clients to disclose or transfer records to third parties.</a:t>
            </a:r>
          </a:p>
          <a:p>
            <a:pPr indent="-228600">
              <a:lnSpc>
                <a:spcPct val="90000"/>
              </a:lnSpc>
              <a:buFont typeface="Arial" panose="020B0604020202020204" pitchFamily="34" charset="0"/>
              <a:buChar char="•"/>
            </a:pPr>
            <a:r>
              <a:rPr lang="en-US" altLang="en-US" b="0"/>
              <a:t>B.6.h. – Counselors securely store records following termination. Follow federal and state laws in disposing records keeping (</a:t>
            </a:r>
            <a:r>
              <a:rPr lang="en-US" altLang="en-US" b="1"/>
              <a:t>5 years in WA </a:t>
            </a:r>
            <a:r>
              <a:rPr lang="en-US" altLang="en-US"/>
              <a:t>per </a:t>
            </a:r>
            <a:r>
              <a:rPr lang="en-US"/>
              <a:t>WAC 246-809-035</a:t>
            </a:r>
            <a:r>
              <a:rPr lang="en-US" altLang="en-US" b="0"/>
              <a:t>). Be cautious about destroying records that may be needed in court (child abuse, suicide, harassment, or violence). </a:t>
            </a: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4641599" y="1660602"/>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351884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marL="57150">
              <a:spcAft>
                <a:spcPts val="600"/>
              </a:spcAft>
            </a:pPr>
            <a:r>
              <a:rPr lang="en-US" sz="3400" kern="1200">
                <a:solidFill>
                  <a:srgbClr val="FFFFFF"/>
                </a:solidFill>
                <a:effectLst/>
                <a:latin typeface="+mj-lt"/>
                <a:ea typeface="+mj-ea"/>
                <a:cs typeface="+mj-cs"/>
              </a:rPr>
              <a:t>Why should counselors keep good notes?</a:t>
            </a:r>
            <a:br>
              <a:rPr lang="en-US" sz="3400" kern="1200">
                <a:solidFill>
                  <a:srgbClr val="FFFFFF"/>
                </a:solidFill>
                <a:effectLst/>
                <a:latin typeface="+mj-lt"/>
                <a:ea typeface="+mj-ea"/>
                <a:cs typeface="+mj-cs"/>
              </a:rPr>
            </a:br>
            <a:br>
              <a:rPr lang="en-US" sz="3400" kern="1200">
                <a:solidFill>
                  <a:srgbClr val="FFFFFF"/>
                </a:solidFill>
                <a:latin typeface="+mj-lt"/>
                <a:ea typeface="+mj-ea"/>
                <a:cs typeface="+mj-cs"/>
              </a:rPr>
            </a:br>
            <a:endParaRPr lang="en-US" sz="34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167272" y="86061"/>
            <a:ext cx="7644624" cy="6771939"/>
          </a:xfrm>
          <a:prstGeom prst="rect">
            <a:avLst/>
          </a:prstGeom>
        </p:spPr>
        <p:txBody>
          <a:bodyPr vert="horz" lIns="91440" tIns="45720" rIns="91440" bIns="45720" rtlCol="0" anchor="ctr">
            <a:normAutofit/>
          </a:bodyPr>
          <a:lstStyle/>
          <a:p>
            <a:pPr marL="342900" indent="-285750">
              <a:lnSpc>
                <a:spcPct val="90000"/>
              </a:lnSpc>
              <a:spcAft>
                <a:spcPts val="600"/>
              </a:spcAft>
              <a:buFont typeface="Arial" panose="020B0604020202020204" pitchFamily="34" charset="0"/>
              <a:buChar char="•"/>
            </a:pPr>
            <a:r>
              <a:rPr lang="en-US" altLang="en-US" sz="1600"/>
              <a:t>I</a:t>
            </a:r>
            <a:r>
              <a:rPr lang="en-US" altLang="en-US" sz="1600" b="0"/>
              <a:t>ncludes plans for a case, keeps track of goals and progress, measures change and growth, affirm significant turning points</a:t>
            </a:r>
          </a:p>
          <a:p>
            <a:pPr marL="285750" indent="-228600">
              <a:lnSpc>
                <a:spcPct val="90000"/>
              </a:lnSpc>
              <a:spcAft>
                <a:spcPts val="600"/>
              </a:spcAft>
              <a:buFont typeface="Arial" panose="020B0604020202020204" pitchFamily="34" charset="0"/>
              <a:buChar char="•"/>
            </a:pPr>
            <a:endParaRPr lang="en-US" altLang="en-US" sz="1600" b="0"/>
          </a:p>
          <a:p>
            <a:pPr marL="285750" indent="-228600">
              <a:lnSpc>
                <a:spcPct val="90000"/>
              </a:lnSpc>
              <a:spcAft>
                <a:spcPts val="600"/>
              </a:spcAft>
              <a:buFont typeface="Arial" panose="020B0604020202020204" pitchFamily="34" charset="0"/>
              <a:buChar char="•"/>
            </a:pPr>
            <a:r>
              <a:rPr lang="en-US" altLang="en-US" sz="1600" b="0"/>
              <a:t>Documents important actions/decisions. Records can serve to protect counselors. If a counselor’s decision are challenged, it is critical that they have documented decisions and the action steps they have taken.</a:t>
            </a:r>
          </a:p>
          <a:p>
            <a:pPr marL="285750" indent="-228600">
              <a:lnSpc>
                <a:spcPct val="90000"/>
              </a:lnSpc>
              <a:spcAft>
                <a:spcPts val="600"/>
              </a:spcAft>
              <a:buFont typeface="Arial" panose="020B0604020202020204" pitchFamily="34" charset="0"/>
              <a:buChar char="•"/>
            </a:pPr>
            <a:endParaRPr lang="en-US" altLang="en-US" sz="1600"/>
          </a:p>
          <a:p>
            <a:pPr marL="285750" indent="-228600">
              <a:lnSpc>
                <a:spcPct val="90000"/>
              </a:lnSpc>
              <a:spcAft>
                <a:spcPts val="600"/>
              </a:spcAft>
              <a:buFont typeface="Arial" panose="020B0604020202020204" pitchFamily="34" charset="0"/>
              <a:buChar char="•"/>
            </a:pPr>
            <a:r>
              <a:rPr lang="en-US" altLang="en-US" sz="1600" b="0"/>
              <a:t>Helps counselor remember where the session left off (especially if infrequent session occur or a break)</a:t>
            </a:r>
          </a:p>
          <a:p>
            <a:pPr marL="285750" indent="-228600">
              <a:lnSpc>
                <a:spcPct val="90000"/>
              </a:lnSpc>
              <a:spcAft>
                <a:spcPts val="600"/>
              </a:spcAft>
              <a:buFont typeface="Arial" panose="020B0604020202020204" pitchFamily="34" charset="0"/>
              <a:buChar char="•"/>
            </a:pPr>
            <a:endParaRPr lang="en-US" altLang="en-US" sz="1600" b="0"/>
          </a:p>
          <a:p>
            <a:pPr marL="285750" indent="-228600">
              <a:lnSpc>
                <a:spcPct val="90000"/>
              </a:lnSpc>
              <a:spcAft>
                <a:spcPts val="600"/>
              </a:spcAft>
              <a:buFont typeface="Arial" panose="020B0604020202020204" pitchFamily="34" charset="0"/>
              <a:buChar char="•"/>
            </a:pPr>
            <a:r>
              <a:rPr lang="en-US" altLang="en-US" sz="1600"/>
              <a:t>Important for continuity of care if a client changes counselors</a:t>
            </a:r>
            <a:endParaRPr lang="en-US" altLang="en-US" sz="1600" b="0"/>
          </a:p>
          <a:p>
            <a:pPr marL="285750" indent="-228600">
              <a:lnSpc>
                <a:spcPct val="90000"/>
              </a:lnSpc>
              <a:spcAft>
                <a:spcPts val="600"/>
              </a:spcAft>
              <a:buFont typeface="Arial" panose="020B0604020202020204" pitchFamily="34" charset="0"/>
              <a:buChar char="•"/>
            </a:pPr>
            <a:endParaRPr lang="en-US" sz="1600"/>
          </a:p>
          <a:p>
            <a:pPr marL="285750" indent="-228600">
              <a:lnSpc>
                <a:spcPct val="90000"/>
              </a:lnSpc>
              <a:spcAft>
                <a:spcPts val="600"/>
              </a:spcAft>
              <a:buFont typeface="Arial" panose="020B0604020202020204" pitchFamily="34" charset="0"/>
              <a:buChar char="•"/>
            </a:pPr>
            <a:r>
              <a:rPr lang="en-US" sz="1600"/>
              <a:t>Are primarily for a counselor’s used for maximum effectiveness in treatment but keep in mind that clients may ask to see them and at some point, they could be subpoenaed.</a:t>
            </a:r>
            <a:r>
              <a:rPr lang="en-US" sz="1600" b="1"/>
              <a:t> </a:t>
            </a:r>
            <a:r>
              <a:rPr lang="en-US" sz="1600"/>
              <a:t>Clinicians should write note with the understanding that someone may read your notes at some later date (</a:t>
            </a:r>
            <a:r>
              <a:rPr lang="en-US" sz="1600" i="0" u="none" strike="noStrike">
                <a:effectLst/>
              </a:rPr>
              <a:t>Herlihy &amp; Corey, 2015</a:t>
            </a:r>
            <a:r>
              <a:rPr lang="en-US" sz="1600"/>
              <a:t> </a:t>
            </a:r>
          </a:p>
          <a:p>
            <a:pPr marL="285750" indent="-228600">
              <a:lnSpc>
                <a:spcPct val="90000"/>
              </a:lnSpc>
              <a:spcAft>
                <a:spcPts val="600"/>
              </a:spcAft>
              <a:buFont typeface="Arial" panose="020B0604020202020204" pitchFamily="34" charset="0"/>
              <a:buChar char="•"/>
            </a:pPr>
            <a:endParaRPr lang="en-US" sz="1600"/>
          </a:p>
          <a:p>
            <a:pPr marL="285750" indent="-228600">
              <a:lnSpc>
                <a:spcPct val="90000"/>
              </a:lnSpc>
              <a:spcAft>
                <a:spcPts val="600"/>
              </a:spcAft>
              <a:buFont typeface="Arial" panose="020B0604020202020204" pitchFamily="34" charset="0"/>
              <a:buChar char="•"/>
            </a:pPr>
            <a:r>
              <a:rPr lang="en-US" sz="1600"/>
              <a:t>Should be written with enough clarity for another professional to follow</a:t>
            </a:r>
          </a:p>
          <a:p>
            <a:pPr marL="285750" indent="-228600">
              <a:lnSpc>
                <a:spcPct val="90000"/>
              </a:lnSpc>
              <a:spcAft>
                <a:spcPts val="600"/>
              </a:spcAft>
              <a:buFont typeface="Arial" panose="020B0604020202020204" pitchFamily="34" charset="0"/>
              <a:buChar char="•"/>
            </a:pPr>
            <a:endParaRPr lang="en-US" sz="1600"/>
          </a:p>
          <a:p>
            <a:pPr marL="285750" indent="-228600">
              <a:lnSpc>
                <a:spcPct val="90000"/>
              </a:lnSpc>
              <a:spcAft>
                <a:spcPts val="600"/>
              </a:spcAft>
              <a:buFont typeface="Arial" panose="020B0604020202020204" pitchFamily="34" charset="0"/>
              <a:buChar char="•"/>
            </a:pPr>
            <a:r>
              <a:rPr lang="en-US" sz="1600"/>
              <a:t>Records procedures followed in an emergency </a:t>
            </a:r>
          </a:p>
          <a:p>
            <a:pPr indent="-228600">
              <a:lnSpc>
                <a:spcPct val="90000"/>
              </a:lnSpc>
              <a:spcAft>
                <a:spcPts val="600"/>
              </a:spcAft>
              <a:buFont typeface="Arial" panose="020B0604020202020204" pitchFamily="34" charset="0"/>
              <a:buChar char="•"/>
            </a:pPr>
            <a:endParaRPr lang="en-US" sz="1600"/>
          </a:p>
          <a:p>
            <a:pPr>
              <a:lnSpc>
                <a:spcPct val="90000"/>
              </a:lnSpc>
              <a:spcAft>
                <a:spcPts val="600"/>
              </a:spcAft>
            </a:pPr>
            <a:r>
              <a:rPr lang="en-US" sz="1600"/>
              <a:t>Also, consider your setting. WHY you are taking notes. Is it primarily for your benefit? Is the client in the hospital and you are tracking progress, are other professionals likely to see the notes? Is it likely to be subpoenaed?  </a:t>
            </a:r>
            <a:endParaRPr lang="en-US" sz="1600">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4293728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094B26-E49A-D788-670B-6C7D1E876A2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C2F25A-0880-5E5A-2E1D-5DCB714A1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033107E-92C9-12D7-56D7-4905EA9C6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692A3B-BA06-5034-8ECA-441086313D7C}"/>
              </a:ext>
            </a:extLst>
          </p:cNvPr>
          <p:cNvSpPr>
            <a:spLocks noGrp="1"/>
          </p:cNvSpPr>
          <p:nvPr>
            <p:ph type="title"/>
          </p:nvPr>
        </p:nvSpPr>
        <p:spPr>
          <a:xfrm>
            <a:off x="149424" y="1153571"/>
            <a:ext cx="4017848" cy="4461163"/>
          </a:xfrm>
        </p:spPr>
        <p:txBody>
          <a:bodyPr vert="horz" lIns="91440" tIns="45720" rIns="91440" bIns="45720" rtlCol="0" anchor="ctr">
            <a:normAutofit/>
          </a:bodyPr>
          <a:lstStyle/>
          <a:p>
            <a:pPr marL="57150">
              <a:spcAft>
                <a:spcPts val="600"/>
              </a:spcAft>
            </a:pPr>
            <a:r>
              <a:rPr lang="en-US" kern="1200">
                <a:solidFill>
                  <a:srgbClr val="FFFFFF"/>
                </a:solidFill>
                <a:effectLst/>
                <a:latin typeface="+mj-lt"/>
                <a:ea typeface="+mj-ea"/>
                <a:cs typeface="+mj-cs"/>
              </a:rPr>
              <a:t>A few important considerations regarding note taking</a:t>
            </a:r>
            <a:endParaRPr lang="en-US"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B94C65C8-9723-5F53-D49F-852FCC7F9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824C10B-040A-3CAC-69D3-04164AA0FE62}"/>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1400"/>
          </a:p>
          <a:p>
            <a:pPr>
              <a:lnSpc>
                <a:spcPct val="90000"/>
              </a:lnSpc>
              <a:spcAft>
                <a:spcPts val="600"/>
              </a:spcAft>
            </a:pPr>
            <a:r>
              <a:rPr lang="en-US" sz="1400">
                <a:effectLst/>
              </a:rPr>
              <a:t>SOAP notes (basic tool to follow, your site may have other suggestions/requirements)</a:t>
            </a:r>
          </a:p>
          <a:p>
            <a:pPr indent="-228600">
              <a:lnSpc>
                <a:spcPct val="90000"/>
              </a:lnSpc>
              <a:spcAft>
                <a:spcPts val="600"/>
              </a:spcAft>
              <a:buFont typeface="Arial" panose="020B0604020202020204" pitchFamily="34" charset="0"/>
              <a:buChar char="•"/>
            </a:pPr>
            <a:r>
              <a:rPr lang="en-US" sz="1400" b="1"/>
              <a:t>S</a:t>
            </a:r>
            <a:r>
              <a:rPr lang="en-US" sz="1400"/>
              <a:t>ubjective-client reported...(perceptions, feelings experiences)</a:t>
            </a:r>
          </a:p>
          <a:p>
            <a:pPr indent="-228600">
              <a:lnSpc>
                <a:spcPct val="90000"/>
              </a:lnSpc>
              <a:spcAft>
                <a:spcPts val="600"/>
              </a:spcAft>
              <a:buFont typeface="Arial" panose="020B0604020202020204" pitchFamily="34" charset="0"/>
              <a:buChar char="•"/>
            </a:pPr>
            <a:r>
              <a:rPr lang="en-US" sz="1400" b="1">
                <a:effectLst/>
              </a:rPr>
              <a:t>O</a:t>
            </a:r>
            <a:r>
              <a:rPr lang="en-US" sz="1400">
                <a:effectLst/>
              </a:rPr>
              <a:t>bjective</a:t>
            </a:r>
            <a:r>
              <a:rPr lang="en-US" sz="1400"/>
              <a:t>- “counselor observed....(hand ringing, lack of eye contact, unkempt appearance”  </a:t>
            </a:r>
          </a:p>
          <a:p>
            <a:pPr indent="-228600">
              <a:lnSpc>
                <a:spcPct val="90000"/>
              </a:lnSpc>
              <a:spcAft>
                <a:spcPts val="600"/>
              </a:spcAft>
              <a:buFont typeface="Arial" panose="020B0604020202020204" pitchFamily="34" charset="0"/>
              <a:buChar char="•"/>
            </a:pPr>
            <a:r>
              <a:rPr lang="en-US" sz="1400" b="1">
                <a:effectLst/>
              </a:rPr>
              <a:t>A</a:t>
            </a:r>
            <a:r>
              <a:rPr lang="en-US" sz="1400">
                <a:effectLst/>
              </a:rPr>
              <a:t>ssessment - Making sense of S and O</a:t>
            </a:r>
          </a:p>
          <a:p>
            <a:pPr indent="-228600">
              <a:lnSpc>
                <a:spcPct val="90000"/>
              </a:lnSpc>
              <a:spcAft>
                <a:spcPts val="600"/>
              </a:spcAft>
              <a:buFont typeface="Arial" panose="020B0604020202020204" pitchFamily="34" charset="0"/>
              <a:buChar char="•"/>
            </a:pPr>
            <a:r>
              <a:rPr lang="en-US" sz="1400" b="1"/>
              <a:t>P</a:t>
            </a:r>
            <a:r>
              <a:rPr lang="en-US" sz="1400"/>
              <a:t>lan- Action steps you took (for client and/or therapist) towards treatment goals</a:t>
            </a:r>
          </a:p>
          <a:p>
            <a:pPr indent="-228600">
              <a:lnSpc>
                <a:spcPct val="90000"/>
              </a:lnSpc>
              <a:spcAft>
                <a:spcPts val="600"/>
              </a:spcAft>
              <a:buFont typeface="Arial" panose="020B0604020202020204" pitchFamily="34" charset="0"/>
              <a:buChar char="•"/>
            </a:pPr>
            <a:endParaRPr lang="en-US" sz="1400"/>
          </a:p>
          <a:p>
            <a:pPr>
              <a:lnSpc>
                <a:spcPct val="90000"/>
              </a:lnSpc>
              <a:spcAft>
                <a:spcPts val="600"/>
              </a:spcAft>
            </a:pPr>
            <a:r>
              <a:rPr lang="en-US" sz="1400"/>
              <a:t>Or DAP (</a:t>
            </a:r>
            <a:r>
              <a:rPr lang="en-US" sz="1400" b="1"/>
              <a:t>D</a:t>
            </a:r>
            <a:r>
              <a:rPr lang="en-US" sz="1400"/>
              <a:t>ata, </a:t>
            </a:r>
            <a:r>
              <a:rPr lang="en-US" sz="1400" b="1"/>
              <a:t>A</a:t>
            </a:r>
            <a:r>
              <a:rPr lang="en-US" sz="1400"/>
              <a:t>ssessment, </a:t>
            </a:r>
            <a:r>
              <a:rPr lang="en-US" sz="1400" b="1"/>
              <a:t>P</a:t>
            </a:r>
            <a:r>
              <a:rPr lang="en-US" sz="1400"/>
              <a:t>lan)</a:t>
            </a:r>
          </a:p>
          <a:p>
            <a:pPr>
              <a:lnSpc>
                <a:spcPct val="90000"/>
              </a:lnSpc>
              <a:spcAft>
                <a:spcPts val="600"/>
              </a:spcAft>
            </a:pPr>
            <a:endParaRPr lang="en-US" sz="1400"/>
          </a:p>
          <a:p>
            <a:pPr>
              <a:lnSpc>
                <a:spcPct val="90000"/>
              </a:lnSpc>
              <a:spcAft>
                <a:spcPts val="600"/>
              </a:spcAft>
            </a:pPr>
            <a:r>
              <a:rPr lang="en-US" sz="1400"/>
              <a:t>Read Case 6-4 and write a DAP or SOAP note</a:t>
            </a:r>
          </a:p>
          <a:p>
            <a:pPr>
              <a:lnSpc>
                <a:spcPct val="90000"/>
              </a:lnSpc>
              <a:spcAft>
                <a:spcPts val="600"/>
              </a:spcAft>
            </a:pPr>
            <a:endParaRPr lang="en-US" sz="1400"/>
          </a:p>
        </p:txBody>
      </p:sp>
      <p:sp>
        <p:nvSpPr>
          <p:cNvPr id="4" name="TextBox 3">
            <a:extLst>
              <a:ext uri="{FF2B5EF4-FFF2-40B4-BE49-F238E27FC236}">
                <a16:creationId xmlns:a16="http://schemas.microsoft.com/office/drawing/2014/main" id="{6E50E8D5-265B-BDE4-3414-2D1D67B43FC3}"/>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B0A4BA69-DA52-F559-15AC-3B5D6A724A83}"/>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240813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3DD147-369A-C539-8374-CF1D1C28CA7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300096-1D6B-D90F-0E81-055E90644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AA9D9E6-9E13-7C24-0720-34C0F15FB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EE4994-AC35-7198-F986-214506F5CB99}"/>
              </a:ext>
            </a:extLst>
          </p:cNvPr>
          <p:cNvSpPr>
            <a:spLocks noGrp="1"/>
          </p:cNvSpPr>
          <p:nvPr>
            <p:ph type="title"/>
          </p:nvPr>
        </p:nvSpPr>
        <p:spPr>
          <a:xfrm>
            <a:off x="149424" y="1153571"/>
            <a:ext cx="4017848" cy="4461163"/>
          </a:xfrm>
        </p:spPr>
        <p:txBody>
          <a:bodyPr vert="horz" lIns="91440" tIns="45720" rIns="91440" bIns="45720" rtlCol="0" anchor="ctr">
            <a:normAutofit/>
          </a:bodyPr>
          <a:lstStyle/>
          <a:p>
            <a:pPr marL="57150">
              <a:spcAft>
                <a:spcPts val="600"/>
              </a:spcAft>
            </a:pPr>
            <a:r>
              <a:rPr lang="en-US" kern="1200">
                <a:solidFill>
                  <a:srgbClr val="FFFFFF"/>
                </a:solidFill>
                <a:effectLst/>
                <a:latin typeface="+mj-lt"/>
                <a:ea typeface="+mj-ea"/>
                <a:cs typeface="+mj-cs"/>
              </a:rPr>
              <a:t>A few important considerations regarding note taking</a:t>
            </a:r>
            <a:endParaRPr lang="en-US"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A7E67C3F-8CF3-7191-F9E0-8C8280134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39C406B5-68EF-02DD-7DFC-E77BF1E9AEC5}"/>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2000"/>
          </a:p>
          <a:p>
            <a:pPr>
              <a:lnSpc>
                <a:spcPct val="90000"/>
              </a:lnSpc>
              <a:spcAft>
                <a:spcPts val="600"/>
              </a:spcAft>
            </a:pPr>
            <a:r>
              <a:rPr lang="en-US" sz="2000">
                <a:effectLst/>
              </a:rPr>
              <a:t>SOAP notes (basic tool to follow, your site may have other suggestions/requirements)</a:t>
            </a:r>
          </a:p>
          <a:p>
            <a:pPr indent="-228600">
              <a:lnSpc>
                <a:spcPct val="90000"/>
              </a:lnSpc>
              <a:spcAft>
                <a:spcPts val="600"/>
              </a:spcAft>
              <a:buFont typeface="Arial" panose="020B0604020202020204" pitchFamily="34" charset="0"/>
              <a:buChar char="•"/>
            </a:pPr>
            <a:r>
              <a:rPr lang="en-US" sz="2000" b="1"/>
              <a:t>S</a:t>
            </a:r>
            <a:r>
              <a:rPr lang="en-US" sz="2000"/>
              <a:t>ubjective-client reported...(perceptions, feelings experiences)</a:t>
            </a:r>
          </a:p>
          <a:p>
            <a:pPr indent="-228600">
              <a:lnSpc>
                <a:spcPct val="90000"/>
              </a:lnSpc>
              <a:spcAft>
                <a:spcPts val="600"/>
              </a:spcAft>
              <a:buFont typeface="Arial" panose="020B0604020202020204" pitchFamily="34" charset="0"/>
              <a:buChar char="•"/>
            </a:pPr>
            <a:r>
              <a:rPr lang="en-US" sz="2000" b="1">
                <a:effectLst/>
              </a:rPr>
              <a:t>O</a:t>
            </a:r>
            <a:r>
              <a:rPr lang="en-US" sz="2000">
                <a:effectLst/>
              </a:rPr>
              <a:t>bjective</a:t>
            </a:r>
            <a:r>
              <a:rPr lang="en-US" sz="2000"/>
              <a:t>- “counselor observed....(hand ringing, lack of eye contact, unkempt appearance”  </a:t>
            </a:r>
          </a:p>
          <a:p>
            <a:pPr indent="-228600">
              <a:lnSpc>
                <a:spcPct val="90000"/>
              </a:lnSpc>
              <a:spcAft>
                <a:spcPts val="600"/>
              </a:spcAft>
              <a:buFont typeface="Arial" panose="020B0604020202020204" pitchFamily="34" charset="0"/>
              <a:buChar char="•"/>
            </a:pPr>
            <a:r>
              <a:rPr lang="en-US" sz="2000" b="1">
                <a:effectLst/>
              </a:rPr>
              <a:t>A</a:t>
            </a:r>
            <a:r>
              <a:rPr lang="en-US" sz="2000">
                <a:effectLst/>
              </a:rPr>
              <a:t>ssessment - Making sense of S and O</a:t>
            </a:r>
          </a:p>
          <a:p>
            <a:pPr indent="-228600">
              <a:lnSpc>
                <a:spcPct val="90000"/>
              </a:lnSpc>
              <a:spcAft>
                <a:spcPts val="600"/>
              </a:spcAft>
              <a:buFont typeface="Arial" panose="020B0604020202020204" pitchFamily="34" charset="0"/>
              <a:buChar char="•"/>
            </a:pPr>
            <a:r>
              <a:rPr lang="en-US" sz="2000" b="1"/>
              <a:t>P</a:t>
            </a:r>
            <a:r>
              <a:rPr lang="en-US" sz="2000"/>
              <a:t>lan- Action steps you took (for client and/or therapist) towards treatment goals</a:t>
            </a:r>
          </a:p>
          <a:p>
            <a:pPr indent="-228600">
              <a:lnSpc>
                <a:spcPct val="90000"/>
              </a:lnSpc>
              <a:spcAft>
                <a:spcPts val="600"/>
              </a:spcAft>
              <a:buFont typeface="Arial" panose="020B0604020202020204" pitchFamily="34" charset="0"/>
              <a:buChar char="•"/>
            </a:pPr>
            <a:endParaRPr lang="en-US" sz="2000"/>
          </a:p>
          <a:p>
            <a:pPr>
              <a:lnSpc>
                <a:spcPct val="90000"/>
              </a:lnSpc>
              <a:spcAft>
                <a:spcPts val="600"/>
              </a:spcAft>
            </a:pPr>
            <a:r>
              <a:rPr lang="en-US" sz="2000"/>
              <a:t>Or DAP (</a:t>
            </a:r>
            <a:r>
              <a:rPr lang="en-US" sz="2000" b="1"/>
              <a:t>D</a:t>
            </a:r>
            <a:r>
              <a:rPr lang="en-US" sz="2000"/>
              <a:t>ata, </a:t>
            </a:r>
            <a:r>
              <a:rPr lang="en-US" sz="2000" b="1"/>
              <a:t>A</a:t>
            </a:r>
            <a:r>
              <a:rPr lang="en-US" sz="2000"/>
              <a:t>ssessment, </a:t>
            </a:r>
            <a:r>
              <a:rPr lang="en-US" sz="2000" b="1"/>
              <a:t>P</a:t>
            </a:r>
            <a:r>
              <a:rPr lang="en-US" sz="2000"/>
              <a:t>lan)</a:t>
            </a:r>
          </a:p>
          <a:p>
            <a:pPr>
              <a:lnSpc>
                <a:spcPct val="90000"/>
              </a:lnSpc>
              <a:spcAft>
                <a:spcPts val="600"/>
              </a:spcAft>
            </a:pPr>
            <a:endParaRPr lang="en-US" sz="2000"/>
          </a:p>
          <a:p>
            <a:pPr>
              <a:lnSpc>
                <a:spcPct val="90000"/>
              </a:lnSpc>
              <a:spcAft>
                <a:spcPts val="600"/>
              </a:spcAft>
            </a:pPr>
            <a:r>
              <a:rPr lang="en-US" sz="2000"/>
              <a:t>Read Case 6-4 and write a DAP or SOAP note</a:t>
            </a:r>
          </a:p>
          <a:p>
            <a:pPr>
              <a:lnSpc>
                <a:spcPct val="90000"/>
              </a:lnSpc>
              <a:spcAft>
                <a:spcPts val="600"/>
              </a:spcAft>
            </a:pPr>
            <a:endParaRPr lang="en-US" sz="1400"/>
          </a:p>
        </p:txBody>
      </p:sp>
      <p:sp>
        <p:nvSpPr>
          <p:cNvPr id="4" name="TextBox 3">
            <a:extLst>
              <a:ext uri="{FF2B5EF4-FFF2-40B4-BE49-F238E27FC236}">
                <a16:creationId xmlns:a16="http://schemas.microsoft.com/office/drawing/2014/main" id="{FB586379-14C3-AC35-DD4C-4CEEFAEC573E}"/>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BD198CBD-2EE5-EB4C-FE56-9298F05FFCCE}"/>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2393749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149424" y="1153571"/>
            <a:ext cx="4017848" cy="4461163"/>
          </a:xfrm>
        </p:spPr>
        <p:txBody>
          <a:bodyPr vert="horz" lIns="91440" tIns="45720" rIns="91440" bIns="45720" rtlCol="0" anchor="ctr">
            <a:normAutofit/>
          </a:bodyPr>
          <a:lstStyle/>
          <a:p>
            <a:pPr marL="57150">
              <a:spcAft>
                <a:spcPts val="600"/>
              </a:spcAft>
            </a:pPr>
            <a:r>
              <a:rPr lang="en-US" kern="1200">
                <a:solidFill>
                  <a:srgbClr val="FFFFFF"/>
                </a:solidFill>
                <a:effectLst/>
                <a:latin typeface="+mj-lt"/>
                <a:ea typeface="+mj-ea"/>
                <a:cs typeface="+mj-cs"/>
              </a:rPr>
              <a:t>Writing what we did as counselors is an important part of notes</a:t>
            </a:r>
            <a:endParaRPr lang="en-US"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1400"/>
          </a:p>
          <a:p>
            <a:pPr>
              <a:lnSpc>
                <a:spcPct val="90000"/>
              </a:lnSpc>
              <a:spcAft>
                <a:spcPts val="600"/>
              </a:spcAft>
            </a:pPr>
            <a:r>
              <a:rPr lang="en-US" sz="2000" b="1"/>
              <a:t>Interventions you offered </a:t>
            </a:r>
            <a:r>
              <a:rPr lang="en-US" sz="2000"/>
              <a:t>(example) </a:t>
            </a:r>
            <a:r>
              <a:rPr lang="en-US" sz="2000">
                <a:hlinkClick r:id="rId2"/>
              </a:rPr>
              <a:t>https://www.youtube.com/watch?v=a2znnlABdpg&amp;t=147s</a:t>
            </a:r>
            <a:endParaRPr lang="en-US" sz="2000"/>
          </a:p>
          <a:p>
            <a:pPr>
              <a:lnSpc>
                <a:spcPct val="90000"/>
              </a:lnSpc>
              <a:spcAft>
                <a:spcPts val="600"/>
              </a:spcAft>
            </a:pPr>
            <a:endParaRPr lang="en-US" sz="2000"/>
          </a:p>
          <a:p>
            <a:pPr>
              <a:lnSpc>
                <a:spcPct val="90000"/>
              </a:lnSpc>
              <a:spcAft>
                <a:spcPts val="600"/>
              </a:spcAft>
            </a:pPr>
            <a:r>
              <a:rPr lang="en-US" sz="2000"/>
              <a:t>Have these tools ready to use in session and DOCUMENT that you utilized them in session.</a:t>
            </a: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112785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marL="57150">
              <a:spcAft>
                <a:spcPts val="600"/>
              </a:spcAft>
            </a:pPr>
            <a:r>
              <a:rPr lang="en-US" sz="3700" kern="1200">
                <a:solidFill>
                  <a:srgbClr val="FFFFFF"/>
                </a:solidFill>
                <a:effectLst/>
                <a:latin typeface="+mj-lt"/>
                <a:ea typeface="+mj-ea"/>
                <a:cs typeface="+mj-cs"/>
              </a:rPr>
              <a:t>Other Records counselors keep</a:t>
            </a:r>
            <a:br>
              <a:rPr lang="en-US" sz="3700" kern="1200">
                <a:solidFill>
                  <a:srgbClr val="FFFFFF"/>
                </a:solidFill>
                <a:effectLst/>
                <a:latin typeface="+mj-lt"/>
                <a:ea typeface="+mj-ea"/>
                <a:cs typeface="+mj-cs"/>
              </a:rPr>
            </a:br>
            <a:br>
              <a:rPr lang="en-US" sz="3700" kern="1200">
                <a:solidFill>
                  <a:srgbClr val="FFFFFF"/>
                </a:solidFill>
                <a:latin typeface="+mj-lt"/>
                <a:ea typeface="+mj-ea"/>
                <a:cs typeface="+mj-cs"/>
              </a:rPr>
            </a:br>
            <a:endParaRPr lang="en-US" sz="37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lvl="1" indent="-228600">
              <a:lnSpc>
                <a:spcPct val="90000"/>
              </a:lnSpc>
              <a:buFont typeface="Arial" panose="020B0604020202020204" pitchFamily="34" charset="0"/>
              <a:buChar char="•"/>
            </a:pPr>
            <a:endParaRPr lang="en-US" altLang="en-US" sz="2400" b="1"/>
          </a:p>
          <a:p>
            <a:pPr lvl="1" indent="-228600">
              <a:lnSpc>
                <a:spcPct val="90000"/>
              </a:lnSpc>
              <a:buFont typeface="Arial" panose="020B0604020202020204" pitchFamily="34" charset="0"/>
              <a:buChar char="•"/>
            </a:pPr>
            <a:endParaRPr lang="en-US" altLang="en-US" sz="2400" b="1"/>
          </a:p>
          <a:p>
            <a:pPr lvl="1" indent="-228600">
              <a:lnSpc>
                <a:spcPct val="90000"/>
              </a:lnSpc>
              <a:buFont typeface="Arial" panose="020B0604020202020204" pitchFamily="34" charset="0"/>
              <a:buChar char="•"/>
            </a:pPr>
            <a:endParaRPr lang="en-US" altLang="en-US" sz="2400" b="1"/>
          </a:p>
          <a:p>
            <a:pPr lvl="1" indent="-228600">
              <a:lnSpc>
                <a:spcPct val="90000"/>
              </a:lnSpc>
              <a:buFont typeface="Arial" panose="020B0604020202020204" pitchFamily="34" charset="0"/>
              <a:buChar char="•"/>
            </a:pPr>
            <a:r>
              <a:rPr lang="en-US" altLang="en-US" sz="2400" b="1"/>
              <a:t>Administrative Records </a:t>
            </a:r>
            <a:r>
              <a:rPr lang="en-US" altLang="en-US" sz="2400" b="0"/>
              <a:t>– appt. books, billing accounts, correspondence, intake forms, and other routine papers.</a:t>
            </a:r>
          </a:p>
          <a:p>
            <a:pPr lvl="1" indent="-228600">
              <a:lnSpc>
                <a:spcPct val="90000"/>
              </a:lnSpc>
              <a:buFont typeface="Arial" panose="020B0604020202020204" pitchFamily="34" charset="0"/>
              <a:buChar char="•"/>
            </a:pPr>
            <a:endParaRPr lang="en-US" altLang="en-US" sz="2400"/>
          </a:p>
          <a:p>
            <a:pPr lvl="1" indent="-228600">
              <a:lnSpc>
                <a:spcPct val="90000"/>
              </a:lnSpc>
              <a:buFont typeface="Arial" panose="020B0604020202020204" pitchFamily="34" charset="0"/>
              <a:buChar char="•"/>
            </a:pPr>
            <a:r>
              <a:rPr lang="en-US" altLang="en-US" sz="2400" b="1"/>
              <a:t>Audio Recordings or Video Recordings of clients.</a:t>
            </a:r>
          </a:p>
          <a:p>
            <a:pPr lvl="1" indent="-228600">
              <a:lnSpc>
                <a:spcPct val="90000"/>
              </a:lnSpc>
              <a:buFont typeface="Arial" panose="020B0604020202020204" pitchFamily="34" charset="0"/>
              <a:buChar char="•"/>
            </a:pPr>
            <a:r>
              <a:rPr lang="en-US" altLang="en-US" sz="2400"/>
              <a:t>Records of client </a:t>
            </a:r>
            <a:r>
              <a:rPr lang="en-US" altLang="en-US" sz="2400" b="0"/>
              <a:t>logging into computer information system, telephone call records, computerized or video records of client entering or leaving the facilities. </a:t>
            </a:r>
          </a:p>
          <a:p>
            <a:pPr lvl="1" indent="-228600">
              <a:lnSpc>
                <a:spcPct val="90000"/>
              </a:lnSpc>
              <a:buFont typeface="Arial" panose="020B0604020202020204" pitchFamily="34" charset="0"/>
              <a:buChar char="•"/>
            </a:pPr>
            <a:endParaRPr lang="en-US" altLang="en-US" sz="2400"/>
          </a:p>
          <a:p>
            <a:pPr lvl="1" indent="-228600">
              <a:lnSpc>
                <a:spcPct val="90000"/>
              </a:lnSpc>
              <a:buFont typeface="Arial" panose="020B0604020202020204" pitchFamily="34" charset="0"/>
              <a:buChar char="•"/>
            </a:pPr>
            <a:r>
              <a:rPr lang="en-US" altLang="en-US" sz="2400"/>
              <a:t>Any other documentation </a:t>
            </a:r>
            <a:r>
              <a:rPr lang="en-US" altLang="en-US" sz="2400" b="0"/>
              <a:t>made about client outside of the counseling session. </a:t>
            </a: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3825156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marL="57150">
              <a:spcAft>
                <a:spcPts val="600"/>
              </a:spcAft>
            </a:pPr>
            <a:r>
              <a:rPr lang="en-US" sz="3700" kern="1200">
                <a:solidFill>
                  <a:srgbClr val="FFFFFF"/>
                </a:solidFill>
                <a:effectLst/>
                <a:latin typeface="+mj-lt"/>
                <a:ea typeface="+mj-ea"/>
                <a:cs typeface="+mj-cs"/>
              </a:rPr>
              <a:t>A</a:t>
            </a:r>
            <a:r>
              <a:rPr lang="en-US" sz="3700" kern="1200">
                <a:solidFill>
                  <a:srgbClr val="FFFFFF"/>
                </a:solidFill>
                <a:latin typeface="+mj-lt"/>
                <a:ea typeface="+mj-ea"/>
                <a:cs typeface="+mj-cs"/>
              </a:rPr>
              <a:t>udio and video tapes</a:t>
            </a:r>
            <a:br>
              <a:rPr lang="en-US" sz="4400" kern="1200">
                <a:solidFill>
                  <a:srgbClr val="FFFFFF"/>
                </a:solidFill>
                <a:effectLst/>
                <a:latin typeface="+mj-lt"/>
                <a:ea typeface="+mj-ea"/>
                <a:cs typeface="+mj-cs"/>
              </a:rPr>
            </a:br>
            <a:br>
              <a:rPr lang="en-US" sz="4400" kern="1200">
                <a:solidFill>
                  <a:srgbClr val="FFFFFF"/>
                </a:solidFill>
                <a:latin typeface="+mj-lt"/>
                <a:ea typeface="+mj-ea"/>
                <a:cs typeface="+mj-cs"/>
              </a:rPr>
            </a:br>
            <a:endParaRPr lang="en-US" sz="44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lnSpcReduction="10000"/>
          </a:bodyPr>
          <a:lstStyle/>
          <a:p>
            <a:pPr indent="-228600">
              <a:lnSpc>
                <a:spcPct val="90000"/>
              </a:lnSpc>
              <a:spcAft>
                <a:spcPts val="600"/>
              </a:spcAft>
              <a:buFont typeface="Arial" panose="020B0604020202020204" pitchFamily="34" charset="0"/>
              <a:buChar char="•"/>
            </a:pPr>
            <a:endParaRPr lang="en-US" sz="2400"/>
          </a:p>
          <a:p>
            <a:pPr indent="-228600">
              <a:lnSpc>
                <a:spcPct val="90000"/>
              </a:lnSpc>
              <a:spcAft>
                <a:spcPts val="600"/>
              </a:spcAft>
              <a:buFont typeface="Arial" panose="020B0604020202020204" pitchFamily="34" charset="0"/>
              <a:buChar char="•"/>
            </a:pPr>
            <a:endParaRPr lang="en-US" sz="2400"/>
          </a:p>
          <a:p>
            <a:pPr indent="-228600">
              <a:lnSpc>
                <a:spcPct val="90000"/>
              </a:lnSpc>
              <a:spcAft>
                <a:spcPts val="600"/>
              </a:spcAft>
              <a:buFont typeface="Arial" panose="020B0604020202020204" pitchFamily="34" charset="0"/>
              <a:buChar char="•"/>
            </a:pPr>
            <a:endParaRPr lang="en-US" sz="2400"/>
          </a:p>
          <a:p>
            <a:pPr indent="-228600">
              <a:lnSpc>
                <a:spcPct val="90000"/>
              </a:lnSpc>
              <a:spcAft>
                <a:spcPts val="600"/>
              </a:spcAft>
              <a:buFont typeface="Arial" panose="020B0604020202020204" pitchFamily="34" charset="0"/>
              <a:buChar char="•"/>
            </a:pPr>
            <a:endParaRPr lang="en-US" sz="2400"/>
          </a:p>
          <a:p>
            <a:pPr indent="-228600">
              <a:lnSpc>
                <a:spcPct val="90000"/>
              </a:lnSpc>
              <a:spcAft>
                <a:spcPts val="600"/>
              </a:spcAft>
              <a:buFont typeface="Arial" panose="020B0604020202020204" pitchFamily="34" charset="0"/>
              <a:buChar char="•"/>
            </a:pPr>
            <a:r>
              <a:rPr lang="en-US" sz="2400"/>
              <a:t>Often used in training and supervision (you will do this for your practicum and internship). Counselors and supervisors are responsible for:</a:t>
            </a:r>
          </a:p>
          <a:p>
            <a:pPr indent="-228600">
              <a:lnSpc>
                <a:spcPct val="90000"/>
              </a:lnSpc>
              <a:spcAft>
                <a:spcPts val="600"/>
              </a:spcAft>
              <a:buFont typeface="Arial" panose="020B0604020202020204" pitchFamily="34" charset="0"/>
              <a:buChar char="•"/>
            </a:pPr>
            <a:endParaRPr lang="en-US" sz="2400"/>
          </a:p>
          <a:p>
            <a:pPr marL="285750" indent="-228600">
              <a:lnSpc>
                <a:spcPct val="90000"/>
              </a:lnSpc>
              <a:spcAft>
                <a:spcPts val="600"/>
              </a:spcAft>
              <a:buFont typeface="Arial" panose="020B0604020202020204" pitchFamily="34" charset="0"/>
              <a:buChar char="•"/>
            </a:pPr>
            <a:r>
              <a:rPr lang="en-US" sz="2400"/>
              <a:t>Getting informed consent</a:t>
            </a:r>
          </a:p>
          <a:p>
            <a:pPr marL="285750" indent="-228600">
              <a:lnSpc>
                <a:spcPct val="90000"/>
              </a:lnSpc>
              <a:spcAft>
                <a:spcPts val="600"/>
              </a:spcAft>
              <a:buFont typeface="Arial" panose="020B0604020202020204" pitchFamily="34" charset="0"/>
              <a:buChar char="•"/>
            </a:pPr>
            <a:r>
              <a:rPr lang="en-US" sz="2400"/>
              <a:t>After review in supervision, erase the tapes (end of each semester in clinical training).</a:t>
            </a:r>
          </a:p>
          <a:p>
            <a:pPr marL="285750" indent="-228600">
              <a:lnSpc>
                <a:spcPct val="90000"/>
              </a:lnSpc>
              <a:spcAft>
                <a:spcPts val="600"/>
              </a:spcAft>
              <a:buFont typeface="Arial" panose="020B0604020202020204" pitchFamily="34" charset="0"/>
              <a:buChar char="•"/>
            </a:pPr>
            <a:r>
              <a:rPr lang="en-US" sz="2400"/>
              <a:t>If labeled, do not bring attention the confidential nature of the videos</a:t>
            </a:r>
          </a:p>
          <a:p>
            <a:pPr marL="285750" indent="-228600">
              <a:lnSpc>
                <a:spcPct val="90000"/>
              </a:lnSpc>
              <a:spcAft>
                <a:spcPts val="600"/>
              </a:spcAft>
              <a:buFont typeface="Arial" panose="020B0604020202020204" pitchFamily="34" charset="0"/>
              <a:buChar char="•"/>
            </a:pPr>
            <a:r>
              <a:rPr lang="en-US" sz="2400"/>
              <a:t>supervisors are responsible for returning any tapes to the supervisee and handling the tapes appropriately.</a:t>
            </a:r>
          </a:p>
          <a:p>
            <a:pPr marL="285750"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3449086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D562525-3EC5-70C5-A48D-E65C82FE4889}"/>
              </a:ext>
            </a:extLst>
          </p:cNvPr>
          <p:cNvSpPr>
            <a:spLocks noGrp="1"/>
          </p:cNvSpPr>
          <p:nvPr>
            <p:ph type="title"/>
          </p:nvPr>
        </p:nvSpPr>
        <p:spPr>
          <a:xfrm>
            <a:off x="1115568" y="548640"/>
            <a:ext cx="10168128" cy="1179576"/>
          </a:xfrm>
        </p:spPr>
        <p:txBody>
          <a:bodyPr vert="horz" lIns="91440" tIns="45720" rIns="91440" bIns="45720" rtlCol="0" anchor="ctr">
            <a:normAutofit/>
          </a:bodyPr>
          <a:lstStyle/>
          <a:p>
            <a:pPr>
              <a:lnSpc>
                <a:spcPct val="90000"/>
              </a:lnSpc>
            </a:pPr>
            <a:r>
              <a:rPr lang="en-US" sz="4000" b="1" kern="1200">
                <a:solidFill>
                  <a:schemeClr val="tx1"/>
                </a:solidFill>
                <a:latin typeface="+mj-lt"/>
                <a:ea typeface="+mj-ea"/>
                <a:cs typeface="+mj-cs"/>
              </a:rPr>
              <a:t>Read the case of Paolo on p. 136-137</a:t>
            </a:r>
          </a:p>
        </p:txBody>
      </p:sp>
      <p:sp>
        <p:nvSpPr>
          <p:cNvPr id="23" name="Rectangle 2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Text Placeholder 2">
            <a:extLst>
              <a:ext uri="{FF2B5EF4-FFF2-40B4-BE49-F238E27FC236}">
                <a16:creationId xmlns:a16="http://schemas.microsoft.com/office/drawing/2014/main" id="{88444CE9-6768-20CE-9C3F-159273D93A54}"/>
              </a:ext>
            </a:extLst>
          </p:cNvPr>
          <p:cNvSpPr>
            <a:spLocks noGrp="1"/>
          </p:cNvSpPr>
          <p:nvPr>
            <p:ph type="body" sz="quarter" idx="14"/>
          </p:nvPr>
        </p:nvSpPr>
        <p:spPr>
          <a:xfrm>
            <a:off x="1115568" y="2481943"/>
            <a:ext cx="10168128" cy="3695020"/>
          </a:xfr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endParaRPr lang="en-US" sz="2200">
              <a:effectLst/>
            </a:endParaRPr>
          </a:p>
          <a:p>
            <a:pPr marL="0" indent="-228600">
              <a:lnSpc>
                <a:spcPct val="90000"/>
              </a:lnSpc>
              <a:spcAft>
                <a:spcPts val="600"/>
              </a:spcAft>
              <a:buFont typeface="Arial" panose="020B0604020202020204" pitchFamily="34" charset="0"/>
              <a:buChar char="•"/>
            </a:pPr>
            <a:r>
              <a:rPr lang="en-US" sz="2200"/>
              <a:t>What required information listed here may be in excess to content that is typically included? </a:t>
            </a:r>
          </a:p>
          <a:p>
            <a:pPr marL="0" indent="-228600">
              <a:lnSpc>
                <a:spcPct val="90000"/>
              </a:lnSpc>
              <a:spcAft>
                <a:spcPts val="600"/>
              </a:spcAft>
              <a:buFont typeface="Arial" panose="020B0604020202020204" pitchFamily="34" charset="0"/>
              <a:buChar char="•"/>
            </a:pPr>
            <a:r>
              <a:rPr lang="en-US" sz="2200"/>
              <a:t>Would you suggest that Paolo take further steps to challenge the requirement? Why or why not? </a:t>
            </a:r>
            <a:endParaRPr lang="en-US" sz="2200">
              <a:effectLst/>
            </a:endParaRPr>
          </a:p>
          <a:p>
            <a:pPr marL="0" indent="-228600">
              <a:lnSpc>
                <a:spcPct val="90000"/>
              </a:lnSpc>
              <a:spcAft>
                <a:spcPts val="600"/>
              </a:spcAft>
              <a:buFont typeface="Arial" panose="020B0604020202020204" pitchFamily="34" charset="0"/>
              <a:buChar char="•"/>
            </a:pPr>
            <a:r>
              <a:rPr lang="en-US" sz="2200">
                <a:effectLst/>
              </a:rPr>
              <a:t>What step(s) can Paolo take to ensure that his record keeping is in compliance with</a:t>
            </a:r>
            <a:r>
              <a:rPr lang="en-US" sz="2200"/>
              <a:t> </a:t>
            </a:r>
            <a:r>
              <a:rPr lang="en-US" sz="2200">
                <a:effectLst/>
              </a:rPr>
              <a:t>his agency’s expectations? </a:t>
            </a:r>
          </a:p>
          <a:p>
            <a:pPr marL="0" indent="0">
              <a:lnSpc>
                <a:spcPct val="90000"/>
              </a:lnSpc>
              <a:spcAft>
                <a:spcPts val="600"/>
              </a:spcAft>
              <a:buNone/>
            </a:pPr>
            <a:endParaRPr lang="en-US" sz="2200"/>
          </a:p>
          <a:p>
            <a:pPr marL="0" indent="-228600">
              <a:lnSpc>
                <a:spcPct val="90000"/>
              </a:lnSpc>
              <a:spcAft>
                <a:spcPts val="600"/>
              </a:spcAft>
              <a:buFont typeface="Arial" panose="020B0604020202020204" pitchFamily="34" charset="0"/>
              <a:buChar char="•"/>
            </a:pPr>
            <a:r>
              <a:rPr lang="en-US" sz="2200">
                <a:effectLst/>
              </a:rPr>
              <a:t>What rationale might Paolo provide to his clients for requiring them to complete 12 pages of intake forms?</a:t>
            </a:r>
          </a:p>
          <a:p>
            <a:pPr marL="0" indent="0">
              <a:lnSpc>
                <a:spcPct val="90000"/>
              </a:lnSpc>
              <a:spcAft>
                <a:spcPts val="600"/>
              </a:spcAft>
              <a:buNone/>
            </a:pPr>
            <a:endParaRPr lang="en-US" sz="2200"/>
          </a:p>
        </p:txBody>
      </p:sp>
    </p:spTree>
    <p:extLst>
      <p:ext uri="{BB962C8B-B14F-4D97-AF65-F5344CB8AC3E}">
        <p14:creationId xmlns:p14="http://schemas.microsoft.com/office/powerpoint/2010/main" val="772863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978B3-1AC8-E41A-0D8F-66E21A3EA9E1}"/>
              </a:ext>
            </a:extLst>
          </p:cNvPr>
          <p:cNvSpPr>
            <a:spLocks noGrp="1"/>
          </p:cNvSpPr>
          <p:nvPr>
            <p:ph type="title"/>
          </p:nvPr>
        </p:nvSpPr>
        <p:spPr/>
        <p:txBody>
          <a:bodyPr/>
          <a:lstStyle/>
          <a:p>
            <a:r>
              <a:rPr lang="en-US"/>
              <a:t>If a client requests their records </a:t>
            </a:r>
          </a:p>
        </p:txBody>
      </p:sp>
      <p:sp>
        <p:nvSpPr>
          <p:cNvPr id="3" name="Text Placeholder 2">
            <a:extLst>
              <a:ext uri="{FF2B5EF4-FFF2-40B4-BE49-F238E27FC236}">
                <a16:creationId xmlns:a16="http://schemas.microsoft.com/office/drawing/2014/main" id="{9F83B9EB-904A-7F36-2B62-E3790162F9FA}"/>
              </a:ext>
            </a:extLst>
          </p:cNvPr>
          <p:cNvSpPr>
            <a:spLocks noGrp="1"/>
          </p:cNvSpPr>
          <p:nvPr>
            <p:ph type="body" sz="quarter" idx="14"/>
          </p:nvPr>
        </p:nvSpPr>
        <p:spPr>
          <a:xfrm>
            <a:off x="457199" y="2540000"/>
            <a:ext cx="11397727" cy="3403600"/>
          </a:xfrm>
        </p:spPr>
        <p:txBody>
          <a:bodyPr/>
          <a:lstStyle/>
          <a:p>
            <a:r>
              <a:rPr lang="en-US"/>
              <a:t>Document and get a signed document recording release of the record</a:t>
            </a:r>
          </a:p>
          <a:p>
            <a:r>
              <a:rPr lang="en-US"/>
              <a:t>Explain any risks of disclosure (no longer under agency protection, misinterpretation etc.), consider offering a summary of pertinent information</a:t>
            </a:r>
          </a:p>
          <a:p>
            <a:r>
              <a:rPr lang="en-US"/>
              <a:t>Ensure the records would not harm the client</a:t>
            </a:r>
          </a:p>
          <a:p>
            <a:r>
              <a:rPr lang="en-US"/>
              <a:t>Ensure other clients information is not disclosed</a:t>
            </a:r>
          </a:p>
          <a:p>
            <a:r>
              <a:rPr lang="en-US"/>
              <a:t>Provide assistance and consultation to review the record (consider charging a fee for this service if extensive)</a:t>
            </a:r>
          </a:p>
          <a:p>
            <a:r>
              <a:rPr lang="en-US"/>
              <a:t>Have a clear written policy</a:t>
            </a:r>
          </a:p>
        </p:txBody>
      </p:sp>
    </p:spTree>
    <p:extLst>
      <p:ext uri="{BB962C8B-B14F-4D97-AF65-F5344CB8AC3E}">
        <p14:creationId xmlns:p14="http://schemas.microsoft.com/office/powerpoint/2010/main" val="4239263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marL="57150">
              <a:spcAft>
                <a:spcPts val="600"/>
              </a:spcAft>
            </a:pPr>
            <a:r>
              <a:rPr lang="en-US" sz="4400" kern="1200">
                <a:solidFill>
                  <a:srgbClr val="FFFFFF"/>
                </a:solidFill>
                <a:latin typeface="+mj-lt"/>
                <a:ea typeface="+mj-ea"/>
                <a:cs typeface="+mj-cs"/>
              </a:rPr>
              <a:t>activity:</a:t>
            </a:r>
            <a:br>
              <a:rPr lang="en-US" sz="4400" kern="1200">
                <a:solidFill>
                  <a:srgbClr val="FFFFFF"/>
                </a:solidFill>
                <a:latin typeface="+mj-lt"/>
                <a:ea typeface="+mj-ea"/>
                <a:cs typeface="+mj-cs"/>
              </a:rPr>
            </a:br>
            <a:r>
              <a:rPr lang="en-US" sz="2400" b="1">
                <a:effectLst/>
              </a:rPr>
              <a:t>Watch the 6.1 video and answer the following questions</a:t>
            </a:r>
            <a:br>
              <a:rPr lang="en-US" sz="4400" kern="1200">
                <a:solidFill>
                  <a:srgbClr val="FFFFFF"/>
                </a:solidFill>
                <a:effectLst/>
                <a:latin typeface="+mj-lt"/>
                <a:ea typeface="+mj-ea"/>
                <a:cs typeface="+mj-cs"/>
              </a:rPr>
            </a:br>
            <a:br>
              <a:rPr lang="en-US" sz="4400" kern="1200">
                <a:solidFill>
                  <a:srgbClr val="FFFFFF"/>
                </a:solidFill>
                <a:latin typeface="+mj-lt"/>
                <a:ea typeface="+mj-ea"/>
                <a:cs typeface="+mj-cs"/>
              </a:rPr>
            </a:br>
            <a:endParaRPr lang="en-US" sz="44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167272" y="425302"/>
            <a:ext cx="7466563" cy="6113610"/>
          </a:xfrm>
          <a:prstGeom prst="rect">
            <a:avLst/>
          </a:prstGeom>
        </p:spPr>
        <p:txBody>
          <a:bodyPr vert="horz" lIns="91440" tIns="45720" rIns="91440" bIns="45720" rtlCol="0" anchor="ctr">
            <a:noAutofit/>
          </a:bodyPr>
          <a:lstStyle/>
          <a:p>
            <a:pPr marR="0">
              <a:lnSpc>
                <a:spcPct val="90000"/>
              </a:lnSpc>
              <a:spcBef>
                <a:spcPts val="0"/>
              </a:spcBef>
              <a:spcAft>
                <a:spcPts val="0"/>
              </a:spcAft>
            </a:pPr>
            <a:endParaRPr lang="en-US" sz="1600" b="1">
              <a:effectLst/>
              <a:ea typeface="Calibri" panose="020F0502020204030204" pitchFamily="34" charset="0"/>
            </a:endParaRPr>
          </a:p>
          <a:p>
            <a:pPr marR="0">
              <a:lnSpc>
                <a:spcPct val="90000"/>
              </a:lnSpc>
              <a:spcBef>
                <a:spcPts val="0"/>
              </a:spcBef>
              <a:spcAft>
                <a:spcPts val="0"/>
              </a:spcAft>
            </a:pPr>
            <a:r>
              <a:rPr lang="en-US" b="1">
                <a:effectLst/>
                <a:ea typeface="Calibri" panose="020F0502020204030204" pitchFamily="34" charset="0"/>
              </a:rPr>
              <a:t>1. In the video, the client states: “I know you’ve been keeping little notes on me to share with other people.” Assuming the client was in a more calm and receptive state, what response should the counselor provide to clarify the client’s misconception? </a:t>
            </a:r>
          </a:p>
          <a:p>
            <a:pPr marR="0">
              <a:lnSpc>
                <a:spcPct val="90000"/>
              </a:lnSpc>
              <a:spcBef>
                <a:spcPts val="0"/>
              </a:spcBef>
              <a:spcAft>
                <a:spcPts val="0"/>
              </a:spcAft>
            </a:pPr>
            <a:r>
              <a:rPr lang="en-US" sz="1600">
                <a:ea typeface="Calibri" panose="020F0502020204030204" pitchFamily="34" charset="0"/>
              </a:rPr>
              <a:t>R</a:t>
            </a:r>
            <a:r>
              <a:rPr lang="en-US" sz="1600">
                <a:effectLst/>
                <a:ea typeface="Calibri" panose="020F0502020204030204" pitchFamily="34" charset="0"/>
              </a:rPr>
              <a:t>eview the client’s right to confidentiality, noting that the client must provide written consent for any release of her information.</a:t>
            </a:r>
            <a:r>
              <a:rPr lang="en-US" sz="1600">
                <a:effectLst/>
              </a:rPr>
              <a:t> </a:t>
            </a:r>
          </a:p>
          <a:p>
            <a:pPr marR="0">
              <a:lnSpc>
                <a:spcPct val="90000"/>
              </a:lnSpc>
              <a:spcBef>
                <a:spcPts val="0"/>
              </a:spcBef>
              <a:spcAft>
                <a:spcPts val="0"/>
              </a:spcAft>
            </a:pPr>
            <a:endParaRPr lang="en-US" sz="1600" b="1">
              <a:ea typeface="Calibri" panose="020F0502020204030204" pitchFamily="34" charset="0"/>
            </a:endParaRPr>
          </a:p>
          <a:p>
            <a:pPr marR="0">
              <a:lnSpc>
                <a:spcPct val="90000"/>
              </a:lnSpc>
              <a:spcBef>
                <a:spcPts val="0"/>
              </a:spcBef>
              <a:spcAft>
                <a:spcPts val="0"/>
              </a:spcAft>
            </a:pPr>
            <a:r>
              <a:rPr lang="en-US" b="1">
                <a:effectLst/>
                <a:ea typeface="Calibri" panose="020F0502020204030204" pitchFamily="34" charset="0"/>
                <a:cs typeface="Arial" panose="020B0604020202020204" pitchFamily="34" charset="0"/>
              </a:rPr>
              <a:t>2. What is a solid rationale, rooted in counseling ethics, that supports the counselor’s decision to limit a client’s access to their counseling records?</a:t>
            </a:r>
          </a:p>
          <a:p>
            <a:pPr marR="0">
              <a:lnSpc>
                <a:spcPct val="90000"/>
              </a:lnSpc>
              <a:spcBef>
                <a:spcPts val="0"/>
              </a:spcBef>
              <a:spcAft>
                <a:spcPts val="0"/>
              </a:spcAft>
            </a:pPr>
            <a:r>
              <a:rPr lang="en-US" sz="1600"/>
              <a:t>Counselors may exercise discretion with sharing client records. In instances where providing full access to records would likely harm the client or damage the therapeutic alliance, it is ethically permissible for a counselor to limit a client’s records. Based on the client’s words and demeanor, it can be reasonably assumed that she would be harmed by gaining access to her full case file. </a:t>
            </a:r>
            <a:endParaRPr lang="en-US" sz="1600">
              <a:effectLst/>
              <a:ea typeface="Calibri" panose="020F0502020204030204" pitchFamily="34" charset="0"/>
              <a:cs typeface="Arial" panose="020B0604020202020204" pitchFamily="34" charset="0"/>
            </a:endParaRPr>
          </a:p>
          <a:p>
            <a:pPr marR="0">
              <a:lnSpc>
                <a:spcPct val="90000"/>
              </a:lnSpc>
              <a:spcBef>
                <a:spcPts val="0"/>
              </a:spcBef>
              <a:spcAft>
                <a:spcPts val="0"/>
              </a:spcAft>
            </a:pPr>
            <a:endParaRPr lang="en-US" sz="1600">
              <a:ea typeface="Calibri" panose="020F0502020204030204" pitchFamily="34" charset="0"/>
              <a:cs typeface="Times New Roman" panose="02020603050405020304" pitchFamily="18" charset="0"/>
            </a:endParaRPr>
          </a:p>
          <a:p>
            <a:pPr marR="0">
              <a:lnSpc>
                <a:spcPct val="90000"/>
              </a:lnSpc>
              <a:spcBef>
                <a:spcPts val="0"/>
              </a:spcBef>
              <a:spcAft>
                <a:spcPts val="0"/>
              </a:spcAft>
            </a:pPr>
            <a:r>
              <a:rPr lang="en-US" b="1">
                <a:effectLst/>
                <a:ea typeface="Calibri" panose="020F0502020204030204" pitchFamily="34" charset="0"/>
                <a:cs typeface="Arial" panose="020B0604020202020204" pitchFamily="34" charset="0"/>
              </a:rPr>
              <a:t>3. What would you say to a client who requested to view records forwarded from outside mental health professionals, such as </a:t>
            </a:r>
            <a:r>
              <a:rPr lang="en-IN" b="1">
                <a:effectLst/>
                <a:ea typeface="Calibri" panose="020F0502020204030204" pitchFamily="34" charset="0"/>
                <a:cs typeface="Times New Roman" panose="02020603050405020304" pitchFamily="18" charset="0"/>
              </a:rPr>
              <a:t>previous</a:t>
            </a:r>
            <a:r>
              <a:rPr lang="en-IN" b="1">
                <a:effectLst/>
                <a:ea typeface="Calibri" panose="020F0502020204030204" pitchFamily="34" charset="0"/>
                <a:cs typeface="Arial" panose="020B0604020202020204" pitchFamily="34" charset="0"/>
              </a:rPr>
              <a:t> </a:t>
            </a:r>
            <a:r>
              <a:rPr lang="en-US" b="1">
                <a:effectLst/>
                <a:ea typeface="Calibri" panose="020F0502020204030204" pitchFamily="34" charset="0"/>
                <a:cs typeface="Arial" panose="020B0604020202020204" pitchFamily="34" charset="0"/>
              </a:rPr>
              <a:t>counselors or psychiatrists?</a:t>
            </a:r>
          </a:p>
          <a:p>
            <a:pPr marR="0">
              <a:lnSpc>
                <a:spcPct val="90000"/>
              </a:lnSpc>
              <a:spcBef>
                <a:spcPts val="0"/>
              </a:spcBef>
              <a:spcAft>
                <a:spcPts val="0"/>
              </a:spcAft>
            </a:pPr>
            <a:r>
              <a:rPr lang="en-US" sz="1600"/>
              <a:t>If subpoenaed client records contain files and reports that were received from outside mental health professionals, counselors should request for the court to subpoena the records directly from the originating clinician. </a:t>
            </a:r>
            <a:endParaRPr lang="en-US" sz="1600">
              <a:effectLst/>
              <a:ea typeface="Calibri" panose="020F0502020204030204" pitchFamily="34" charset="0"/>
              <a:cs typeface="Arial" panose="020B0604020202020204" pitchFamily="34" charset="0"/>
            </a:endParaRPr>
          </a:p>
          <a:p>
            <a:pPr marR="0">
              <a:lnSpc>
                <a:spcPct val="90000"/>
              </a:lnSpc>
              <a:spcBef>
                <a:spcPts val="0"/>
              </a:spcBef>
              <a:spcAft>
                <a:spcPts val="0"/>
              </a:spcAft>
            </a:pPr>
            <a:endParaRPr lang="en-US" sz="1600">
              <a:effectLst/>
              <a:ea typeface="Calibri" panose="020F0502020204030204" pitchFamily="34" charset="0"/>
              <a:cs typeface="Arial" panose="020B0604020202020204" pitchFamily="34" charset="0"/>
            </a:endParaRPr>
          </a:p>
          <a:p>
            <a:pPr marR="0">
              <a:lnSpc>
                <a:spcPct val="90000"/>
              </a:lnSpc>
              <a:spcBef>
                <a:spcPts val="0"/>
              </a:spcBef>
              <a:spcAft>
                <a:spcPts val="0"/>
              </a:spcAft>
            </a:pPr>
            <a:r>
              <a:rPr lang="en-US" b="1">
                <a:ea typeface="Calibri" panose="020F0502020204030204" pitchFamily="34" charset="0"/>
                <a:cs typeface="Arial" panose="020B0604020202020204" pitchFamily="34" charset="0"/>
              </a:rPr>
              <a:t>4. Practice writing a SOAP or DAP note for this portion of the session (see p. 145-146):</a:t>
            </a:r>
          </a:p>
          <a:p>
            <a:pPr marR="0">
              <a:lnSpc>
                <a:spcPct val="90000"/>
              </a:lnSpc>
              <a:spcBef>
                <a:spcPts val="0"/>
              </a:spcBef>
              <a:spcAft>
                <a:spcPts val="0"/>
              </a:spcAft>
            </a:pPr>
            <a:r>
              <a:rPr lang="en-US" sz="1600">
                <a:effectLst/>
                <a:ea typeface="Calibri" panose="020F0502020204030204" pitchFamily="34" charset="0"/>
                <a:cs typeface="Arial" panose="020B0604020202020204" pitchFamily="34" charset="0"/>
              </a:rPr>
              <a:t>	</a:t>
            </a:r>
            <a:endParaRPr lang="en-US" sz="1600">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230594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 name="Freeform: Shape 2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1" name="Freeform: Shape 3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98A78C72-B551-0227-5B06-EE7BD4B3C988}"/>
              </a:ext>
            </a:extLst>
          </p:cNvPr>
          <p:cNvSpPr>
            <a:spLocks noGrp="1"/>
          </p:cNvSpPr>
          <p:nvPr>
            <p:ph type="title"/>
          </p:nvPr>
        </p:nvSpPr>
        <p:spPr>
          <a:xfrm>
            <a:off x="1524003" y="1999615"/>
            <a:ext cx="9144000" cy="2764028"/>
          </a:xfrm>
        </p:spPr>
        <p:txBody>
          <a:bodyPr vert="horz" lIns="91440" tIns="45720" rIns="91440" bIns="45720" rtlCol="0" anchor="ctr">
            <a:noAutofit/>
          </a:bodyPr>
          <a:lstStyle/>
          <a:p>
            <a:pPr algn="ctr">
              <a:lnSpc>
                <a:spcPct val="90000"/>
              </a:lnSpc>
            </a:pPr>
            <a:r>
              <a:rPr lang="en-US" sz="4800"/>
              <a:t>Counselors must take steps to ensure client notes remain confidential. What steps are important (see case 6-2). However, you should also a</a:t>
            </a:r>
            <a:r>
              <a:rPr lang="en-US" sz="4800" kern="1200">
                <a:solidFill>
                  <a:schemeClr val="tx1"/>
                </a:solidFill>
                <a:latin typeface="+mj-lt"/>
                <a:ea typeface="+mj-ea"/>
                <a:cs typeface="+mj-cs"/>
              </a:rPr>
              <a:t>ssume others will see your records.</a:t>
            </a:r>
          </a:p>
        </p:txBody>
      </p:sp>
      <p:sp>
        <p:nvSpPr>
          <p:cNvPr id="42" name="Rectangle 41">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3921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222704" y="1153571"/>
            <a:ext cx="3826781" cy="4461163"/>
          </a:xfrm>
        </p:spPr>
        <p:txBody>
          <a:bodyPr vert="horz" lIns="91440" tIns="45720" rIns="91440" bIns="45720" rtlCol="0" anchor="ctr">
            <a:normAutofit/>
          </a:bodyPr>
          <a:lstStyle/>
          <a:p>
            <a:pPr marL="57150">
              <a:spcAft>
                <a:spcPts val="600"/>
              </a:spcAft>
            </a:pPr>
            <a:r>
              <a:rPr lang="en-US" b="1" kern="1200">
                <a:solidFill>
                  <a:srgbClr val="FFFFFF"/>
                </a:solidFill>
                <a:effectLst/>
                <a:latin typeface="+mj-lt"/>
                <a:ea typeface="+mj-ea"/>
                <a:cs typeface="+mj-cs"/>
              </a:rPr>
              <a:t>The Health Insurance Portability and Accountability Act (HIPAA) requires </a:t>
            </a:r>
            <a:br>
              <a:rPr lang="en-US" sz="3100" kern="1200">
                <a:solidFill>
                  <a:srgbClr val="FFFFFF"/>
                </a:solidFill>
                <a:effectLst/>
                <a:latin typeface="+mj-lt"/>
                <a:ea typeface="+mj-ea"/>
                <a:cs typeface="+mj-cs"/>
              </a:rPr>
            </a:br>
            <a:br>
              <a:rPr lang="en-US" sz="3100" kern="1200">
                <a:solidFill>
                  <a:srgbClr val="FFFFFF"/>
                </a:solidFill>
                <a:latin typeface="+mj-lt"/>
                <a:ea typeface="+mj-ea"/>
                <a:cs typeface="+mj-cs"/>
              </a:rPr>
            </a:br>
            <a:endParaRPr lang="en-US" sz="31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effectLst/>
            </a:endParaRP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effectLst/>
            </a:endParaRP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effectLst/>
            </a:endParaRPr>
          </a:p>
          <a:p>
            <a:pPr marR="0" lvl="0">
              <a:lnSpc>
                <a:spcPct val="90000"/>
              </a:lnSpc>
              <a:spcBef>
                <a:spcPts val="0"/>
              </a:spcBef>
              <a:spcAft>
                <a:spcPts val="0"/>
              </a:spcAft>
              <a:tabLst>
                <a:tab pos="342900" algn="l"/>
                <a:tab pos="685800" algn="l"/>
                <a:tab pos="1028700" algn="l"/>
              </a:tabLst>
            </a:pPr>
            <a:r>
              <a:rPr lang="en-US" sz="2400" b="1"/>
              <a:t>Counselors must:</a:t>
            </a:r>
          </a:p>
          <a:p>
            <a:pPr marR="0" lvl="0">
              <a:lnSpc>
                <a:spcPct val="90000"/>
              </a:lnSpc>
              <a:spcBef>
                <a:spcPts val="0"/>
              </a:spcBef>
              <a:spcAft>
                <a:spcPts val="0"/>
              </a:spcAft>
              <a:tabLst>
                <a:tab pos="342900" algn="l"/>
                <a:tab pos="685800" algn="l"/>
                <a:tab pos="1028700" algn="l"/>
              </a:tabLst>
            </a:pPr>
            <a:endParaRPr lang="en-US" sz="2400" b="1"/>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400">
                <a:effectLst/>
              </a:rPr>
              <a:t>give clients a clear written explanation of how they use, keep, and disclose their health care information.</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400">
                <a:effectLst/>
              </a:rPr>
              <a:t>give clients access to their records (unless it would cause them harm)</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400">
                <a:effectLst/>
              </a:rPr>
              <a:t>follow a written process for clients to request amendments to their records.</a:t>
            </a:r>
            <a:endParaRPr lang="en-US" sz="2400"/>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400"/>
              <a:t>keep a </a:t>
            </a:r>
            <a:r>
              <a:rPr lang="en-US" sz="2400">
                <a:effectLst/>
              </a:rPr>
              <a:t>written history of disclosures of client information, available to clients </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1924697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47E690-F024-3987-FEBB-BE3CB657A57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6CE7C3-887F-AA48-C688-EB5186AA2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9576D81-9CE4-EB9A-7693-84BA6EEA0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C4E1D3-6288-DA95-961A-DB2CA465876C}"/>
              </a:ext>
            </a:extLst>
          </p:cNvPr>
          <p:cNvSpPr>
            <a:spLocks noGrp="1"/>
          </p:cNvSpPr>
          <p:nvPr>
            <p:ph type="title"/>
          </p:nvPr>
        </p:nvSpPr>
        <p:spPr>
          <a:xfrm>
            <a:off x="222704" y="1153571"/>
            <a:ext cx="3826781" cy="4461163"/>
          </a:xfrm>
        </p:spPr>
        <p:txBody>
          <a:bodyPr vert="horz" lIns="91440" tIns="45720" rIns="91440" bIns="45720" rtlCol="0" anchor="ctr">
            <a:normAutofit/>
          </a:bodyPr>
          <a:lstStyle/>
          <a:p>
            <a:pPr marL="57150">
              <a:spcAft>
                <a:spcPts val="600"/>
              </a:spcAft>
            </a:pPr>
            <a:r>
              <a:rPr lang="en-US" b="1" kern="1200">
                <a:solidFill>
                  <a:srgbClr val="FFFFFF"/>
                </a:solidFill>
                <a:effectLst/>
                <a:latin typeface="+mj-lt"/>
                <a:ea typeface="+mj-ea"/>
                <a:cs typeface="+mj-cs"/>
              </a:rPr>
              <a:t>HIPPA EXCEPTIONS For Clients that need extra support (P. 150)</a:t>
            </a:r>
            <a:br>
              <a:rPr lang="en-US" sz="3100" kern="1200">
                <a:solidFill>
                  <a:srgbClr val="FFFFFF"/>
                </a:solidFill>
                <a:effectLst/>
                <a:latin typeface="+mj-lt"/>
                <a:ea typeface="+mj-ea"/>
                <a:cs typeface="+mj-cs"/>
              </a:rPr>
            </a:br>
            <a:br>
              <a:rPr lang="en-US" sz="3100" kern="1200">
                <a:solidFill>
                  <a:srgbClr val="FFFFFF"/>
                </a:solidFill>
                <a:latin typeface="+mj-lt"/>
                <a:ea typeface="+mj-ea"/>
                <a:cs typeface="+mj-cs"/>
              </a:rPr>
            </a:br>
            <a:endParaRPr lang="en-US" sz="3100"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D08AEACA-9EE7-755B-BE9E-A58CA5A3A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F21CF268-261A-F2B2-79E6-F8B30275B520}"/>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effectLst/>
            </a:endParaRP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effectLst/>
            </a:endParaRP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L="114300" marR="0" lvl="0">
              <a:lnSpc>
                <a:spcPct val="90000"/>
              </a:lnSpc>
              <a:spcBef>
                <a:spcPts val="0"/>
              </a:spcBef>
              <a:spcAft>
                <a:spcPts val="0"/>
              </a:spcAft>
              <a:tabLst>
                <a:tab pos="342900" algn="l"/>
                <a:tab pos="685800" algn="l"/>
                <a:tab pos="1028700" algn="l"/>
              </a:tabLst>
            </a:pPr>
            <a:endParaRPr lang="en-US" sz="2400"/>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400"/>
              <a:t>If clients are informed and given an opportunity to orally object counselors may give health case information to family members or others assisting in the client’s care (consider adding this to informed consent documents)</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400"/>
              <a:t>Counselors may provide information disaster relief organizations, such as the Red Cross.</a:t>
            </a: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DACE9858-7940-DF4E-EAB3-3032AFB29485}"/>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6E223320-5202-EE0C-FE4F-22E3F4DE9CD7}"/>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1323115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marL="57150">
              <a:spcAft>
                <a:spcPts val="600"/>
              </a:spcAft>
            </a:pPr>
            <a:r>
              <a:rPr lang="en-US" sz="4100" kern="1200">
                <a:solidFill>
                  <a:srgbClr val="FFFFFF"/>
                </a:solidFill>
                <a:effectLst/>
                <a:latin typeface="+mj-lt"/>
                <a:ea typeface="+mj-ea"/>
                <a:cs typeface="+mj-cs"/>
              </a:rPr>
              <a:t>Subpoenas</a:t>
            </a:r>
            <a:endParaRPr lang="en-US" sz="4100" kern="1200">
              <a:solidFill>
                <a:srgbClr val="FFFFFF"/>
              </a:solidFill>
              <a:latin typeface="+mj-lt"/>
              <a:ea typeface="+mj-ea"/>
              <a:cs typeface="+mj-cs"/>
            </a:endParaRP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marR="0" lvl="0">
              <a:lnSpc>
                <a:spcPct val="90000"/>
              </a:lnSpc>
              <a:spcBef>
                <a:spcPts val="0"/>
              </a:spcBef>
              <a:spcAft>
                <a:spcPts val="0"/>
              </a:spcAft>
              <a:tabLst>
                <a:tab pos="342900" algn="l"/>
                <a:tab pos="685800" algn="l"/>
                <a:tab pos="1028700" algn="l"/>
              </a:tabLst>
            </a:pPr>
            <a:r>
              <a:rPr lang="en-US" sz="2800">
                <a:effectLst/>
              </a:rPr>
              <a:t>Subpoenas are used:</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800">
                <a:effectLst/>
              </a:rPr>
              <a:t>to obtain copies of records.</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800">
                <a:effectLst/>
              </a:rPr>
              <a:t>to cause potential witnesses to testify at a deposition, hearing, or trial.</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800">
                <a:effectLst/>
              </a:rPr>
              <a:t>to ask potential witnesses to respond in writing to questions.</a:t>
            </a:r>
          </a:p>
          <a:p>
            <a:pPr marL="342900"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r>
              <a:rPr lang="en-US" sz="2800">
                <a:effectLst/>
              </a:rPr>
              <a:t>to require witnesses to appear at a deposition, hearing, or trail and to bring their records with them.</a:t>
            </a: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449132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DA3FC-591C-D62D-D14C-FE4787691648}"/>
              </a:ext>
            </a:extLst>
          </p:cNvPr>
          <p:cNvSpPr>
            <a:spLocks noGrp="1"/>
          </p:cNvSpPr>
          <p:nvPr>
            <p:ph type="title"/>
          </p:nvPr>
        </p:nvSpPr>
        <p:spPr>
          <a:xfrm>
            <a:off x="686834" y="1153572"/>
            <a:ext cx="3480438" cy="4461163"/>
          </a:xfrm>
        </p:spPr>
        <p:txBody>
          <a:bodyPr vert="horz" lIns="91440" tIns="45720" rIns="91440" bIns="45720" rtlCol="0" anchor="ctr">
            <a:normAutofit/>
          </a:bodyPr>
          <a:lstStyle/>
          <a:p>
            <a:pPr marL="57150">
              <a:spcAft>
                <a:spcPts val="600"/>
              </a:spcAft>
            </a:pPr>
            <a:r>
              <a:rPr lang="en-US" sz="3700" b="1" kern="1200">
                <a:solidFill>
                  <a:srgbClr val="FFFFFF"/>
                </a:solidFill>
                <a:latin typeface="+mj-lt"/>
                <a:ea typeface="+mj-ea"/>
                <a:cs typeface="+mj-cs"/>
              </a:rPr>
              <a:t>If you are subpoenaed</a:t>
            </a:r>
            <a:r>
              <a:rPr lang="en-US" sz="3700" kern="1200">
                <a:solidFill>
                  <a:srgbClr val="FFFFFF"/>
                </a:solidFill>
                <a:latin typeface="+mj-lt"/>
                <a:ea typeface="+mj-ea"/>
                <a:cs typeface="+mj-cs"/>
              </a:rPr>
              <a:t>:</a:t>
            </a:r>
          </a:p>
        </p:txBody>
      </p:sp>
      <p:sp>
        <p:nvSpPr>
          <p:cNvPr id="32" name="Arc 3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A04A1F1-4B29-4360-B863-D6479AB4D739}"/>
              </a:ext>
            </a:extLst>
          </p:cNvPr>
          <p:cNvSpPr txBox="1"/>
          <p:nvPr/>
        </p:nvSpPr>
        <p:spPr>
          <a:xfrm>
            <a:off x="4447308" y="591344"/>
            <a:ext cx="6906491" cy="5585619"/>
          </a:xfrm>
          <a:prstGeom prst="rect">
            <a:avLst/>
          </a:prstGeom>
        </p:spPr>
        <p:txBody>
          <a:bodyPr vert="horz" lIns="91440" tIns="45720" rIns="91440" bIns="45720" rtlCol="0" anchor="ctr">
            <a:normAutofit fontScale="92500"/>
          </a:bodyPr>
          <a:lstStyle/>
          <a:p>
            <a:pPr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R="0" lvl="0" indent="-228600">
              <a:lnSpc>
                <a:spcPct val="90000"/>
              </a:lnSpc>
              <a:spcBef>
                <a:spcPts val="0"/>
              </a:spcBef>
              <a:spcAft>
                <a:spcPts val="0"/>
              </a:spcAft>
              <a:buFont typeface="Arial" panose="020B0604020202020204" pitchFamily="34" charset="0"/>
              <a:buChar char="•"/>
              <a:tabLst>
                <a:tab pos="342900" algn="l"/>
                <a:tab pos="685800" algn="l"/>
                <a:tab pos="1028700" algn="l"/>
              </a:tabLst>
            </a:pPr>
            <a:endParaRPr lang="en-US" sz="2400"/>
          </a:p>
          <a:p>
            <a:pPr marL="285750" indent="-228600">
              <a:lnSpc>
                <a:spcPct val="90000"/>
              </a:lnSpc>
              <a:buFont typeface="Arial" panose="020B0604020202020204" pitchFamily="34" charset="0"/>
              <a:buChar char="•"/>
              <a:tabLst>
                <a:tab pos="342900" algn="l"/>
                <a:tab pos="685800" algn="l"/>
                <a:tab pos="1028700" algn="l"/>
              </a:tabLst>
            </a:pPr>
            <a:r>
              <a:rPr lang="en-US" sz="2400"/>
              <a:t>Don’t ignore it but get advice before responding. I</a:t>
            </a:r>
          </a:p>
          <a:p>
            <a:pPr marL="285750" indent="-228600">
              <a:lnSpc>
                <a:spcPct val="90000"/>
              </a:lnSpc>
              <a:buFont typeface="Arial" panose="020B0604020202020204" pitchFamily="34" charset="0"/>
              <a:buChar char="•"/>
              <a:tabLst>
                <a:tab pos="342900" algn="l"/>
                <a:tab pos="685800" algn="l"/>
                <a:tab pos="1028700" algn="l"/>
              </a:tabLst>
            </a:pPr>
            <a:r>
              <a:rPr lang="en-US" sz="2400"/>
              <a:t>Contact your client, did they receive the subpoena? </a:t>
            </a:r>
          </a:p>
          <a:p>
            <a:pPr marL="285750" indent="-228600">
              <a:lnSpc>
                <a:spcPct val="90000"/>
              </a:lnSpc>
              <a:buFont typeface="Arial" panose="020B0604020202020204" pitchFamily="34" charset="0"/>
              <a:buChar char="•"/>
              <a:tabLst>
                <a:tab pos="342900" algn="l"/>
                <a:tab pos="685800" algn="l"/>
                <a:tab pos="1028700" algn="l"/>
              </a:tabLst>
            </a:pPr>
            <a:r>
              <a:rPr lang="en-US" sz="2400"/>
              <a:t>Talk with your supervisor about obtaining legal advice or seek it yourself.  Is the information requested privileged communication? </a:t>
            </a:r>
          </a:p>
          <a:p>
            <a:pPr marL="285750" indent="-228600">
              <a:lnSpc>
                <a:spcPct val="90000"/>
              </a:lnSpc>
              <a:buFont typeface="Arial" panose="020B0604020202020204" pitchFamily="34" charset="0"/>
              <a:buChar char="•"/>
              <a:tabLst>
                <a:tab pos="342900" algn="l"/>
                <a:tab pos="685800" algn="l"/>
                <a:tab pos="1028700" algn="l"/>
              </a:tabLst>
            </a:pPr>
            <a:r>
              <a:rPr lang="en-US" sz="2400"/>
              <a:t>If you are working for an agency, check with them before you hire an attorney on your own. </a:t>
            </a:r>
          </a:p>
          <a:p>
            <a:pPr marL="285750" indent="-228600">
              <a:lnSpc>
                <a:spcPct val="90000"/>
              </a:lnSpc>
              <a:buFont typeface="Arial" panose="020B0604020202020204" pitchFamily="34" charset="0"/>
              <a:buChar char="•"/>
              <a:tabLst>
                <a:tab pos="342900" algn="l"/>
                <a:tab pos="685800" algn="l"/>
                <a:tab pos="1028700" algn="l"/>
              </a:tabLst>
            </a:pPr>
            <a:r>
              <a:rPr lang="en-US" sz="2400" b="1"/>
              <a:t>Do not just hand over records</a:t>
            </a:r>
            <a:r>
              <a:rPr lang="en-US" sz="2400"/>
              <a:t>. There are procedures lawyers must follow to give health care professionals a subpoena (see </a:t>
            </a:r>
            <a:r>
              <a:rPr lang="en-US" sz="2400">
                <a:effectLst/>
              </a:rPr>
              <a:t>RCW 70.02.060) and the information may be privileged</a:t>
            </a:r>
          </a:p>
          <a:p>
            <a:pPr marL="57150">
              <a:lnSpc>
                <a:spcPct val="90000"/>
              </a:lnSpc>
              <a:tabLst>
                <a:tab pos="342900" algn="l"/>
                <a:tab pos="685800" algn="l"/>
                <a:tab pos="1028700" algn="l"/>
              </a:tabLst>
            </a:pPr>
            <a:endParaRPr lang="en-US" sz="2400">
              <a:effectLst/>
            </a:endParaRPr>
          </a:p>
          <a:p>
            <a:pPr indent="-228600">
              <a:lnSpc>
                <a:spcPct val="90000"/>
              </a:lnSpc>
              <a:buFont typeface="Arial" panose="020B0604020202020204" pitchFamily="34" charset="0"/>
              <a:buChar char="•"/>
              <a:tabLst>
                <a:tab pos="342900" algn="l"/>
                <a:tab pos="685800" algn="l"/>
                <a:tab pos="1028700" algn="l"/>
              </a:tabLst>
            </a:pPr>
            <a:r>
              <a:rPr lang="en-US" altLang="en-US" sz="2400" b="0"/>
              <a:t>ACA Code of Ethics B.2.d. (2014) recommends counselors obtain a written release of information from their client to release records. </a:t>
            </a:r>
            <a:endParaRPr lang="en-US" sz="2400"/>
          </a:p>
          <a:p>
            <a:pPr indent="-228600">
              <a:lnSpc>
                <a:spcPct val="90000"/>
              </a:lnSpc>
              <a:spcAft>
                <a:spcPts val="600"/>
              </a:spcAft>
              <a:buFont typeface="Arial" panose="020B0604020202020204" pitchFamily="34" charset="0"/>
              <a:buChar char="•"/>
            </a:pPr>
            <a:endParaRPr lang="en-US">
              <a:effectLst/>
            </a:endParaRPr>
          </a:p>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EF0CFA5B-EFD7-70D6-C6BF-98610EB7DC80}"/>
              </a:ext>
            </a:extLst>
          </p:cNvPr>
          <p:cNvSpPr txBox="1"/>
          <p:nvPr/>
        </p:nvSpPr>
        <p:spPr>
          <a:xfrm>
            <a:off x="5070020" y="1698170"/>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D72E1921-850C-E63B-DA28-E9701388C3CB}"/>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2886492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982C4C-C163-DFD8-D26A-9072CD2B7D7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E554B2-4988-1E90-787A-B75227ED04B0}"/>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marL="57150" algn="ctr">
              <a:spcAft>
                <a:spcPts val="600"/>
              </a:spcAft>
            </a:pPr>
            <a:r>
              <a:rPr lang="en-US" sz="5200" kern="1200">
                <a:solidFill>
                  <a:schemeClr val="tx1"/>
                </a:solidFill>
                <a:latin typeface="+mj-lt"/>
                <a:ea typeface="+mj-ea"/>
                <a:cs typeface="+mj-cs"/>
              </a:rPr>
              <a:t>CCS-R, (E) on Records</a:t>
            </a:r>
          </a:p>
        </p:txBody>
      </p:sp>
      <p:pic>
        <p:nvPicPr>
          <p:cNvPr id="7" name="Picture 6" descr="A white background with black text&#10;&#10;Description automatically generated">
            <a:extLst>
              <a:ext uri="{FF2B5EF4-FFF2-40B4-BE49-F238E27FC236}">
                <a16:creationId xmlns:a16="http://schemas.microsoft.com/office/drawing/2014/main" id="{A3456B54-0A7C-1042-BD1F-78D8D0162FCC}"/>
              </a:ext>
            </a:extLst>
          </p:cNvPr>
          <p:cNvPicPr>
            <a:picLocks noChangeAspect="1"/>
          </p:cNvPicPr>
          <p:nvPr/>
        </p:nvPicPr>
        <p:blipFill>
          <a:blip r:embed="rId2"/>
          <a:stretch>
            <a:fillRect/>
          </a:stretch>
        </p:blipFill>
        <p:spPr>
          <a:xfrm>
            <a:off x="643467" y="1699513"/>
            <a:ext cx="10905066" cy="2344588"/>
          </a:xfrm>
          <a:prstGeom prst="rect">
            <a:avLst/>
          </a:prstGeom>
        </p:spPr>
      </p:pic>
      <p:sp>
        <p:nvSpPr>
          <p:cNvPr id="5" name="TextBox 4">
            <a:extLst>
              <a:ext uri="{FF2B5EF4-FFF2-40B4-BE49-F238E27FC236}">
                <a16:creationId xmlns:a16="http://schemas.microsoft.com/office/drawing/2014/main" id="{7A961DBC-6032-785A-4613-458935F86EF8}"/>
              </a:ext>
            </a:extLst>
          </p:cNvPr>
          <p:cNvSpPr txBox="1"/>
          <p:nvPr/>
        </p:nvSpPr>
        <p:spPr>
          <a:xfrm>
            <a:off x="4511855" y="1420584"/>
            <a:ext cx="6906491"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endParaRPr lang="en-US">
              <a:effectLst/>
            </a:endParaRPr>
          </a:p>
        </p:txBody>
      </p:sp>
      <p:sp>
        <p:nvSpPr>
          <p:cNvPr id="4" name="TextBox 3">
            <a:extLst>
              <a:ext uri="{FF2B5EF4-FFF2-40B4-BE49-F238E27FC236}">
                <a16:creationId xmlns:a16="http://schemas.microsoft.com/office/drawing/2014/main" id="{84034EA0-BDB1-128D-4E7C-74ADDF725E39}"/>
              </a:ext>
            </a:extLst>
          </p:cNvPr>
          <p:cNvSpPr txBox="1"/>
          <p:nvPr/>
        </p:nvSpPr>
        <p:spPr>
          <a:xfrm>
            <a:off x="4641599" y="1660602"/>
            <a:ext cx="6478513" cy="4516361"/>
          </a:xfrm>
          <a:prstGeom prst="rect">
            <a:avLst/>
          </a:prstGeom>
        </p:spPr>
        <p:txBody>
          <a:bodyPr vert="horz" lIns="91440" tIns="45720" rIns="91440" bIns="45720" rtlCol="0">
            <a:normAutofit/>
          </a:bodyPr>
          <a:lstStyle/>
          <a:p>
            <a:pPr marL="857250" indent="-857250">
              <a:buFont typeface="Arial" panose="020B0604020202020204" pitchFamily="34" charset="0"/>
              <a:buChar char="•"/>
            </a:pPr>
            <a:endParaRPr lang="en-US" altLang="en-US" sz="3200" b="0"/>
          </a:p>
        </p:txBody>
      </p:sp>
      <p:sp>
        <p:nvSpPr>
          <p:cNvPr id="3" name="Content Placeholder 2">
            <a:extLst>
              <a:ext uri="{FF2B5EF4-FFF2-40B4-BE49-F238E27FC236}">
                <a16:creationId xmlns:a16="http://schemas.microsoft.com/office/drawing/2014/main" id="{2AC5B0B1-6D45-7E21-95B0-E1B797D3A9A1}"/>
              </a:ext>
            </a:extLst>
          </p:cNvPr>
          <p:cNvSpPr>
            <a:spLocks noGrp="1"/>
          </p:cNvSpPr>
          <p:nvPr>
            <p:ph idx="1"/>
          </p:nvPr>
        </p:nvSpPr>
        <p:spPr/>
        <p:txBody>
          <a:bodyPr/>
          <a:lstStyle/>
          <a:p>
            <a:pPr marL="0" indent="0">
              <a:buNone/>
            </a:pPr>
            <a:endParaRPr lang="en-US"/>
          </a:p>
          <a:p>
            <a:pPr marL="0" indent="0">
              <a:buNone/>
            </a:pPr>
            <a:endParaRPr lang="en-US"/>
          </a:p>
        </p:txBody>
      </p:sp>
    </p:spTree>
    <p:extLst>
      <p:ext uri="{BB962C8B-B14F-4D97-AF65-F5344CB8AC3E}">
        <p14:creationId xmlns:p14="http://schemas.microsoft.com/office/powerpoint/2010/main" val="115382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00" name="Rectangle 1129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1" name="Rectangle 1130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2" name="Rectangle 1130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3" name="Rectangle 1130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4" name="Rectangle 1130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5" name="Freeform: Shape 1129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65" name="Rectangle 2">
            <a:extLst>
              <a:ext uri="{FF2B5EF4-FFF2-40B4-BE49-F238E27FC236}">
                <a16:creationId xmlns:a16="http://schemas.microsoft.com/office/drawing/2014/main" id="{608AC8BF-D50D-6990-62D4-09F4E9768111}"/>
              </a:ext>
            </a:extLst>
          </p:cNvPr>
          <p:cNvSpPr>
            <a:spLocks noGrp="1" noChangeArrowheads="1"/>
          </p:cNvSpPr>
          <p:nvPr>
            <p:ph type="title"/>
          </p:nvPr>
        </p:nvSpPr>
        <p:spPr>
          <a:xfrm>
            <a:off x="1314824" y="735106"/>
            <a:ext cx="10053763" cy="2928470"/>
          </a:xfrm>
        </p:spPr>
        <p:txBody>
          <a:bodyPr vert="horz" lIns="91440" tIns="45720" rIns="91440" bIns="45720" rtlCol="0" anchor="b">
            <a:normAutofit/>
          </a:bodyPr>
          <a:lstStyle/>
          <a:p>
            <a:r>
              <a:rPr lang="en-US" altLang="en-US" sz="4800" kern="1200">
                <a:solidFill>
                  <a:srgbClr val="FFFFFF"/>
                </a:solidFill>
                <a:latin typeface="+mj-lt"/>
                <a:ea typeface="+mj-ea"/>
                <a:cs typeface="+mj-cs"/>
              </a:rPr>
              <a:t>Counselor Competency</a:t>
            </a:r>
          </a:p>
        </p:txBody>
      </p:sp>
      <p:sp>
        <p:nvSpPr>
          <p:cNvPr id="11267" name="Text Box 4">
            <a:extLst>
              <a:ext uri="{FF2B5EF4-FFF2-40B4-BE49-F238E27FC236}">
                <a16:creationId xmlns:a16="http://schemas.microsoft.com/office/drawing/2014/main" id="{EBDDEA3F-2929-6B4C-2531-C0A35BEF897E}"/>
              </a:ext>
            </a:extLst>
          </p:cNvPr>
          <p:cNvSpPr txBox="1">
            <a:spLocks noChangeArrowheads="1"/>
          </p:cNvSpPr>
          <p:nvPr/>
        </p:nvSpPr>
        <p:spPr bwMode="auto">
          <a:xfrm>
            <a:off x="1143041" y="5770562"/>
            <a:ext cx="73469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723" tIns="40636" rIns="82723" bIns="40636" anchor="t">
            <a:normAutofit/>
          </a:bodyPr>
          <a:lstStyle>
            <a:lvl1pPr defTabSz="836613">
              <a:lnSpc>
                <a:spcPct val="120000"/>
              </a:lnSpc>
              <a:spcAft>
                <a:spcPct val="30000"/>
              </a:spcAft>
              <a:buClr>
                <a:srgbClr val="0000FF"/>
              </a:buClr>
              <a:buFont typeface="Monotype Sorts" pitchFamily="2" charset="2"/>
              <a:buChar char="¦"/>
              <a:defRPr sz="2400" b="1">
                <a:solidFill>
                  <a:schemeClr val="tx1"/>
                </a:solidFill>
                <a:latin typeface="Helvetica" pitchFamily="2" charset="0"/>
              </a:defRPr>
            </a:lvl1pPr>
            <a:lvl2pPr marL="742950" indent="-285750" defTabSz="836613">
              <a:lnSpc>
                <a:spcPct val="120000"/>
              </a:lnSpc>
              <a:spcAft>
                <a:spcPct val="30000"/>
              </a:spcAft>
              <a:buClr>
                <a:srgbClr val="0000FF"/>
              </a:buClr>
              <a:buSzPct val="100000"/>
              <a:buFont typeface="Monotype Sorts" pitchFamily="2" charset="2"/>
              <a:buChar char="§"/>
              <a:defRPr sz="2200" b="1">
                <a:solidFill>
                  <a:schemeClr val="tx1"/>
                </a:solidFill>
                <a:latin typeface="Helvetica" pitchFamily="2" charset="0"/>
              </a:defRPr>
            </a:lvl2pPr>
            <a:lvl3pPr marL="1143000" indent="-228600" defTabSz="836613">
              <a:lnSpc>
                <a:spcPct val="120000"/>
              </a:lnSpc>
              <a:spcAft>
                <a:spcPct val="20000"/>
              </a:spcAft>
              <a:buClr>
                <a:srgbClr val="0000FF"/>
              </a:buClr>
              <a:buSzPct val="75000"/>
              <a:buFont typeface="Monotype Sorts" pitchFamily="2" charset="2"/>
              <a:buChar char="F"/>
              <a:defRPr sz="2000" b="1">
                <a:solidFill>
                  <a:schemeClr val="tx1"/>
                </a:solidFill>
                <a:latin typeface="Helvetica" pitchFamily="2" charset="0"/>
              </a:defRPr>
            </a:lvl3pPr>
            <a:lvl4pPr marL="1600200" indent="-228600" defTabSz="836613">
              <a:spcBef>
                <a:spcPct val="20000"/>
              </a:spcBef>
              <a:buClr>
                <a:srgbClr val="0000FF"/>
              </a:buClr>
              <a:buSzPct val="65000"/>
              <a:buFont typeface="Monotype Sorts" pitchFamily="2" charset="2"/>
              <a:buChar char="u"/>
              <a:defRPr b="1">
                <a:solidFill>
                  <a:schemeClr val="tx1"/>
                </a:solidFill>
                <a:latin typeface="Helvetica" pitchFamily="2" charset="0"/>
              </a:defRPr>
            </a:lvl4pPr>
            <a:lvl5pPr marL="2057400" indent="-228600" defTabSz="836613">
              <a:spcBef>
                <a:spcPct val="20000"/>
              </a:spcBef>
              <a:buClr>
                <a:srgbClr val="0000FF"/>
              </a:buClr>
              <a:buSzPct val="100000"/>
              <a:buChar char="–"/>
              <a:defRPr sz="1600" b="1">
                <a:solidFill>
                  <a:schemeClr val="tx1"/>
                </a:solidFill>
                <a:latin typeface="Helvetica" pitchFamily="2" charset="0"/>
              </a:defRPr>
            </a:lvl5pPr>
            <a:lvl6pPr marL="25146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6pPr>
            <a:lvl7pPr marL="29718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7pPr>
            <a:lvl8pPr marL="34290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8pPr>
            <a:lvl9pPr marL="38862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9pPr>
          </a:lstStyle>
          <a:p>
            <a:pPr>
              <a:lnSpc>
                <a:spcPct val="90000"/>
              </a:lnSpc>
              <a:spcBef>
                <a:spcPct val="50000"/>
              </a:spcBef>
              <a:spcAft>
                <a:spcPct val="0"/>
              </a:spcAft>
              <a:buClr>
                <a:srgbClr val="0000CC"/>
              </a:buClr>
              <a:buSzPct val="75000"/>
              <a:buFont typeface="Monotype Sorts" pitchFamily="2" charset="2"/>
              <a:buNone/>
            </a:pPr>
            <a:endParaRPr lang="en-US" altLang="en-US" sz="1800" b="0">
              <a:ea typeface="ＭＳ Ｐゴシック" panose="020B0600070205080204" pitchFamily="34" charset="-128"/>
            </a:endParaRPr>
          </a:p>
        </p:txBody>
      </p:sp>
    </p:spTree>
    <p:extLst>
      <p:ext uri="{BB962C8B-B14F-4D97-AF65-F5344CB8AC3E}">
        <p14:creationId xmlns:p14="http://schemas.microsoft.com/office/powerpoint/2010/main" val="3435916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2EDB75-B02A-2E4E-FE46-6A54765ABC06}"/>
              </a:ext>
            </a:extLst>
          </p:cNvPr>
          <p:cNvSpPr txBox="1"/>
          <p:nvPr/>
        </p:nvSpPr>
        <p:spPr>
          <a:xfrm>
            <a:off x="686834" y="1153572"/>
            <a:ext cx="3200400" cy="44611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a:solidFill>
                  <a:srgbClr val="FFFFFF"/>
                </a:solidFill>
                <a:latin typeface="+mj-lt"/>
                <a:ea typeface="+mj-ea"/>
                <a:cs typeface="+mj-cs"/>
              </a:rPr>
              <a:t>Competency</a:t>
            </a:r>
          </a:p>
          <a:p>
            <a:pPr>
              <a:lnSpc>
                <a:spcPct val="90000"/>
              </a:lnSpc>
              <a:spcBef>
                <a:spcPct val="0"/>
              </a:spcBef>
              <a:spcAft>
                <a:spcPts val="600"/>
              </a:spcAft>
            </a:pPr>
            <a:endParaRPr lang="en-US" sz="4400" kern="1200">
              <a:solidFill>
                <a:srgbClr val="FFFFFF"/>
              </a:solidFill>
              <a:latin typeface="+mj-lt"/>
              <a:ea typeface="+mj-ea"/>
              <a:cs typeface="+mj-cs"/>
            </a:endParaRPr>
          </a:p>
        </p:txBody>
      </p:sp>
      <p:sp>
        <p:nvSpPr>
          <p:cNvPr id="34" name="Arc 3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64D71E-5AC5-97CA-F0F7-FB548B097320}"/>
              </a:ext>
            </a:extLst>
          </p:cNvPr>
          <p:cNvSpPr>
            <a:spLocks noGrp="1"/>
          </p:cNvSpPr>
          <p:nvPr>
            <p:ph idx="1"/>
          </p:nvPr>
        </p:nvSpPr>
        <p:spPr>
          <a:xfrm>
            <a:off x="4447308" y="591344"/>
            <a:ext cx="6906491" cy="5585619"/>
          </a:xfrm>
        </p:spPr>
        <p:txBody>
          <a:bodyPr vert="horz" lIns="91440" tIns="45720" rIns="91440" bIns="45720" rtlCol="0" anchor="ctr">
            <a:normAutofit lnSpcReduction="10000"/>
          </a:bodyPr>
          <a:lstStyle/>
          <a:p>
            <a:endParaRPr lang="en-US" sz="2000"/>
          </a:p>
          <a:p>
            <a:pPr marL="0" indent="0" algn="ctr">
              <a:buNone/>
            </a:pPr>
            <a:r>
              <a:rPr lang="en-US" b="1">
                <a:latin typeface="+mj-lt"/>
              </a:rPr>
              <a:t>WHAT IS COUNSELOR COMPETENCY?</a:t>
            </a:r>
          </a:p>
          <a:p>
            <a:pPr marL="0" indent="0">
              <a:buNone/>
            </a:pPr>
            <a:r>
              <a:rPr lang="en-US" sz="2400"/>
              <a:t> A complex construct with many possible levels along a continuum </a:t>
            </a:r>
          </a:p>
          <a:p>
            <a:pPr marL="0" indent="0">
              <a:buNone/>
            </a:pPr>
            <a:endParaRPr lang="en-US" sz="2400"/>
          </a:p>
          <a:p>
            <a:pPr lvl="1"/>
            <a:r>
              <a:rPr lang="en-US"/>
              <a:t>Ethical and legal considerations “do no harm”, nonmaleficence is the most salient moral principle.</a:t>
            </a:r>
          </a:p>
          <a:p>
            <a:pPr lvl="1"/>
            <a:r>
              <a:rPr lang="en-US"/>
              <a:t>Skill considerations “perform at an acceptable level”</a:t>
            </a:r>
          </a:p>
          <a:p>
            <a:pPr lvl="1"/>
            <a:r>
              <a:rPr lang="en-US"/>
              <a:t>Practice considerations ”Within the boundaries of their competence”</a:t>
            </a:r>
          </a:p>
          <a:p>
            <a:pPr lvl="1"/>
            <a:r>
              <a:rPr lang="en-US">
                <a:effectLst/>
                <a:ea typeface="Times New Roman" panose="02020603050405020304" pitchFamily="18" charset="0"/>
              </a:rPr>
              <a:t>Offering ethical referrals when clients are outside counselor’s area of service (not discriminatory reasons</a:t>
            </a:r>
            <a:r>
              <a:rPr lang="en-US" sz="2000">
                <a:effectLst/>
                <a:ea typeface="Times New Roman" panose="02020603050405020304" pitchFamily="18" charset="0"/>
              </a:rPr>
              <a:t>)</a:t>
            </a:r>
            <a:endParaRPr lang="en-US" sz="2000"/>
          </a:p>
          <a:p>
            <a:endParaRPr lang="en-US"/>
          </a:p>
        </p:txBody>
      </p:sp>
    </p:spTree>
    <p:extLst>
      <p:ext uri="{BB962C8B-B14F-4D97-AF65-F5344CB8AC3E}">
        <p14:creationId xmlns:p14="http://schemas.microsoft.com/office/powerpoint/2010/main" val="1224934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2EDB75-B02A-2E4E-FE46-6A54765ABC06}"/>
              </a:ext>
            </a:extLst>
          </p:cNvPr>
          <p:cNvSpPr txBox="1"/>
          <p:nvPr/>
        </p:nvSpPr>
        <p:spPr>
          <a:xfrm>
            <a:off x="686834" y="1153572"/>
            <a:ext cx="3200400" cy="4461163"/>
          </a:xfrm>
          <a:prstGeom prst="rect">
            <a:avLst/>
          </a:prstGeom>
        </p:spPr>
        <p:txBody>
          <a:bodyPr vert="horz" lIns="91440" tIns="45720" rIns="91440" bIns="45720" rtlCol="0" anchor="ctr">
            <a:normAutofit fontScale="92500" lnSpcReduction="20000"/>
          </a:bodyPr>
          <a:lstStyle/>
          <a:p>
            <a:pPr>
              <a:lnSpc>
                <a:spcPct val="90000"/>
              </a:lnSpc>
              <a:spcBef>
                <a:spcPct val="0"/>
              </a:spcBef>
              <a:spcAft>
                <a:spcPts val="600"/>
              </a:spcAft>
            </a:pPr>
            <a:endParaRPr lang="en-US" sz="4400" kern="1200">
              <a:solidFill>
                <a:srgbClr val="FFFFFF"/>
              </a:solidFill>
              <a:latin typeface="+mj-lt"/>
              <a:ea typeface="+mj-ea"/>
              <a:cs typeface="+mj-cs"/>
            </a:endParaRPr>
          </a:p>
          <a:p>
            <a:pPr>
              <a:lnSpc>
                <a:spcPct val="90000"/>
              </a:lnSpc>
              <a:spcBef>
                <a:spcPct val="0"/>
              </a:spcBef>
              <a:spcAft>
                <a:spcPts val="600"/>
              </a:spcAft>
            </a:pPr>
            <a:endParaRPr lang="en-US" sz="4400" kern="1200">
              <a:solidFill>
                <a:srgbClr val="FFFFFF"/>
              </a:solidFill>
              <a:latin typeface="+mj-lt"/>
              <a:ea typeface="+mj-ea"/>
              <a:cs typeface="+mj-cs"/>
            </a:endParaRPr>
          </a:p>
          <a:p>
            <a:pPr>
              <a:lnSpc>
                <a:spcPct val="90000"/>
              </a:lnSpc>
              <a:spcBef>
                <a:spcPct val="0"/>
              </a:spcBef>
              <a:spcAft>
                <a:spcPts val="600"/>
              </a:spcAft>
            </a:pPr>
            <a:r>
              <a:rPr lang="en-US" sz="4400" kern="1200">
                <a:solidFill>
                  <a:srgbClr val="FFFFFF"/>
                </a:solidFill>
                <a:latin typeface="+mj-lt"/>
                <a:ea typeface="+mj-ea"/>
                <a:cs typeface="+mj-cs"/>
              </a:rPr>
              <a:t>Ways graduate programs attempt to ensure competent graduates:  </a:t>
            </a:r>
          </a:p>
          <a:p>
            <a:pPr>
              <a:lnSpc>
                <a:spcPct val="90000"/>
              </a:lnSpc>
              <a:spcBef>
                <a:spcPct val="0"/>
              </a:spcBef>
              <a:spcAft>
                <a:spcPts val="600"/>
              </a:spcAft>
            </a:pPr>
            <a:endParaRPr lang="en-US" sz="4400" kern="1200">
              <a:solidFill>
                <a:srgbClr val="FFFFFF"/>
              </a:solidFill>
              <a:latin typeface="+mj-lt"/>
              <a:ea typeface="+mj-ea"/>
              <a:cs typeface="+mj-cs"/>
            </a:endParaRPr>
          </a:p>
          <a:p>
            <a:pPr>
              <a:lnSpc>
                <a:spcPct val="90000"/>
              </a:lnSpc>
              <a:spcBef>
                <a:spcPct val="0"/>
              </a:spcBef>
              <a:spcAft>
                <a:spcPts val="600"/>
              </a:spcAft>
            </a:pPr>
            <a:endParaRPr lang="en-US" sz="4400" kern="1200">
              <a:solidFill>
                <a:srgbClr val="FFFFFF"/>
              </a:solidFill>
              <a:latin typeface="+mj-lt"/>
              <a:ea typeface="+mj-ea"/>
              <a:cs typeface="+mj-cs"/>
            </a:endParaRPr>
          </a:p>
          <a:p>
            <a:pPr>
              <a:lnSpc>
                <a:spcPct val="90000"/>
              </a:lnSpc>
              <a:spcBef>
                <a:spcPct val="0"/>
              </a:spcBef>
              <a:spcAft>
                <a:spcPts val="600"/>
              </a:spcAft>
            </a:pPr>
            <a:endParaRPr lang="en-US" sz="4400" kern="1200">
              <a:solidFill>
                <a:srgbClr val="FFFFFF"/>
              </a:solidFill>
              <a:latin typeface="+mj-lt"/>
              <a:ea typeface="+mj-ea"/>
              <a:cs typeface="+mj-cs"/>
            </a:endParaRPr>
          </a:p>
        </p:txBody>
      </p:sp>
      <p:sp>
        <p:nvSpPr>
          <p:cNvPr id="34" name="Arc 3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64D71E-5AC5-97CA-F0F7-FB548B097320}"/>
              </a:ext>
            </a:extLst>
          </p:cNvPr>
          <p:cNvSpPr>
            <a:spLocks noGrp="1"/>
          </p:cNvSpPr>
          <p:nvPr>
            <p:ph idx="1"/>
          </p:nvPr>
        </p:nvSpPr>
        <p:spPr>
          <a:xfrm>
            <a:off x="4447308" y="591344"/>
            <a:ext cx="6906491" cy="5585619"/>
          </a:xfrm>
        </p:spPr>
        <p:txBody>
          <a:bodyPr vert="horz" lIns="91440" tIns="45720" rIns="91440" bIns="45720" rtlCol="0" anchor="ctr">
            <a:normAutofit/>
          </a:bodyPr>
          <a:lstStyle/>
          <a:p>
            <a:pPr>
              <a:spcBef>
                <a:spcPts val="0"/>
              </a:spcBef>
              <a:tabLst>
                <a:tab pos="342900" algn="l"/>
                <a:tab pos="685800" algn="l"/>
                <a:tab pos="1028700" algn="l"/>
              </a:tabLst>
            </a:pPr>
            <a:r>
              <a:rPr lang="en-US" sz="1800"/>
              <a:t>S</a:t>
            </a:r>
            <a:r>
              <a:rPr lang="en-US" sz="1800">
                <a:effectLst/>
              </a:rPr>
              <a:t>electing and admitting individuals who are likely to succeed at developing the skills, knowledge, and characteristics needed to become effective counselors.</a:t>
            </a:r>
          </a:p>
          <a:p>
            <a:pPr marL="0">
              <a:spcBef>
                <a:spcPts val="0"/>
              </a:spcBef>
              <a:tabLst>
                <a:tab pos="342900" algn="l"/>
                <a:tab pos="685800" algn="l"/>
                <a:tab pos="1028700" algn="l"/>
              </a:tabLst>
            </a:pPr>
            <a:endParaRPr lang="en-US" sz="1800">
              <a:effectLst/>
            </a:endParaRPr>
          </a:p>
          <a:p>
            <a:pPr>
              <a:spcBef>
                <a:spcPts val="0"/>
              </a:spcBef>
              <a:tabLst>
                <a:tab pos="342900" algn="l"/>
                <a:tab pos="685800" algn="l"/>
                <a:tab pos="1028700" algn="l"/>
              </a:tabLst>
            </a:pPr>
            <a:r>
              <a:rPr lang="en-US" sz="1800">
                <a:effectLst/>
              </a:rPr>
              <a:t>Using personal interviews, written essays, or other subjective criteria in selecting candidates for admission.</a:t>
            </a:r>
          </a:p>
          <a:p>
            <a:pPr>
              <a:spcBef>
                <a:spcPts val="0"/>
              </a:spcBef>
              <a:tabLst>
                <a:tab pos="342900" algn="l"/>
                <a:tab pos="685800" algn="l"/>
                <a:tab pos="1028700" algn="l"/>
              </a:tabLst>
            </a:pPr>
            <a:endParaRPr lang="en-US" sz="1800">
              <a:effectLst/>
            </a:endParaRPr>
          </a:p>
          <a:p>
            <a:pPr>
              <a:spcBef>
                <a:spcPts val="0"/>
              </a:spcBef>
              <a:tabLst>
                <a:tab pos="342900" algn="l"/>
                <a:tab pos="685800" algn="l"/>
                <a:tab pos="1028700" algn="l"/>
              </a:tabLst>
            </a:pPr>
            <a:r>
              <a:rPr lang="en-US" sz="1800"/>
              <a:t>P</a:t>
            </a:r>
            <a:r>
              <a:rPr lang="en-US" sz="1800">
                <a:effectLst/>
              </a:rPr>
              <a:t>roviding curriculum, feedback, and guidance for master’s students that prepare students to be effective counselors.</a:t>
            </a:r>
          </a:p>
          <a:p>
            <a:pPr>
              <a:spcBef>
                <a:spcPts val="0"/>
              </a:spcBef>
              <a:tabLst>
                <a:tab pos="342900" algn="l"/>
                <a:tab pos="685800" algn="l"/>
                <a:tab pos="1028700" algn="l"/>
              </a:tabLst>
            </a:pPr>
            <a:endParaRPr lang="en-US" sz="1800">
              <a:effectLst/>
            </a:endParaRPr>
          </a:p>
          <a:p>
            <a:pPr>
              <a:spcBef>
                <a:spcPts val="0"/>
              </a:spcBef>
              <a:tabLst>
                <a:tab pos="342900" algn="l"/>
                <a:tab pos="685800" algn="l"/>
                <a:tab pos="1028700" algn="l"/>
              </a:tabLst>
            </a:pPr>
            <a:r>
              <a:rPr lang="en-US" sz="1800"/>
              <a:t>R</a:t>
            </a:r>
            <a:r>
              <a:rPr lang="en-US" sz="1800">
                <a:effectLst/>
              </a:rPr>
              <a:t>equiring successful supervised experience as a part of the graduate program.</a:t>
            </a:r>
            <a:endParaRPr lang="en-US" sz="1800"/>
          </a:p>
          <a:p>
            <a:pPr>
              <a:spcBef>
                <a:spcPts val="0"/>
              </a:spcBef>
              <a:tabLst>
                <a:tab pos="342900" algn="l"/>
                <a:tab pos="685800" algn="l"/>
                <a:tab pos="1028700" algn="l"/>
              </a:tabLst>
            </a:pPr>
            <a:endParaRPr lang="en-US" sz="1800">
              <a:effectLst/>
            </a:endParaRPr>
          </a:p>
          <a:p>
            <a:pPr>
              <a:spcBef>
                <a:spcPts val="0"/>
              </a:spcBef>
              <a:tabLst>
                <a:tab pos="342900" algn="l"/>
                <a:tab pos="685800" algn="l"/>
                <a:tab pos="1028700" algn="l"/>
              </a:tabLst>
            </a:pPr>
            <a:r>
              <a:rPr lang="en-US" sz="1800"/>
              <a:t>Pointing to necessary areas of growth and offering remediation for students who fail to meet requirements</a:t>
            </a:r>
          </a:p>
          <a:p>
            <a:r>
              <a:rPr lang="en-US" sz="1800"/>
              <a:t>Professors we are called to be gatekeepers for the profession.</a:t>
            </a:r>
          </a:p>
          <a:p>
            <a:pPr>
              <a:spcBef>
                <a:spcPts val="0"/>
              </a:spcBef>
              <a:tabLst>
                <a:tab pos="342900" algn="l"/>
                <a:tab pos="685800" algn="l"/>
                <a:tab pos="1028700" algn="l"/>
              </a:tabLst>
            </a:pPr>
            <a:endParaRPr lang="en-US" sz="1800">
              <a:effectLst/>
            </a:endParaRPr>
          </a:p>
        </p:txBody>
      </p:sp>
    </p:spTree>
    <p:extLst>
      <p:ext uri="{BB962C8B-B14F-4D97-AF65-F5344CB8AC3E}">
        <p14:creationId xmlns:p14="http://schemas.microsoft.com/office/powerpoint/2010/main" val="2712795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C699C2-E724-DC5D-FF41-66FA3E5E7F47}"/>
              </a:ext>
            </a:extLst>
          </p:cNvPr>
          <p:cNvSpPr>
            <a:spLocks noGrp="1"/>
          </p:cNvSpPr>
          <p:nvPr>
            <p:ph type="ctrTitle"/>
          </p:nvPr>
        </p:nvSpPr>
        <p:spPr>
          <a:xfrm>
            <a:off x="513008" y="749122"/>
            <a:ext cx="11165983" cy="2838451"/>
          </a:xfrm>
        </p:spPr>
        <p:txBody>
          <a:bodyPr/>
          <a:lstStyle/>
          <a:p>
            <a:r>
              <a:rPr lang="en-US"/>
              <a:t>How does the field encourage counselor competency? </a:t>
            </a:r>
          </a:p>
        </p:txBody>
      </p:sp>
    </p:spTree>
    <p:extLst>
      <p:ext uri="{BB962C8B-B14F-4D97-AF65-F5344CB8AC3E}">
        <p14:creationId xmlns:p14="http://schemas.microsoft.com/office/powerpoint/2010/main" val="1455852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7" name="Rectangle 1127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279" name="Rectangle 1127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1" name="Rectangle 1128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3" name="Rectangle 1128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5" name="Rectangle 1128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7" name="Freeform: Shape 1128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89" name="Rectangle 1128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5" name="Rectangle 2">
            <a:extLst>
              <a:ext uri="{FF2B5EF4-FFF2-40B4-BE49-F238E27FC236}">
                <a16:creationId xmlns:a16="http://schemas.microsoft.com/office/drawing/2014/main" id="{608AC8BF-D50D-6990-62D4-09F4E9768111}"/>
              </a:ext>
            </a:extLst>
          </p:cNvPr>
          <p:cNvSpPr>
            <a:spLocks noGrp="1" noChangeArrowheads="1"/>
          </p:cNvSpPr>
          <p:nvPr>
            <p:ph type="title"/>
          </p:nvPr>
        </p:nvSpPr>
        <p:spPr>
          <a:xfrm>
            <a:off x="466722" y="586855"/>
            <a:ext cx="3201366" cy="3387497"/>
          </a:xfrm>
        </p:spPr>
        <p:txBody>
          <a:bodyPr vert="horz" lIns="91440" tIns="45720" rIns="91440" bIns="45720" rtlCol="0" anchor="b">
            <a:normAutofit/>
          </a:bodyPr>
          <a:lstStyle/>
          <a:p>
            <a:pPr algn="r"/>
            <a:r>
              <a:rPr lang="en-US" altLang="en-US" sz="4000" kern="1200">
                <a:solidFill>
                  <a:srgbClr val="FFFFFF"/>
                </a:solidFill>
                <a:latin typeface="+mj-lt"/>
                <a:ea typeface="+mj-ea"/>
                <a:cs typeface="+mj-cs"/>
              </a:rPr>
              <a:t>Licensure </a:t>
            </a:r>
          </a:p>
        </p:txBody>
      </p:sp>
      <p:sp>
        <p:nvSpPr>
          <p:cNvPr id="11266" name="Rectangle 3">
            <a:extLst>
              <a:ext uri="{FF2B5EF4-FFF2-40B4-BE49-F238E27FC236}">
                <a16:creationId xmlns:a16="http://schemas.microsoft.com/office/drawing/2014/main" id="{6B633E13-F4EC-B0C2-DEA0-75D409888F58}"/>
              </a:ext>
            </a:extLst>
          </p:cNvPr>
          <p:cNvSpPr>
            <a:spLocks noGrp="1" noChangeArrowheads="1"/>
          </p:cNvSpPr>
          <p:nvPr>
            <p:ph type="body" idx="1"/>
          </p:nvPr>
        </p:nvSpPr>
        <p:spPr>
          <a:xfrm>
            <a:off x="4810259" y="649480"/>
            <a:ext cx="6555347" cy="5546047"/>
          </a:xfrm>
        </p:spPr>
        <p:txBody>
          <a:bodyPr anchor="ctr">
            <a:normAutofit/>
          </a:bodyPr>
          <a:lstStyle/>
          <a:p>
            <a:pPr marL="0" marR="0" lvl="0" indent="0">
              <a:spcBef>
                <a:spcPts val="0"/>
              </a:spcBef>
              <a:spcAft>
                <a:spcPts val="600"/>
              </a:spcAft>
              <a:buNone/>
              <a:tabLst>
                <a:tab pos="342900" algn="l"/>
                <a:tab pos="685800" algn="l"/>
                <a:tab pos="1028700" algn="l"/>
              </a:tabLst>
            </a:pPr>
            <a:r>
              <a:rPr lang="en-US" sz="1700">
                <a:latin typeface="Times New Roman" panose="02020603050405020304" pitchFamily="18" charset="0"/>
                <a:ea typeface="Times New Roman" panose="02020603050405020304" pitchFamily="18" charset="0"/>
              </a:rPr>
              <a:t>Professional licensure statues establish the minimum standards for practice as a licensed provider.  It is the most powerful type of credentialling established by state law. </a:t>
            </a:r>
          </a:p>
          <a:p>
            <a:pPr marL="0" marR="0" lvl="0" indent="0">
              <a:spcBef>
                <a:spcPts val="0"/>
              </a:spcBef>
              <a:spcAft>
                <a:spcPts val="600"/>
              </a:spcAft>
              <a:buNone/>
              <a:tabLst>
                <a:tab pos="342900" algn="l"/>
                <a:tab pos="685800" algn="l"/>
                <a:tab pos="1028700" algn="l"/>
              </a:tabLst>
            </a:pPr>
            <a:endParaRPr lang="en-US" sz="1700">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r>
              <a:rPr lang="en-US" sz="1700">
                <a:latin typeface="Times New Roman" panose="02020603050405020304" pitchFamily="18" charset="0"/>
                <a:ea typeface="Times New Roman" panose="02020603050405020304" pitchFamily="18" charset="0"/>
              </a:rPr>
              <a:t>Is typically required for practice, billing insurance, practice as a clinician</a:t>
            </a:r>
          </a:p>
          <a:p>
            <a:pPr marL="0" marR="0" lvl="0" indent="0">
              <a:spcBef>
                <a:spcPts val="0"/>
              </a:spcBef>
              <a:spcAft>
                <a:spcPts val="600"/>
              </a:spcAft>
              <a:buNone/>
              <a:tabLst>
                <a:tab pos="342900" algn="l"/>
                <a:tab pos="685800" algn="l"/>
                <a:tab pos="1028700" algn="l"/>
              </a:tabLst>
            </a:pPr>
            <a:br>
              <a:rPr lang="en-US" sz="1700">
                <a:latin typeface="Times New Roman" panose="02020603050405020304" pitchFamily="18" charset="0"/>
                <a:ea typeface="Times New Roman" panose="02020603050405020304" pitchFamily="18" charset="0"/>
              </a:rPr>
            </a:br>
            <a:r>
              <a:rPr lang="en-US" sz="1700">
                <a:effectLst/>
                <a:latin typeface="Times New Roman" panose="02020603050405020304" pitchFamily="18" charset="0"/>
                <a:ea typeface="Times New Roman" panose="02020603050405020304" pitchFamily="18" charset="0"/>
              </a:rPr>
              <a:t>Legislatures choose to license professions so that the public can determine which practitioners are competent, and to prevent harm by incompetent members of that profession.</a:t>
            </a:r>
          </a:p>
          <a:p>
            <a:pPr marL="0" marR="0" lvl="0" indent="0">
              <a:spcBef>
                <a:spcPts val="0"/>
              </a:spcBef>
              <a:spcAft>
                <a:spcPts val="600"/>
              </a:spcAft>
              <a:buNone/>
              <a:tabLst>
                <a:tab pos="342900" algn="l"/>
                <a:tab pos="685800" algn="l"/>
                <a:tab pos="1028700" algn="l"/>
              </a:tabLst>
            </a:pPr>
            <a:endParaRPr lang="en-US" sz="1700">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r>
              <a:rPr lang="en-US" sz="1700">
                <a:effectLst/>
                <a:latin typeface="Times New Roman" panose="02020603050405020304" pitchFamily="18" charset="0"/>
                <a:ea typeface="Times New Roman" panose="02020603050405020304" pitchFamily="18" charset="0"/>
              </a:rPr>
              <a:t>All 50 states offer counseling licenses-reciprocity continues to be a salient issue since due to the variety in requirements from state to state but we are making progress: </a:t>
            </a:r>
            <a:r>
              <a:rPr lang="en-US" sz="1700">
                <a:effectLst/>
                <a:latin typeface="Times New Roman" panose="02020603050405020304" pitchFamily="18" charset="0"/>
                <a:ea typeface="Times New Roman" panose="02020603050405020304" pitchFamily="18" charset="0"/>
                <a:hlinkClick r:id="rId2"/>
              </a:rPr>
              <a:t>https://</a:t>
            </a:r>
            <a:r>
              <a:rPr lang="en-US" sz="1700" err="1">
                <a:effectLst/>
                <a:latin typeface="Times New Roman" panose="02020603050405020304" pitchFamily="18" charset="0"/>
                <a:ea typeface="Times New Roman" panose="02020603050405020304" pitchFamily="18" charset="0"/>
                <a:hlinkClick r:id="rId2"/>
              </a:rPr>
              <a:t>counselingcompact.org</a:t>
            </a:r>
            <a:r>
              <a:rPr lang="en-US" sz="1700">
                <a:effectLst/>
                <a:latin typeface="Times New Roman" panose="02020603050405020304" pitchFamily="18" charset="0"/>
                <a:ea typeface="Times New Roman" panose="02020603050405020304" pitchFamily="18" charset="0"/>
                <a:hlinkClick r:id="rId2"/>
              </a:rPr>
              <a:t>/map/</a:t>
            </a:r>
            <a:endParaRPr lang="en-US" sz="1700">
              <a:effectLst/>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endParaRPr lang="en-US" sz="1700">
              <a:effectLst/>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r>
              <a:rPr lang="en-US" sz="1700">
                <a:latin typeface="Times New Roman" panose="02020603050405020304" pitchFamily="18" charset="0"/>
                <a:ea typeface="Times New Roman" panose="02020603050405020304" pitchFamily="18" charset="0"/>
              </a:rPr>
              <a:t>Typically needed to bill insurance </a:t>
            </a:r>
            <a:endParaRPr lang="en-US" sz="1700">
              <a:effectLst/>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endParaRPr lang="en-US" sz="1700">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r>
              <a:rPr lang="en-US" sz="1700">
                <a:effectLst/>
                <a:latin typeface="Times New Roman" panose="02020603050405020304" pitchFamily="18" charset="0"/>
                <a:ea typeface="Times New Roman" panose="02020603050405020304" pitchFamily="18" charset="0"/>
              </a:rPr>
              <a:t>Certification (broader) also offers </a:t>
            </a:r>
            <a:r>
              <a:rPr lang="en-US" sz="1700">
                <a:latin typeface="Times New Roman" panose="02020603050405020304" pitchFamily="18" charset="0"/>
                <a:ea typeface="Times New Roman" panose="02020603050405020304" pitchFamily="18" charset="0"/>
              </a:rPr>
              <a:t>a way to support evidence of competency and are often a way to show areas of specially</a:t>
            </a:r>
            <a:r>
              <a:rPr lang="en-US" sz="1700">
                <a:effectLst/>
                <a:latin typeface="Times New Roman" panose="02020603050405020304" pitchFamily="18" charset="0"/>
                <a:ea typeface="Times New Roman" panose="02020603050405020304" pitchFamily="18" charset="0"/>
              </a:rPr>
              <a:t>.</a:t>
            </a:r>
          </a:p>
          <a:p>
            <a:pPr marL="0" marR="0" lvl="0" indent="0">
              <a:spcBef>
                <a:spcPts val="0"/>
              </a:spcBef>
              <a:spcAft>
                <a:spcPts val="600"/>
              </a:spcAft>
              <a:buNone/>
              <a:tabLst>
                <a:tab pos="342900" algn="l"/>
                <a:tab pos="685800" algn="l"/>
                <a:tab pos="1028700" algn="l"/>
              </a:tabLst>
            </a:pPr>
            <a:endParaRPr lang="en-US" sz="17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40072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7" name="Rectangle 1127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9" name="Freeform: Shape 1127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5" name="Rectangle 2">
            <a:extLst>
              <a:ext uri="{FF2B5EF4-FFF2-40B4-BE49-F238E27FC236}">
                <a16:creationId xmlns:a16="http://schemas.microsoft.com/office/drawing/2014/main" id="{608AC8BF-D50D-6990-62D4-09F4E9768111}"/>
              </a:ext>
            </a:extLst>
          </p:cNvPr>
          <p:cNvSpPr>
            <a:spLocks noGrp="1" noChangeArrowheads="1"/>
          </p:cNvSpPr>
          <p:nvPr>
            <p:ph type="title"/>
          </p:nvPr>
        </p:nvSpPr>
        <p:spPr>
          <a:xfrm>
            <a:off x="686834" y="1153572"/>
            <a:ext cx="3200400" cy="4461163"/>
          </a:xfrm>
        </p:spPr>
        <p:txBody>
          <a:bodyPr vert="horz" lIns="91440" tIns="45720" rIns="91440" bIns="45720" rtlCol="0">
            <a:normAutofit/>
          </a:bodyPr>
          <a:lstStyle/>
          <a:p>
            <a:r>
              <a:rPr lang="en-US" altLang="en-US" sz="2300" kern="1200">
                <a:solidFill>
                  <a:srgbClr val="FFFFFF"/>
                </a:solidFill>
                <a:latin typeface="+mj-lt"/>
                <a:ea typeface="+mj-ea"/>
                <a:cs typeface="+mj-cs"/>
              </a:rPr>
              <a:t>Washington Counseling Licenses</a:t>
            </a:r>
            <a:br>
              <a:rPr lang="en-US" altLang="en-US" sz="2300" kern="1200">
                <a:solidFill>
                  <a:srgbClr val="FFFFFF"/>
                </a:solidFill>
                <a:latin typeface="+mj-lt"/>
                <a:ea typeface="+mj-ea"/>
                <a:cs typeface="+mj-cs"/>
              </a:rPr>
            </a:br>
            <a:r>
              <a:rPr lang="en-US" altLang="en-US" sz="2300" kern="1200">
                <a:solidFill>
                  <a:srgbClr val="FFFFFF"/>
                </a:solidFill>
                <a:latin typeface="+mj-lt"/>
                <a:ea typeface="+mj-ea"/>
                <a:cs typeface="+mj-cs"/>
              </a:rPr>
              <a:t> </a:t>
            </a:r>
            <a:br>
              <a:rPr lang="en-US" altLang="en-US" sz="2300" kern="1200">
                <a:solidFill>
                  <a:srgbClr val="FFFFFF"/>
                </a:solidFill>
                <a:latin typeface="+mj-lt"/>
                <a:ea typeface="+mj-ea"/>
                <a:cs typeface="+mj-cs"/>
              </a:rPr>
            </a:br>
            <a:r>
              <a:rPr lang="en-US" altLang="en-US" sz="2300" kern="1200" cap="none">
                <a:solidFill>
                  <a:srgbClr val="FFFFFF"/>
                </a:solidFill>
                <a:latin typeface="+mj-lt"/>
                <a:ea typeface="+mj-ea"/>
                <a:cs typeface="+mj-cs"/>
              </a:rPr>
              <a:t>Https://doh.Wa.Gov/licenses-permits-and-certificates/professions-new-renew-or-update/mental-health-counselor/licensing-information</a:t>
            </a:r>
            <a:br>
              <a:rPr lang="en-US" altLang="en-US" sz="2300" kern="1200" cap="none">
                <a:solidFill>
                  <a:srgbClr val="FFFFFF"/>
                </a:solidFill>
                <a:latin typeface="+mj-lt"/>
                <a:ea typeface="+mj-ea"/>
                <a:cs typeface="+mj-cs"/>
              </a:rPr>
            </a:br>
            <a:r>
              <a:rPr lang="en-US" altLang="en-US" sz="2300" kern="1200" cap="none">
                <a:solidFill>
                  <a:srgbClr val="FFFFFF"/>
                </a:solidFill>
                <a:latin typeface="+mj-lt"/>
                <a:ea typeface="+mj-ea"/>
                <a:cs typeface="+mj-cs"/>
              </a:rPr>
              <a:t> </a:t>
            </a:r>
            <a:endParaRPr lang="en-US" altLang="en-US" sz="2300" kern="1200">
              <a:solidFill>
                <a:srgbClr val="FFFFFF"/>
              </a:solidFill>
              <a:latin typeface="+mj-lt"/>
              <a:ea typeface="+mj-ea"/>
              <a:cs typeface="+mj-cs"/>
            </a:endParaRPr>
          </a:p>
        </p:txBody>
      </p:sp>
      <p:sp>
        <p:nvSpPr>
          <p:cNvPr id="11281" name="Arc 1128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66" name="Rectangle 3">
            <a:extLst>
              <a:ext uri="{FF2B5EF4-FFF2-40B4-BE49-F238E27FC236}">
                <a16:creationId xmlns:a16="http://schemas.microsoft.com/office/drawing/2014/main" id="{6B633E13-F4EC-B0C2-DEA0-75D409888F58}"/>
              </a:ext>
            </a:extLst>
          </p:cNvPr>
          <p:cNvSpPr>
            <a:spLocks noGrp="1" noChangeArrowheads="1"/>
          </p:cNvSpPr>
          <p:nvPr>
            <p:ph type="body" idx="1"/>
          </p:nvPr>
        </p:nvSpPr>
        <p:spPr>
          <a:xfrm>
            <a:off x="4447308" y="591344"/>
            <a:ext cx="6906491" cy="5585619"/>
          </a:xfrm>
        </p:spPr>
        <p:txBody>
          <a:bodyPr anchor="ctr">
            <a:normAutofit/>
          </a:bodyPr>
          <a:lstStyle/>
          <a:p>
            <a:pPr marL="0" marR="0" lvl="0" indent="0">
              <a:spcBef>
                <a:spcPts val="0"/>
              </a:spcBef>
              <a:spcAft>
                <a:spcPts val="600"/>
              </a:spcAft>
              <a:buNone/>
              <a:tabLst>
                <a:tab pos="342900" algn="l"/>
                <a:tab pos="685800" algn="l"/>
                <a:tab pos="1028700" algn="l"/>
              </a:tabLst>
            </a:pPr>
            <a:endParaRPr lang="en-US" sz="2200">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r>
              <a:rPr lang="en-US" sz="2200">
                <a:latin typeface="Times New Roman" panose="02020603050405020304" pitchFamily="18" charset="0"/>
                <a:ea typeface="Times New Roman" panose="02020603050405020304" pitchFamily="18" charset="0"/>
              </a:rPr>
              <a:t>LMHC-A</a:t>
            </a:r>
          </a:p>
          <a:p>
            <a:pPr>
              <a:spcBef>
                <a:spcPts val="0"/>
              </a:spcBef>
              <a:spcAft>
                <a:spcPts val="600"/>
              </a:spcAft>
              <a:tabLst>
                <a:tab pos="342900" algn="l"/>
                <a:tab pos="685800" algn="l"/>
                <a:tab pos="1028700" algn="l"/>
              </a:tabLst>
            </a:pPr>
            <a:r>
              <a:rPr lang="en-US" sz="2200">
                <a:latin typeface="Times New Roman" panose="02020603050405020304" pitchFamily="18" charset="0"/>
                <a:ea typeface="Times New Roman" panose="02020603050405020304" pitchFamily="18" charset="0"/>
              </a:rPr>
              <a:t>education requirements (this degree)</a:t>
            </a:r>
          </a:p>
          <a:p>
            <a:pPr>
              <a:spcBef>
                <a:spcPts val="0"/>
              </a:spcBef>
              <a:spcAft>
                <a:spcPts val="600"/>
              </a:spcAft>
              <a:tabLst>
                <a:tab pos="342900" algn="l"/>
                <a:tab pos="685800" algn="l"/>
                <a:tab pos="1028700" algn="l"/>
              </a:tabLst>
            </a:pPr>
            <a:r>
              <a:rPr lang="en-US" sz="2200">
                <a:latin typeface="Times New Roman" panose="02020603050405020304" pitchFamily="18" charset="0"/>
                <a:ea typeface="Times New Roman" panose="02020603050405020304" pitchFamily="18" charset="0"/>
              </a:rPr>
              <a:t>application</a:t>
            </a:r>
          </a:p>
          <a:p>
            <a:pPr marL="0" indent="0">
              <a:spcBef>
                <a:spcPts val="0"/>
              </a:spcBef>
              <a:spcAft>
                <a:spcPts val="600"/>
              </a:spcAft>
              <a:buNone/>
              <a:tabLst>
                <a:tab pos="342900" algn="l"/>
                <a:tab pos="685800" algn="l"/>
                <a:tab pos="1028700" algn="l"/>
              </a:tabLst>
            </a:pPr>
            <a:endParaRPr lang="en-US" sz="2200">
              <a:effectLst/>
              <a:latin typeface="Times New Roman" panose="02020603050405020304" pitchFamily="18" charset="0"/>
              <a:ea typeface="Times New Roman" panose="02020603050405020304" pitchFamily="18" charset="0"/>
            </a:endParaRPr>
          </a:p>
          <a:p>
            <a:pPr marL="0" indent="0">
              <a:spcBef>
                <a:spcPts val="0"/>
              </a:spcBef>
              <a:spcAft>
                <a:spcPts val="600"/>
              </a:spcAft>
              <a:buNone/>
              <a:tabLst>
                <a:tab pos="342900" algn="l"/>
                <a:tab pos="685800" algn="l"/>
                <a:tab pos="1028700" algn="l"/>
              </a:tabLst>
            </a:pPr>
            <a:r>
              <a:rPr lang="en-US" sz="2200">
                <a:latin typeface="Times New Roman" panose="02020603050405020304" pitchFamily="18" charset="0"/>
                <a:ea typeface="Times New Roman" panose="02020603050405020304" pitchFamily="18" charset="0"/>
              </a:rPr>
              <a:t>LMHC</a:t>
            </a:r>
          </a:p>
          <a:p>
            <a:pPr>
              <a:spcBef>
                <a:spcPts val="0"/>
              </a:spcBef>
              <a:spcAft>
                <a:spcPts val="600"/>
              </a:spcAft>
              <a:tabLst>
                <a:tab pos="342900" algn="l"/>
                <a:tab pos="685800" algn="l"/>
                <a:tab pos="1028700" algn="l"/>
              </a:tabLst>
            </a:pPr>
            <a:r>
              <a:rPr lang="en-US" sz="2200">
                <a:latin typeface="Times New Roman" panose="02020603050405020304" pitchFamily="18" charset="0"/>
                <a:ea typeface="Times New Roman" panose="02020603050405020304" pitchFamily="18" charset="0"/>
              </a:rPr>
              <a:t>educational requirements</a:t>
            </a:r>
          </a:p>
          <a:p>
            <a:pPr>
              <a:spcBef>
                <a:spcPts val="0"/>
              </a:spcBef>
              <a:spcAft>
                <a:spcPts val="600"/>
              </a:spcAft>
              <a:tabLst>
                <a:tab pos="342900" algn="l"/>
                <a:tab pos="685800" algn="l"/>
                <a:tab pos="1028700" algn="l"/>
              </a:tabLst>
            </a:pPr>
            <a:r>
              <a:rPr lang="en-US" sz="2200">
                <a:latin typeface="Times New Roman" panose="02020603050405020304" pitchFamily="18" charset="0"/>
                <a:ea typeface="Times New Roman" panose="02020603050405020304" pitchFamily="18" charset="0"/>
              </a:rPr>
              <a:t>application</a:t>
            </a:r>
          </a:p>
          <a:p>
            <a:pPr>
              <a:spcBef>
                <a:spcPts val="0"/>
              </a:spcBef>
              <a:spcAft>
                <a:spcPts val="600"/>
              </a:spcAft>
              <a:tabLst>
                <a:tab pos="342900" algn="l"/>
                <a:tab pos="685800" algn="l"/>
                <a:tab pos="1028700" algn="l"/>
              </a:tabLst>
            </a:pPr>
            <a:r>
              <a:rPr lang="en-US" sz="2200">
                <a:latin typeface="Times New Roman" panose="02020603050405020304" pitchFamily="18" charset="0"/>
                <a:ea typeface="Times New Roman" panose="02020603050405020304" pitchFamily="18" charset="0"/>
              </a:rPr>
              <a:t>Passing score on </a:t>
            </a:r>
            <a:r>
              <a:rPr lang="en-US" sz="2200">
                <a:latin typeface="Times New Roman" panose="02020603050405020304" pitchFamily="18" charset="0"/>
                <a:ea typeface="Times New Roman" panose="02020603050405020304" pitchFamily="18" charset="0"/>
                <a:cs typeface="Times New Roman" panose="02020603050405020304" pitchFamily="18" charset="0"/>
              </a:rPr>
              <a:t>NCE or </a:t>
            </a:r>
            <a:r>
              <a:rPr lang="en-US" sz="2200" b="0" i="0" u="none" strike="noStrike">
                <a:effectLst/>
                <a:latin typeface="Times New Roman" panose="02020603050405020304" pitchFamily="18" charset="0"/>
                <a:cs typeface="Times New Roman" panose="02020603050405020304" pitchFamily="18" charset="0"/>
              </a:rPr>
              <a:t>NCMHCE</a:t>
            </a:r>
            <a:r>
              <a:rPr lang="en-US" sz="2200">
                <a:latin typeface="Times New Roman" panose="02020603050405020304" pitchFamily="18" charset="0"/>
                <a:ea typeface="Times New Roman" panose="02020603050405020304" pitchFamily="18" charset="0"/>
                <a:cs typeface="Times New Roman" panose="02020603050405020304" pitchFamily="18" charset="0"/>
              </a:rPr>
              <a:t> Exam</a:t>
            </a:r>
          </a:p>
          <a:p>
            <a:pPr>
              <a:spcBef>
                <a:spcPts val="0"/>
              </a:spcBef>
              <a:spcAft>
                <a:spcPts val="600"/>
              </a:spcAft>
              <a:tabLst>
                <a:tab pos="342900" algn="l"/>
                <a:tab pos="685800" algn="l"/>
                <a:tab pos="1028700" algn="l"/>
              </a:tabLst>
            </a:pPr>
            <a:r>
              <a:rPr lang="en-US" sz="2200">
                <a:latin typeface="Times New Roman" panose="02020603050405020304" pitchFamily="18" charset="0"/>
                <a:ea typeface="Times New Roman" panose="02020603050405020304" pitchFamily="18" charset="0"/>
              </a:rPr>
              <a:t>3000 hours (1200 direct,100 supervision hours) or 3 years in full time work as a counselor</a:t>
            </a:r>
          </a:p>
          <a:p>
            <a:pPr>
              <a:spcBef>
                <a:spcPts val="0"/>
              </a:spcBef>
              <a:spcAft>
                <a:spcPts val="600"/>
              </a:spcAft>
              <a:tabLst>
                <a:tab pos="342900" algn="l"/>
                <a:tab pos="685800" algn="l"/>
                <a:tab pos="1028700" algn="l"/>
              </a:tabLst>
            </a:pPr>
            <a:endParaRPr lang="en-US" sz="2200">
              <a:latin typeface="Times New Roman" panose="02020603050405020304" pitchFamily="18" charset="0"/>
              <a:ea typeface="Times New Roman" panose="02020603050405020304" pitchFamily="18" charset="0"/>
            </a:endParaRPr>
          </a:p>
          <a:p>
            <a:pPr>
              <a:spcBef>
                <a:spcPts val="0"/>
              </a:spcBef>
              <a:spcAft>
                <a:spcPts val="600"/>
              </a:spcAft>
              <a:tabLst>
                <a:tab pos="342900" algn="l"/>
                <a:tab pos="685800" algn="l"/>
                <a:tab pos="1028700" algn="l"/>
              </a:tabLst>
            </a:pPr>
            <a:endParaRPr lang="en-US" sz="2200">
              <a:effectLst/>
              <a:latin typeface="Times New Roman" panose="02020603050405020304" pitchFamily="18" charset="0"/>
              <a:ea typeface="Times New Roman" panose="02020603050405020304" pitchFamily="18" charset="0"/>
            </a:endParaRPr>
          </a:p>
          <a:p>
            <a:pPr marL="0" marR="0" lvl="0" indent="0">
              <a:spcBef>
                <a:spcPts val="0"/>
              </a:spcBef>
              <a:spcAft>
                <a:spcPts val="600"/>
              </a:spcAft>
              <a:buNone/>
              <a:tabLst>
                <a:tab pos="342900" algn="l"/>
                <a:tab pos="685800" algn="l"/>
                <a:tab pos="1028700" algn="l"/>
              </a:tabLst>
            </a:pPr>
            <a:r>
              <a:rPr lang="en-US" sz="2200">
                <a:effectLst/>
                <a:latin typeface="Times New Roman" panose="02020603050405020304" pitchFamily="18" charset="0"/>
                <a:ea typeface="Times New Roman" panose="02020603050405020304" pitchFamily="18" charset="0"/>
              </a:rPr>
              <a:t>.</a:t>
            </a:r>
          </a:p>
          <a:p>
            <a:pPr marL="0" marR="0" lvl="0" indent="0">
              <a:spcBef>
                <a:spcPts val="0"/>
              </a:spcBef>
              <a:spcAft>
                <a:spcPts val="600"/>
              </a:spcAft>
              <a:buNone/>
              <a:tabLst>
                <a:tab pos="342900" algn="l"/>
                <a:tab pos="685800" algn="l"/>
                <a:tab pos="1028700" algn="l"/>
              </a:tabLst>
            </a:pPr>
            <a:endParaRPr lang="en-US" sz="22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04796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E95E06-C443-BA6F-BD0D-A748B0FE96BE}"/>
            </a:ext>
          </a:extLst>
        </p:cNvPr>
        <p:cNvGrpSpPr/>
        <p:nvPr/>
      </p:nvGrpSpPr>
      <p:grpSpPr>
        <a:xfrm>
          <a:off x="0" y="0"/>
          <a:ext cx="0" cy="0"/>
          <a:chOff x="0" y="0"/>
          <a:chExt cx="0" cy="0"/>
        </a:xfrm>
      </p:grpSpPr>
      <p:sp useBgFill="1">
        <p:nvSpPr>
          <p:cNvPr id="11277" name="Rectangle 11276">
            <a:extLst>
              <a:ext uri="{FF2B5EF4-FFF2-40B4-BE49-F238E27FC236}">
                <a16:creationId xmlns:a16="http://schemas.microsoft.com/office/drawing/2014/main" id="{97B9FF40-DB51-B715-F55C-0AF9FFD1C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279" name="Rectangle 11278">
            <a:extLst>
              <a:ext uri="{FF2B5EF4-FFF2-40B4-BE49-F238E27FC236}">
                <a16:creationId xmlns:a16="http://schemas.microsoft.com/office/drawing/2014/main" id="{FF4EAFD9-D678-3988-395A-56EFA44F5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1" name="Rectangle 11280">
            <a:extLst>
              <a:ext uri="{FF2B5EF4-FFF2-40B4-BE49-F238E27FC236}">
                <a16:creationId xmlns:a16="http://schemas.microsoft.com/office/drawing/2014/main" id="{48C7BD50-09BB-9E95-0FD5-0B9C72FD5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3" name="Rectangle 11282">
            <a:extLst>
              <a:ext uri="{FF2B5EF4-FFF2-40B4-BE49-F238E27FC236}">
                <a16:creationId xmlns:a16="http://schemas.microsoft.com/office/drawing/2014/main" id="{C559415A-4320-94C8-CDD7-86BE7F71D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5" name="Rectangle 11284">
            <a:extLst>
              <a:ext uri="{FF2B5EF4-FFF2-40B4-BE49-F238E27FC236}">
                <a16:creationId xmlns:a16="http://schemas.microsoft.com/office/drawing/2014/main" id="{556DC50E-EF34-20B0-18F7-CCA3280C4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7" name="Freeform: Shape 11286">
            <a:extLst>
              <a:ext uri="{FF2B5EF4-FFF2-40B4-BE49-F238E27FC236}">
                <a16:creationId xmlns:a16="http://schemas.microsoft.com/office/drawing/2014/main" id="{B775AA20-F503-7B5C-65F8-986060311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89" name="Rectangle 11288">
            <a:extLst>
              <a:ext uri="{FF2B5EF4-FFF2-40B4-BE49-F238E27FC236}">
                <a16:creationId xmlns:a16="http://schemas.microsoft.com/office/drawing/2014/main" id="{A0C117E9-BCEA-5E83-C6B0-B73DC23F9A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5" name="Rectangle 2">
            <a:extLst>
              <a:ext uri="{FF2B5EF4-FFF2-40B4-BE49-F238E27FC236}">
                <a16:creationId xmlns:a16="http://schemas.microsoft.com/office/drawing/2014/main" id="{BF0F744E-F93E-EE16-02EE-2301E02F501D}"/>
              </a:ext>
            </a:extLst>
          </p:cNvPr>
          <p:cNvSpPr>
            <a:spLocks noGrp="1" noChangeArrowheads="1"/>
          </p:cNvSpPr>
          <p:nvPr>
            <p:ph type="title"/>
          </p:nvPr>
        </p:nvSpPr>
        <p:spPr>
          <a:xfrm>
            <a:off x="0" y="586855"/>
            <a:ext cx="3668088" cy="3387497"/>
          </a:xfrm>
        </p:spPr>
        <p:txBody>
          <a:bodyPr vert="horz" lIns="91440" tIns="45720" rIns="91440" bIns="45720" rtlCol="0" anchor="b">
            <a:normAutofit/>
          </a:bodyPr>
          <a:lstStyle/>
          <a:p>
            <a:pPr algn="r"/>
            <a:r>
              <a:rPr lang="en-US" altLang="en-US" sz="4000" kern="1200">
                <a:solidFill>
                  <a:srgbClr val="FFFFFF"/>
                </a:solidFill>
                <a:latin typeface="+mj-lt"/>
                <a:ea typeface="+mj-ea"/>
                <a:cs typeface="+mj-cs"/>
              </a:rPr>
              <a:t>certification</a:t>
            </a:r>
            <a:br>
              <a:rPr lang="en-US" altLang="en-US" sz="4000" kern="1200">
                <a:solidFill>
                  <a:srgbClr val="FFFFFF"/>
                </a:solidFill>
                <a:latin typeface="+mj-lt"/>
                <a:ea typeface="+mj-ea"/>
                <a:cs typeface="+mj-cs"/>
              </a:rPr>
            </a:br>
            <a:r>
              <a:rPr lang="en-US" altLang="en-US" sz="4000" kern="1200">
                <a:solidFill>
                  <a:srgbClr val="FFFFFF"/>
                </a:solidFill>
                <a:latin typeface="+mj-lt"/>
                <a:ea typeface="+mj-ea"/>
                <a:cs typeface="+mj-cs"/>
              </a:rPr>
              <a:t> </a:t>
            </a:r>
          </a:p>
        </p:txBody>
      </p:sp>
      <p:sp>
        <p:nvSpPr>
          <p:cNvPr id="11266" name="Rectangle 3">
            <a:extLst>
              <a:ext uri="{FF2B5EF4-FFF2-40B4-BE49-F238E27FC236}">
                <a16:creationId xmlns:a16="http://schemas.microsoft.com/office/drawing/2014/main" id="{DFD218E8-1EB2-BC7D-B479-E56D7789B9A5}"/>
              </a:ext>
            </a:extLst>
          </p:cNvPr>
          <p:cNvSpPr>
            <a:spLocks noGrp="1" noChangeArrowheads="1"/>
          </p:cNvSpPr>
          <p:nvPr>
            <p:ph type="body" idx="1"/>
          </p:nvPr>
        </p:nvSpPr>
        <p:spPr>
          <a:xfrm>
            <a:off x="4639295" y="511388"/>
            <a:ext cx="6903521" cy="5889412"/>
          </a:xfrm>
        </p:spPr>
        <p:txBody>
          <a:bodyPr anchor="ctr">
            <a:normAutofit lnSpcReduction="10000"/>
          </a:bodyPr>
          <a:lstStyle/>
          <a:p>
            <a:pPr marL="0" indent="0">
              <a:spcBef>
                <a:spcPts val="0"/>
              </a:spcBef>
              <a:spcAft>
                <a:spcPts val="600"/>
              </a:spcAft>
              <a:buNone/>
              <a:tabLst>
                <a:tab pos="342900" algn="l"/>
                <a:tab pos="685800" algn="l"/>
                <a:tab pos="1028700" algn="l"/>
              </a:tabLst>
            </a:pPr>
            <a:r>
              <a:rPr lang="en-US" sz="2000">
                <a:effectLst/>
                <a:ea typeface="Times New Roman" panose="02020603050405020304" pitchFamily="18" charset="0"/>
              </a:rPr>
              <a:t>Certification (broader) also offers </a:t>
            </a:r>
            <a:r>
              <a:rPr lang="en-US" sz="2000">
                <a:ea typeface="Times New Roman" panose="02020603050405020304" pitchFamily="18" charset="0"/>
              </a:rPr>
              <a:t>a way to support evidence of competency and are often a way to show areas of specially</a:t>
            </a:r>
            <a:r>
              <a:rPr lang="en-US" sz="2000">
                <a:effectLst/>
                <a:ea typeface="Times New Roman" panose="02020603050405020304" pitchFamily="18" charset="0"/>
              </a:rPr>
              <a:t>.</a:t>
            </a:r>
          </a:p>
          <a:p>
            <a:pPr marL="342900" indent="-342900">
              <a:spcBef>
                <a:spcPts val="600"/>
              </a:spcBef>
            </a:pPr>
            <a:r>
              <a:rPr lang="en-US" sz="2000"/>
              <a:t>Counselors can offer evidence that supports their competence by becoming certified</a:t>
            </a:r>
          </a:p>
          <a:p>
            <a:pPr marL="342900" indent="-342900">
              <a:spcBef>
                <a:spcPts val="600"/>
              </a:spcBef>
            </a:pPr>
            <a:r>
              <a:rPr lang="en-US" sz="2000"/>
              <a:t>Various types of counselor certifications exist</a:t>
            </a:r>
          </a:p>
          <a:p>
            <a:pPr marL="342900" indent="-342900">
              <a:spcBef>
                <a:spcPts val="600"/>
              </a:spcBef>
            </a:pPr>
            <a:r>
              <a:rPr lang="en-US" sz="2000"/>
              <a:t>Some types of certification are mandatory for practicing in certain settings and occur at the state level (e.g., public school counselors must be certified by the states in which they practice)</a:t>
            </a:r>
          </a:p>
          <a:p>
            <a:pPr marL="342900" indent="-342900">
              <a:spcBef>
                <a:spcPts val="600"/>
              </a:spcBef>
            </a:pPr>
            <a:r>
              <a:rPr lang="en-US" sz="2000"/>
              <a:t>There are also national, voluntary certifications, such as those offered by the National Board of Certified Counselors</a:t>
            </a:r>
          </a:p>
          <a:p>
            <a:pPr marL="342900" indent="-342900">
              <a:spcBef>
                <a:spcPts val="600"/>
              </a:spcBef>
            </a:pPr>
            <a:r>
              <a:rPr lang="en-US" sz="2000"/>
              <a:t>Specialty certifications are another means of establishing a counselor’s competence to work with certain types of clients, in certain settings, or in specialized areas of counseling. </a:t>
            </a:r>
          </a:p>
          <a:p>
            <a:pPr marL="342900" indent="-342900">
              <a:spcBef>
                <a:spcPts val="600"/>
              </a:spcBef>
            </a:pPr>
            <a:r>
              <a:rPr lang="en-US" sz="2000"/>
              <a:t>Specialty certifications are offered by various groups in such areas as hypnotherapy, biofeedback, and sex therapy</a:t>
            </a:r>
          </a:p>
        </p:txBody>
      </p:sp>
      <p:sp>
        <p:nvSpPr>
          <p:cNvPr id="2" name="TextBox 1">
            <a:extLst>
              <a:ext uri="{FF2B5EF4-FFF2-40B4-BE49-F238E27FC236}">
                <a16:creationId xmlns:a16="http://schemas.microsoft.com/office/drawing/2014/main" id="{15C4CC4D-080A-0D64-351B-69C67EAADC80}"/>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246866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9554" y="1327789"/>
            <a:ext cx="7976646" cy="1698345"/>
          </a:xfrm>
        </p:spPr>
        <p:txBody>
          <a:bodyPr vert="horz" wrap="square" lIns="0" tIns="18000" rIns="0" bIns="18000" rtlCol="0" anchor="ctr" anchorCtr="0">
            <a:spAutoFit/>
          </a:bodyPr>
          <a:lstStyle/>
          <a:p>
            <a:r>
              <a:rPr lang="en-US"/>
              <a:t>Once counselors begin to practice, they are responsible for determining their own competence.</a:t>
            </a:r>
          </a:p>
        </p:txBody>
      </p:sp>
      <p:sp>
        <p:nvSpPr>
          <p:cNvPr id="3" name="TextBox 2">
            <a:extLst>
              <a:ext uri="{FF2B5EF4-FFF2-40B4-BE49-F238E27FC236}">
                <a16:creationId xmlns:a16="http://schemas.microsoft.com/office/drawing/2014/main" id="{E7D43A60-FD93-F959-7B61-2F2A3F352311}"/>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459835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Maintaining Competence </a:t>
            </a:r>
            <a:r>
              <a:rPr lang="en-US" sz="2800"/>
              <a:t>(1 of 4)</a:t>
            </a:r>
          </a:p>
        </p:txBody>
      </p:sp>
      <p:sp>
        <p:nvSpPr>
          <p:cNvPr id="3" name="Content Placeholder 2"/>
          <p:cNvSpPr>
            <a:spLocks noGrp="1"/>
          </p:cNvSpPr>
          <p:nvPr>
            <p:ph sz="quarter" idx="13"/>
          </p:nvPr>
        </p:nvSpPr>
        <p:spPr>
          <a:xfrm>
            <a:off x="1963949" y="1217794"/>
            <a:ext cx="8272252" cy="2823781"/>
          </a:xfrm>
          <a:prstGeom prst="rect">
            <a:avLst/>
          </a:prstGeom>
        </p:spPr>
        <p:txBody>
          <a:bodyPr wrap="square" lIns="0" tIns="18000" rIns="0" bIns="18000" anchor="ctr" anchorCtr="0">
            <a:spAutoFit/>
          </a:bodyPr>
          <a:lstStyle/>
          <a:p>
            <a:pPr marL="342900" indent="-342900">
              <a:spcBef>
                <a:spcPts val="600"/>
              </a:spcBef>
            </a:pPr>
            <a:r>
              <a:rPr lang="en-US" sz="2400" b="1"/>
              <a:t>Continuing Education:</a:t>
            </a:r>
          </a:p>
          <a:p>
            <a:pPr marL="829818" lvl="1" indent="-342900"/>
            <a:r>
              <a:rPr lang="en-US"/>
              <a:t>The </a:t>
            </a:r>
            <a:r>
              <a:rPr lang="en-US" spc="-300"/>
              <a:t>A C </a:t>
            </a:r>
            <a:r>
              <a:rPr lang="en-US"/>
              <a:t>A </a:t>
            </a:r>
            <a:r>
              <a:rPr lang="en-US" i="1"/>
              <a:t>Code of Ethics</a:t>
            </a:r>
            <a:r>
              <a:rPr lang="en-US"/>
              <a:t> (2014) states that counselors recognize the need for continuing education to acquire and maintain awareness of current scientific and professional information.</a:t>
            </a:r>
          </a:p>
          <a:p>
            <a:pPr marL="829818" lvl="1" indent="-342900"/>
            <a:r>
              <a:rPr lang="en-US"/>
              <a:t>Most counselor licensure and certification boards have established continuing education requirements for maintaining one’s license. </a:t>
            </a:r>
          </a:p>
        </p:txBody>
      </p:sp>
      <p:sp>
        <p:nvSpPr>
          <p:cNvPr id="4" name="TextBox 3">
            <a:extLst>
              <a:ext uri="{FF2B5EF4-FFF2-40B4-BE49-F238E27FC236}">
                <a16:creationId xmlns:a16="http://schemas.microsoft.com/office/drawing/2014/main" id="{89EB8833-FF25-40D6-4968-4722109DF3AB}"/>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898012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Maintaining Competence </a:t>
            </a:r>
            <a:r>
              <a:rPr lang="en-US" sz="2800"/>
              <a:t>(2 of 4)</a:t>
            </a:r>
          </a:p>
        </p:txBody>
      </p:sp>
      <p:sp>
        <p:nvSpPr>
          <p:cNvPr id="3" name="Content Placeholder 2"/>
          <p:cNvSpPr>
            <a:spLocks noGrp="1"/>
          </p:cNvSpPr>
          <p:nvPr>
            <p:ph sz="quarter" idx="13"/>
          </p:nvPr>
        </p:nvSpPr>
        <p:spPr>
          <a:xfrm>
            <a:off x="1963949" y="1217794"/>
            <a:ext cx="8272252" cy="2823781"/>
          </a:xfrm>
          <a:prstGeom prst="rect">
            <a:avLst/>
          </a:prstGeom>
        </p:spPr>
        <p:txBody>
          <a:bodyPr wrap="square" lIns="0" tIns="18000" rIns="0" bIns="18000" anchor="ctr" anchorCtr="0">
            <a:spAutoFit/>
          </a:bodyPr>
          <a:lstStyle/>
          <a:p>
            <a:pPr marL="342900" indent="-342900">
              <a:spcBef>
                <a:spcPts val="600"/>
              </a:spcBef>
            </a:pPr>
            <a:r>
              <a:rPr lang="en-US" sz="2400" b="1"/>
              <a:t>Peer Review/Peer Consultation:</a:t>
            </a:r>
          </a:p>
          <a:p>
            <a:pPr marL="829818" lvl="1" indent="-342900"/>
            <a:r>
              <a:rPr lang="en-US"/>
              <a:t>Useful for counselors at all levels of experience and should continue as a lifelong learning process. </a:t>
            </a:r>
          </a:p>
          <a:p>
            <a:pPr marL="829818" lvl="1" indent="-342900"/>
            <a:r>
              <a:rPr lang="en-US"/>
              <a:t>Benefits include enhanced self-awareness, mutual support, objective feedback in dealing with countertransference issues, information on therapeutic techniques, and/or help in dealing with difficult cases, stress, and isolation.</a:t>
            </a:r>
          </a:p>
        </p:txBody>
      </p:sp>
      <p:sp>
        <p:nvSpPr>
          <p:cNvPr id="4" name="TextBox 3">
            <a:extLst>
              <a:ext uri="{FF2B5EF4-FFF2-40B4-BE49-F238E27FC236}">
                <a16:creationId xmlns:a16="http://schemas.microsoft.com/office/drawing/2014/main" id="{BDB1763C-7EB0-648D-EF36-C5F7324340D0}"/>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098555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Maintaining Competence </a:t>
            </a:r>
            <a:r>
              <a:rPr lang="en-US" sz="2800"/>
              <a:t>(3 of 4)</a:t>
            </a:r>
          </a:p>
        </p:txBody>
      </p:sp>
      <p:sp>
        <p:nvSpPr>
          <p:cNvPr id="3" name="Content Placeholder 2"/>
          <p:cNvSpPr>
            <a:spLocks noGrp="1"/>
          </p:cNvSpPr>
          <p:nvPr>
            <p:ph sz="quarter" idx="13"/>
          </p:nvPr>
        </p:nvSpPr>
        <p:spPr>
          <a:xfrm>
            <a:off x="1963949" y="1138277"/>
            <a:ext cx="8272252" cy="1430066"/>
          </a:xfrm>
          <a:prstGeom prst="rect">
            <a:avLst/>
          </a:prstGeom>
        </p:spPr>
        <p:txBody>
          <a:bodyPr wrap="square" lIns="0" tIns="18000" rIns="0" bIns="18000" anchor="ctr" anchorCtr="0">
            <a:spAutoFit/>
          </a:bodyPr>
          <a:lstStyle/>
          <a:p>
            <a:pPr marL="342900" indent="-342900">
              <a:spcBef>
                <a:spcPts val="600"/>
              </a:spcBef>
            </a:pPr>
            <a:r>
              <a:rPr lang="en-US" sz="2400" b="1"/>
              <a:t>Technology:</a:t>
            </a:r>
          </a:p>
          <a:p>
            <a:pPr marL="829818" lvl="1" indent="-342900"/>
            <a:r>
              <a:rPr lang="en-US"/>
              <a:t>The internet presents counselors with myriad opportunities for keeping current and improving their competence as practitioners. </a:t>
            </a:r>
          </a:p>
        </p:txBody>
      </p:sp>
      <p:sp>
        <p:nvSpPr>
          <p:cNvPr id="4" name="TextBox 3">
            <a:extLst>
              <a:ext uri="{FF2B5EF4-FFF2-40B4-BE49-F238E27FC236}">
                <a16:creationId xmlns:a16="http://schemas.microsoft.com/office/drawing/2014/main" id="{2838AE3D-958E-937E-BCFF-02A23D949FBE}"/>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379737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Maintaining Competence </a:t>
            </a:r>
            <a:r>
              <a:rPr lang="en-US" sz="2800"/>
              <a:t>(4 of 4)</a:t>
            </a:r>
          </a:p>
        </p:txBody>
      </p:sp>
      <p:sp>
        <p:nvSpPr>
          <p:cNvPr id="3" name="Content Placeholder 2"/>
          <p:cNvSpPr>
            <a:spLocks noGrp="1"/>
          </p:cNvSpPr>
          <p:nvPr>
            <p:ph sz="quarter" idx="13"/>
          </p:nvPr>
        </p:nvSpPr>
        <p:spPr>
          <a:xfrm>
            <a:off x="1963949" y="1273729"/>
            <a:ext cx="8272252" cy="3885097"/>
          </a:xfrm>
          <a:prstGeom prst="rect">
            <a:avLst/>
          </a:prstGeom>
        </p:spPr>
        <p:txBody>
          <a:bodyPr wrap="square" lIns="0" tIns="18000" rIns="0" bIns="18000" anchor="ctr" anchorCtr="0">
            <a:spAutoFit/>
          </a:bodyPr>
          <a:lstStyle/>
          <a:p>
            <a:pPr marL="342900" indent="-342900">
              <a:spcBef>
                <a:spcPts val="600"/>
              </a:spcBef>
            </a:pPr>
            <a:r>
              <a:rPr lang="en-US" sz="2400" b="1"/>
              <a:t>Making Referrals:</a:t>
            </a:r>
          </a:p>
          <a:p>
            <a:pPr marL="829818" lvl="1" indent="-342900"/>
            <a:r>
              <a:rPr lang="en-US"/>
              <a:t>The </a:t>
            </a:r>
            <a:r>
              <a:rPr lang="en-US" spc="-300"/>
              <a:t>A C </a:t>
            </a:r>
            <a:r>
              <a:rPr lang="en-US"/>
              <a:t>A </a:t>
            </a:r>
            <a:r>
              <a:rPr lang="en-US" i="1"/>
              <a:t>Code of Ethics</a:t>
            </a:r>
            <a:r>
              <a:rPr lang="en-US"/>
              <a:t> (2014) states that counselors avoid entering into a therapeutic relationship when they lack the competence to counsel a prospective client. </a:t>
            </a:r>
          </a:p>
          <a:p>
            <a:pPr marL="829818" lvl="1" indent="-342900"/>
            <a:r>
              <a:rPr lang="en-US"/>
              <a:t>Ethical counselors recognize that they will need to refer a client when accepting or continuing to work with that client would exceed their boundaries of competence. </a:t>
            </a:r>
          </a:p>
          <a:p>
            <a:pPr marL="829818" lvl="1" indent="-342900"/>
            <a:r>
              <a:rPr lang="en-US"/>
              <a:t>Referrals should be based on competence and rather than discrimination.</a:t>
            </a:r>
          </a:p>
        </p:txBody>
      </p:sp>
      <p:sp>
        <p:nvSpPr>
          <p:cNvPr id="4" name="TextBox 3">
            <a:extLst>
              <a:ext uri="{FF2B5EF4-FFF2-40B4-BE49-F238E27FC236}">
                <a16:creationId xmlns:a16="http://schemas.microsoft.com/office/drawing/2014/main" id="{5ECDEF9F-064A-1F0B-0F43-D0578A3FA0F1}"/>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3059528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Erosion of Competence </a:t>
            </a:r>
            <a:r>
              <a:rPr lang="en-US" sz="2800"/>
              <a:t>(1 of 3)</a:t>
            </a:r>
          </a:p>
        </p:txBody>
      </p:sp>
      <p:sp>
        <p:nvSpPr>
          <p:cNvPr id="3" name="Content Placeholder 2"/>
          <p:cNvSpPr>
            <a:spLocks noGrp="1"/>
          </p:cNvSpPr>
          <p:nvPr>
            <p:ph sz="quarter" idx="13"/>
          </p:nvPr>
        </p:nvSpPr>
        <p:spPr>
          <a:xfrm>
            <a:off x="1963949" y="1278616"/>
            <a:ext cx="8272252" cy="4013338"/>
          </a:xfrm>
          <a:prstGeom prst="rect">
            <a:avLst/>
          </a:prstGeom>
        </p:spPr>
        <p:txBody>
          <a:bodyPr wrap="square" lIns="0" tIns="18000" rIns="0" bIns="18000" anchor="ctr" anchorCtr="0">
            <a:spAutoFit/>
          </a:bodyPr>
          <a:lstStyle/>
          <a:p>
            <a:pPr marL="342900" indent="-342900">
              <a:spcBef>
                <a:spcPts val="600"/>
              </a:spcBef>
            </a:pPr>
            <a:r>
              <a:rPr lang="en-US" sz="2400" b="1"/>
              <a:t>Burnout and Impairment:</a:t>
            </a:r>
          </a:p>
          <a:p>
            <a:pPr marL="829818" lvl="1" indent="-342900"/>
            <a:r>
              <a:rPr lang="en-US"/>
              <a:t>The work of the counselor can be stressful and emotionally demanding</a:t>
            </a:r>
          </a:p>
          <a:p>
            <a:pPr marL="829818" lvl="1" indent="-342900"/>
            <a:r>
              <a:rPr lang="en-US"/>
              <a:t>Most counselors could probably be described as </a:t>
            </a:r>
            <a:r>
              <a:rPr lang="en-US" i="1"/>
              <a:t>distressed</a:t>
            </a:r>
            <a:r>
              <a:rPr lang="en-US"/>
              <a:t> at some time during their professional lives</a:t>
            </a:r>
          </a:p>
          <a:p>
            <a:pPr marL="829818" lvl="1" indent="-342900"/>
            <a:r>
              <a:rPr lang="en-US"/>
              <a:t>Unalleviated distress can lead to </a:t>
            </a:r>
            <a:r>
              <a:rPr lang="en-US" i="1"/>
              <a:t>burnout</a:t>
            </a:r>
          </a:p>
          <a:p>
            <a:pPr marL="829818" lvl="1" indent="-342900"/>
            <a:r>
              <a:rPr lang="en-US"/>
              <a:t>Burned-out counselors have little energy left for their clients</a:t>
            </a:r>
          </a:p>
          <a:p>
            <a:pPr marL="829818" lvl="1" indent="-342900"/>
            <a:r>
              <a:rPr lang="en-US"/>
              <a:t>Common indicators of burnout include decline in self-care, strain in personal relationships, and damage to overall emotional health</a:t>
            </a:r>
          </a:p>
        </p:txBody>
      </p:sp>
      <p:sp>
        <p:nvSpPr>
          <p:cNvPr id="4" name="TextBox 3">
            <a:extLst>
              <a:ext uri="{FF2B5EF4-FFF2-40B4-BE49-F238E27FC236}">
                <a16:creationId xmlns:a16="http://schemas.microsoft.com/office/drawing/2014/main" id="{A618421E-3B8F-491C-3F79-18D1632F5DE9}"/>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177006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Erosion of Competence </a:t>
            </a:r>
            <a:r>
              <a:rPr lang="en-US" sz="2800"/>
              <a:t>(2 of 3)</a:t>
            </a:r>
          </a:p>
        </p:txBody>
      </p:sp>
      <p:sp>
        <p:nvSpPr>
          <p:cNvPr id="3" name="Content Placeholder 2"/>
          <p:cNvSpPr>
            <a:spLocks noGrp="1"/>
          </p:cNvSpPr>
          <p:nvPr>
            <p:ph sz="quarter" idx="13"/>
          </p:nvPr>
        </p:nvSpPr>
        <p:spPr>
          <a:xfrm>
            <a:off x="1963949" y="1250833"/>
            <a:ext cx="8272252" cy="3706587"/>
          </a:xfrm>
          <a:prstGeom prst="rect">
            <a:avLst/>
          </a:prstGeom>
        </p:spPr>
        <p:txBody>
          <a:bodyPr wrap="square" lIns="0" tIns="18000" rIns="0" bIns="18000" anchor="ctr" anchorCtr="0">
            <a:spAutoFit/>
          </a:bodyPr>
          <a:lstStyle/>
          <a:p>
            <a:pPr marL="342900" indent="-342900">
              <a:spcBef>
                <a:spcPts val="600"/>
              </a:spcBef>
            </a:pPr>
            <a:r>
              <a:rPr lang="en-US" sz="2400"/>
              <a:t>Impaired counselors are unable to perform their responsibilities appropriately, thus, putting their clients at risk.</a:t>
            </a:r>
          </a:p>
          <a:p>
            <a:pPr marL="342900" indent="-342900">
              <a:spcBef>
                <a:spcPts val="600"/>
              </a:spcBef>
            </a:pPr>
            <a:r>
              <a:rPr lang="en-US" sz="2400"/>
              <a:t>Impairment is often associated with alcohol and other drug abuse and with the blurring of therapeutic boundaries that can lead to sexual exploitation of clients. </a:t>
            </a:r>
          </a:p>
          <a:p>
            <a:pPr marL="342900" indent="-342900">
              <a:spcBef>
                <a:spcPts val="600"/>
              </a:spcBef>
            </a:pPr>
            <a:r>
              <a:rPr lang="en-US" sz="2400"/>
              <a:t>Risk factors for impairment include:</a:t>
            </a:r>
          </a:p>
          <a:p>
            <a:pPr marL="829818" lvl="1" indent="-342900"/>
            <a:r>
              <a:rPr lang="en-US"/>
              <a:t>environmental factors </a:t>
            </a:r>
          </a:p>
          <a:p>
            <a:pPr marL="829818" lvl="1" indent="-342900"/>
            <a:r>
              <a:rPr lang="en-US"/>
              <a:t>vicarious traumatization </a:t>
            </a:r>
          </a:p>
          <a:p>
            <a:pPr marL="829818" lvl="1" indent="-342900"/>
            <a:r>
              <a:rPr lang="en-US"/>
              <a:t>preexisting conditions </a:t>
            </a:r>
          </a:p>
        </p:txBody>
      </p:sp>
      <p:sp>
        <p:nvSpPr>
          <p:cNvPr id="4" name="TextBox 3">
            <a:extLst>
              <a:ext uri="{FF2B5EF4-FFF2-40B4-BE49-F238E27FC236}">
                <a16:creationId xmlns:a16="http://schemas.microsoft.com/office/drawing/2014/main" id="{52387F67-EAC0-7587-0E96-D86F62294BB7}"/>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490320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Erosion of Competence </a:t>
            </a:r>
            <a:r>
              <a:rPr lang="en-US" sz="2800"/>
              <a:t>(3 of 3)</a:t>
            </a:r>
          </a:p>
        </p:txBody>
      </p:sp>
      <p:sp>
        <p:nvSpPr>
          <p:cNvPr id="3" name="Content Placeholder 2"/>
          <p:cNvSpPr>
            <a:spLocks noGrp="1"/>
          </p:cNvSpPr>
          <p:nvPr>
            <p:ph sz="quarter" idx="13"/>
          </p:nvPr>
        </p:nvSpPr>
        <p:spPr>
          <a:xfrm>
            <a:off x="1963949" y="1278608"/>
            <a:ext cx="8272252" cy="4013338"/>
          </a:xfrm>
          <a:prstGeom prst="rect">
            <a:avLst/>
          </a:prstGeom>
        </p:spPr>
        <p:txBody>
          <a:bodyPr wrap="square" lIns="0" tIns="18000" rIns="0" bIns="18000" anchor="ctr" anchorCtr="0">
            <a:spAutoFit/>
          </a:bodyPr>
          <a:lstStyle/>
          <a:p>
            <a:pPr marL="342900" indent="-342900">
              <a:spcBef>
                <a:spcPts val="600"/>
              </a:spcBef>
            </a:pPr>
            <a:r>
              <a:rPr lang="en-US" sz="2400"/>
              <a:t>Corey et al. (2024) have suggested that counselors ask themselves some of the following questions if they think they might be experiencing burnout:</a:t>
            </a:r>
          </a:p>
          <a:p>
            <a:pPr marL="829818" lvl="1" indent="-342900"/>
            <a:r>
              <a:rPr lang="en-US"/>
              <a:t>Do you ask supervisors or peers for help when you need it?</a:t>
            </a:r>
          </a:p>
          <a:p>
            <a:pPr marL="829818" lvl="1" indent="-342900"/>
            <a:r>
              <a:rPr lang="en-US"/>
              <a:t>Are you willing to seek personal counseling if you think you need it?</a:t>
            </a:r>
          </a:p>
          <a:p>
            <a:pPr marL="829818" lvl="1" indent="-342900"/>
            <a:r>
              <a:rPr lang="en-US"/>
              <a:t>Do you engage regularly in self-care practices?</a:t>
            </a:r>
          </a:p>
          <a:p>
            <a:pPr marL="829818" lvl="1" indent="-342900"/>
            <a:r>
              <a:rPr lang="en-US"/>
              <a:t>Are you engaged in life outside of work?</a:t>
            </a:r>
          </a:p>
          <a:p>
            <a:pPr marL="829818" lvl="1" indent="-342900"/>
            <a:r>
              <a:rPr lang="en-US"/>
              <a:t>Are you staying connected to family members and friends?</a:t>
            </a:r>
          </a:p>
        </p:txBody>
      </p:sp>
      <p:sp>
        <p:nvSpPr>
          <p:cNvPr id="4" name="TextBox 3">
            <a:extLst>
              <a:ext uri="{FF2B5EF4-FFF2-40B4-BE49-F238E27FC236}">
                <a16:creationId xmlns:a16="http://schemas.microsoft.com/office/drawing/2014/main" id="{47E90E46-D103-D099-2104-E48B4C143F7B}"/>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645175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27533-93D0-1256-00FE-F6F7A8F32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2DF38-C9DE-7DCC-4CAA-925EC8183F23}"/>
              </a:ext>
            </a:extLst>
          </p:cNvPr>
          <p:cNvSpPr>
            <a:spLocks noGrp="1"/>
          </p:cNvSpPr>
          <p:nvPr>
            <p:ph type="title"/>
          </p:nvPr>
        </p:nvSpPr>
        <p:spPr>
          <a:xfrm>
            <a:off x="1940526" y="627447"/>
            <a:ext cx="8272253" cy="590349"/>
          </a:xfrm>
        </p:spPr>
        <p:txBody>
          <a:bodyPr vert="horz" wrap="square" lIns="0" tIns="18000" rIns="0" bIns="18000" rtlCol="0" anchor="ctr" anchorCtr="0">
            <a:spAutoFit/>
          </a:bodyPr>
          <a:lstStyle/>
          <a:p>
            <a:r>
              <a:rPr lang="en-US"/>
              <a:t>2014 ACA codes on impairment</a:t>
            </a:r>
            <a:endParaRPr lang="en-US" sz="2800"/>
          </a:p>
        </p:txBody>
      </p:sp>
      <p:sp>
        <p:nvSpPr>
          <p:cNvPr id="3" name="Content Placeholder 2">
            <a:extLst>
              <a:ext uri="{FF2B5EF4-FFF2-40B4-BE49-F238E27FC236}">
                <a16:creationId xmlns:a16="http://schemas.microsoft.com/office/drawing/2014/main" id="{A66BEB12-A01F-12F2-0A3C-F7287B7BD2AA}"/>
              </a:ext>
            </a:extLst>
          </p:cNvPr>
          <p:cNvSpPr>
            <a:spLocks noGrp="1"/>
          </p:cNvSpPr>
          <p:nvPr>
            <p:ph sz="quarter" idx="13"/>
          </p:nvPr>
        </p:nvSpPr>
        <p:spPr>
          <a:xfrm>
            <a:off x="570156" y="2056106"/>
            <a:ext cx="11424620" cy="3292628"/>
          </a:xfrm>
          <a:prstGeom prst="rect">
            <a:avLst/>
          </a:prstGeom>
        </p:spPr>
        <p:txBody>
          <a:bodyPr wrap="square" lIns="0" tIns="18000" rIns="0" bIns="18000" anchor="ctr" anchorCtr="0">
            <a:spAutoFit/>
          </a:bodyPr>
          <a:lstStyle/>
          <a:p>
            <a:pPr marL="342900" indent="-342900">
              <a:spcBef>
                <a:spcPts val="600"/>
              </a:spcBef>
            </a:pPr>
            <a:r>
              <a:rPr lang="en-US"/>
              <a:t>Read sections C.2.g and F.5.b and identify the following:</a:t>
            </a:r>
            <a:br>
              <a:rPr lang="en-US"/>
            </a:br>
            <a:r>
              <a:rPr lang="en-US"/>
              <a:t>What are counselors, students and supervises asked to monitor in themselves?</a:t>
            </a:r>
            <a:br>
              <a:rPr lang="en-US"/>
            </a:br>
            <a:r>
              <a:rPr lang="en-US"/>
              <a:t>What actions are they asked to take?</a:t>
            </a:r>
          </a:p>
          <a:p>
            <a:pPr marL="342900" indent="-342900">
              <a:spcBef>
                <a:spcPts val="600"/>
              </a:spcBef>
            </a:pPr>
            <a:r>
              <a:rPr lang="en-US"/>
              <a:t>What signs of mild, moderate and severe impairment would you need to look for in yourself? What steps would you take at each level?</a:t>
            </a:r>
          </a:p>
          <a:p>
            <a:pPr marL="342900" indent="-342900">
              <a:spcBef>
                <a:spcPts val="600"/>
              </a:spcBef>
            </a:pPr>
            <a:r>
              <a:rPr lang="en-US"/>
              <a:t>What would you do if you noticed a supervisor or colleague showing signs of impairment? </a:t>
            </a:r>
          </a:p>
        </p:txBody>
      </p:sp>
    </p:spTree>
    <p:extLst>
      <p:ext uri="{BB962C8B-B14F-4D97-AF65-F5344CB8AC3E}">
        <p14:creationId xmlns:p14="http://schemas.microsoft.com/office/powerpoint/2010/main" val="2021169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9554" y="773791"/>
            <a:ext cx="7976646" cy="2806341"/>
          </a:xfrm>
        </p:spPr>
        <p:txBody>
          <a:bodyPr vert="horz" wrap="square" lIns="0" tIns="18000" rIns="0" bIns="18000" rtlCol="0" anchor="ctr" anchorCtr="0">
            <a:spAutoFit/>
          </a:bodyPr>
          <a:lstStyle/>
          <a:p>
            <a:r>
              <a:rPr lang="en-US"/>
              <a:t>If counselors determine they are impaired, they must limit, suspend, or terminate their professional responsibilities and seek assistance to address their problems.</a:t>
            </a:r>
          </a:p>
        </p:txBody>
      </p:sp>
      <p:sp>
        <p:nvSpPr>
          <p:cNvPr id="3" name="TextBox 2">
            <a:extLst>
              <a:ext uri="{FF2B5EF4-FFF2-40B4-BE49-F238E27FC236}">
                <a16:creationId xmlns:a16="http://schemas.microsoft.com/office/drawing/2014/main" id="{D7B847C6-0151-D582-3AED-64320B2FA0D1}"/>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653086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1A6E8-F249-8E24-F3AC-12FF7381D548}"/>
              </a:ext>
            </a:extLst>
          </p:cNvPr>
          <p:cNvSpPr>
            <a:spLocks noGrp="1"/>
          </p:cNvSpPr>
          <p:nvPr>
            <p:ph type="title"/>
          </p:nvPr>
        </p:nvSpPr>
        <p:spPr/>
        <p:txBody>
          <a:bodyPr/>
          <a:lstStyle/>
          <a:p>
            <a:r>
              <a:rPr lang="en-US" b="1"/>
              <a:t>Christian character virtues, Watson, 2018</a:t>
            </a:r>
          </a:p>
        </p:txBody>
      </p:sp>
      <p:graphicFrame>
        <p:nvGraphicFramePr>
          <p:cNvPr id="4" name="Content Placeholder 3">
            <a:extLst>
              <a:ext uri="{FF2B5EF4-FFF2-40B4-BE49-F238E27FC236}">
                <a16:creationId xmlns:a16="http://schemas.microsoft.com/office/drawing/2014/main" id="{0FB27C40-7473-2736-F1A6-578DA503E5A0}"/>
              </a:ext>
            </a:extLst>
          </p:cNvPr>
          <p:cNvGraphicFramePr>
            <a:graphicFrameLocks noGrp="1"/>
          </p:cNvGraphicFramePr>
          <p:nvPr>
            <p:ph idx="1"/>
          </p:nvPr>
        </p:nvGraphicFramePr>
        <p:xfrm>
          <a:off x="1371600" y="2629535"/>
          <a:ext cx="10240964" cy="3080858"/>
        </p:xfrm>
        <a:graphic>
          <a:graphicData uri="http://schemas.openxmlformats.org/drawingml/2006/table">
            <a:tbl>
              <a:tblPr/>
              <a:tblGrid>
                <a:gridCol w="2560241">
                  <a:extLst>
                    <a:ext uri="{9D8B030D-6E8A-4147-A177-3AD203B41FA5}">
                      <a16:colId xmlns:a16="http://schemas.microsoft.com/office/drawing/2014/main" val="2277463197"/>
                    </a:ext>
                  </a:extLst>
                </a:gridCol>
                <a:gridCol w="2560241">
                  <a:extLst>
                    <a:ext uri="{9D8B030D-6E8A-4147-A177-3AD203B41FA5}">
                      <a16:colId xmlns:a16="http://schemas.microsoft.com/office/drawing/2014/main" val="4292360495"/>
                    </a:ext>
                  </a:extLst>
                </a:gridCol>
                <a:gridCol w="2560241">
                  <a:extLst>
                    <a:ext uri="{9D8B030D-6E8A-4147-A177-3AD203B41FA5}">
                      <a16:colId xmlns:a16="http://schemas.microsoft.com/office/drawing/2014/main" val="1278580178"/>
                    </a:ext>
                  </a:extLst>
                </a:gridCol>
                <a:gridCol w="2560241">
                  <a:extLst>
                    <a:ext uri="{9D8B030D-6E8A-4147-A177-3AD203B41FA5}">
                      <a16:colId xmlns:a16="http://schemas.microsoft.com/office/drawing/2014/main" val="44249445"/>
                    </a:ext>
                  </a:extLst>
                </a:gridCol>
              </a:tblGrid>
              <a:tr h="365760">
                <a:tc>
                  <a:txBody>
                    <a:bodyPr/>
                    <a:lstStyle/>
                    <a:p>
                      <a:r>
                        <a:rPr lang="en-US" sz="1800" b="1">
                          <a:solidFill>
                            <a:srgbClr val="DBDDDB"/>
                          </a:solidFill>
                          <a:effectLst/>
                          <a:latin typeface="LucidaSans"/>
                        </a:rPr>
                        <a:t>Character virtue </a:t>
                      </a:r>
                      <a:endParaRPr lang="en-US" sz="1800">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r>
                        <a:rPr lang="en-US" sz="1800" b="1">
                          <a:solidFill>
                            <a:srgbClr val="DBDDDB"/>
                          </a:solidFill>
                          <a:effectLst/>
                          <a:latin typeface="LucidaSans"/>
                        </a:rPr>
                        <a:t>Professional Ethic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r>
                        <a:rPr lang="en-US" sz="1800" b="1">
                          <a:solidFill>
                            <a:srgbClr val="DBDDDB"/>
                          </a:solidFill>
                          <a:effectLst/>
                          <a:latin typeface="LucidaSans"/>
                        </a:rPr>
                        <a:t>Supervision models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r>
                        <a:rPr lang="en-US" sz="1800" b="1">
                          <a:solidFill>
                            <a:srgbClr val="DBDDDB"/>
                          </a:solidFill>
                          <a:effectLst/>
                          <a:latin typeface="LucidaSans"/>
                        </a:rPr>
                        <a:t>Spiritual disciplines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59107175"/>
                  </a:ext>
                </a:extLst>
              </a:tr>
              <a:tr h="365760">
                <a:tc>
                  <a:txBody>
                    <a:bodyPr/>
                    <a:lstStyle/>
                    <a:p>
                      <a:r>
                        <a:rPr lang="en-US" sz="1800">
                          <a:solidFill>
                            <a:srgbClr val="0C263D"/>
                          </a:solidFill>
                          <a:effectLst/>
                          <a:latin typeface="LucidaSans"/>
                        </a:rPr>
                        <a:t>Faith </a:t>
                      </a:r>
                      <a:endParaRPr lang="en-US" sz="1800">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Fidelity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Alliance &amp; attachment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Cont. Prayer &amp; Church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48614125"/>
                  </a:ext>
                </a:extLst>
              </a:tr>
              <a:tr h="365760">
                <a:tc>
                  <a:txBody>
                    <a:bodyPr/>
                    <a:lstStyle/>
                    <a:p>
                      <a:r>
                        <a:rPr lang="en-US" sz="1800">
                          <a:solidFill>
                            <a:srgbClr val="0C263D"/>
                          </a:solidFill>
                          <a:effectLst/>
                          <a:latin typeface="LucidaSans"/>
                        </a:rPr>
                        <a:t>Hope </a:t>
                      </a:r>
                      <a:endParaRPr lang="en-US" sz="1800">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Beneficence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Vocational mentoring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Sabbath &amp; Worship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96592243"/>
                  </a:ext>
                </a:extLst>
              </a:tr>
              <a:tr h="365760">
                <a:tc>
                  <a:txBody>
                    <a:bodyPr/>
                    <a:lstStyle/>
                    <a:p>
                      <a:r>
                        <a:rPr lang="en-US" sz="1800">
                          <a:solidFill>
                            <a:srgbClr val="0C263D"/>
                          </a:solidFill>
                          <a:effectLst/>
                          <a:latin typeface="LucidaSans"/>
                        </a:rPr>
                        <a:t>Love </a:t>
                      </a:r>
                      <a:endParaRPr lang="en-US" sz="1800">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Respect/autonomy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Relational Competence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Intercessory prayer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1533885"/>
                  </a:ext>
                </a:extLst>
              </a:tr>
              <a:tr h="490058">
                <a:tc>
                  <a:txBody>
                    <a:bodyPr/>
                    <a:lstStyle/>
                    <a:p>
                      <a:r>
                        <a:rPr lang="en-US" sz="1800">
                          <a:solidFill>
                            <a:srgbClr val="0C263D"/>
                          </a:solidFill>
                          <a:effectLst/>
                          <a:latin typeface="LucidaSans"/>
                        </a:rPr>
                        <a:t>Justice </a:t>
                      </a:r>
                      <a:endParaRPr lang="en-US" sz="1800">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Justice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Diversity Competence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Hospitality &amp; Service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19960402"/>
                  </a:ext>
                </a:extLst>
              </a:tr>
              <a:tr h="365760">
                <a:tc>
                  <a:txBody>
                    <a:bodyPr/>
                    <a:lstStyle/>
                    <a:p>
                      <a:r>
                        <a:rPr lang="en-US" sz="2000" b="0">
                          <a:solidFill>
                            <a:schemeClr val="tx1"/>
                          </a:solidFill>
                          <a:effectLst/>
                          <a:latin typeface="LucidaSans"/>
                        </a:rPr>
                        <a:t>Temperance </a:t>
                      </a:r>
                      <a:endParaRPr lang="en-US" sz="2000" b="0">
                        <a:solidFill>
                          <a:schemeClr val="tx1"/>
                        </a:solidFill>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2000" b="0">
                          <a:solidFill>
                            <a:schemeClr val="tx1"/>
                          </a:solidFill>
                          <a:effectLst/>
                          <a:latin typeface="LucidaSans"/>
                        </a:rPr>
                        <a:t>Nonmaleficence </a:t>
                      </a:r>
                      <a:endParaRPr lang="en-US" sz="2000" b="0">
                        <a:solidFill>
                          <a:schemeClr val="tx1"/>
                        </a:solidFill>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2000" b="0">
                          <a:solidFill>
                            <a:schemeClr val="tx1"/>
                          </a:solidFill>
                          <a:effectLst/>
                          <a:latin typeface="LucidaSans"/>
                        </a:rPr>
                        <a:t>Reflective practice </a:t>
                      </a:r>
                      <a:endParaRPr lang="en-US" sz="2000" b="0">
                        <a:solidFill>
                          <a:schemeClr val="tx1"/>
                        </a:solidFill>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2000" b="0">
                          <a:solidFill>
                            <a:schemeClr val="tx1"/>
                          </a:solidFill>
                          <a:effectLst/>
                          <a:latin typeface="LucidaSans"/>
                        </a:rPr>
                        <a:t>Examen &amp; Fasting </a:t>
                      </a:r>
                      <a:endParaRPr lang="en-US" sz="2000" b="0">
                        <a:solidFill>
                          <a:schemeClr val="tx1"/>
                        </a:solidFill>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25396962"/>
                  </a:ext>
                </a:extLst>
              </a:tr>
              <a:tr h="365760">
                <a:tc>
                  <a:txBody>
                    <a:bodyPr/>
                    <a:lstStyle/>
                    <a:p>
                      <a:r>
                        <a:rPr lang="en-US" sz="1800">
                          <a:solidFill>
                            <a:srgbClr val="0C263D"/>
                          </a:solidFill>
                          <a:effectLst/>
                          <a:latin typeface="LucidaSans"/>
                        </a:rPr>
                        <a:t>Courage </a:t>
                      </a:r>
                      <a:endParaRPr lang="en-US" sz="1800">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Integrity/veracity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Wellness &amp; Resilience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a:solidFill>
                            <a:srgbClr val="0C263D"/>
                          </a:solidFill>
                          <a:effectLst/>
                          <a:latin typeface="LucidaSans"/>
                        </a:rPr>
                        <a:t>Rule of life &amp; Example </a:t>
                      </a:r>
                      <a:endParaRPr lang="en-US" sz="1800">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59553656"/>
                  </a:ext>
                </a:extLst>
              </a:tr>
              <a:tr h="365760">
                <a:tc>
                  <a:txBody>
                    <a:bodyPr/>
                    <a:lstStyle/>
                    <a:p>
                      <a:r>
                        <a:rPr lang="en-US" sz="1800" b="1">
                          <a:solidFill>
                            <a:srgbClr val="0C263D"/>
                          </a:solidFill>
                          <a:effectLst/>
                          <a:latin typeface="LucidaSans"/>
                        </a:rPr>
                        <a:t>Practical wisdom </a:t>
                      </a:r>
                      <a:endParaRPr lang="en-US" sz="1800" b="1">
                        <a:effectLst/>
                      </a:endParaRPr>
                    </a:p>
                  </a:txBody>
                  <a:tcPr anchor="ctr">
                    <a:lnL w="12700" cap="flat" cmpd="sng" algn="ctr">
                      <a:solidFill>
                        <a:srgbClr val="000000"/>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b="1">
                          <a:solidFill>
                            <a:srgbClr val="0C263D"/>
                          </a:solidFill>
                          <a:effectLst/>
                          <a:latin typeface="LucidaSans"/>
                        </a:rPr>
                        <a:t>Competence </a:t>
                      </a:r>
                      <a:endParaRPr lang="en-US" sz="1800" b="1">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b="1">
                          <a:solidFill>
                            <a:srgbClr val="0C263D"/>
                          </a:solidFill>
                          <a:effectLst/>
                          <a:latin typeface="LucidaSans"/>
                        </a:rPr>
                        <a:t>Competency based </a:t>
                      </a:r>
                      <a:endParaRPr lang="en-US" sz="1800" b="1">
                        <a:effectLst/>
                      </a:endParaRPr>
                    </a:p>
                  </a:txBody>
                  <a:tcPr anchor="ctr">
                    <a:lnL w="12700" cap="flat" cmpd="sng" algn="ctr">
                      <a:solidFill>
                        <a:srgbClr val="DBDDDB"/>
                      </a:solidFill>
                      <a:prstDash val="solid"/>
                      <a:round/>
                      <a:headEnd type="none" w="med" len="med"/>
                      <a:tailEnd type="none" w="med" len="med"/>
                    </a:lnL>
                    <a:lnR w="12700" cap="flat" cmpd="sng" algn="ctr">
                      <a:solidFill>
                        <a:srgbClr val="DBDD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US" sz="1800" b="1">
                          <a:solidFill>
                            <a:srgbClr val="0C263D"/>
                          </a:solidFill>
                          <a:effectLst/>
                          <a:latin typeface="LucidaSans"/>
                        </a:rPr>
                        <a:t>Scripture &amp; discern. </a:t>
                      </a:r>
                      <a:endParaRPr lang="en-US" sz="1800" b="1">
                        <a:effectLst/>
                      </a:endParaRPr>
                    </a:p>
                  </a:txBody>
                  <a:tcPr anchor="ctr">
                    <a:lnL w="12700" cap="flat" cmpd="sng" algn="ctr">
                      <a:solidFill>
                        <a:srgbClr val="DBDDDB"/>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33721458"/>
                  </a:ext>
                </a:extLst>
              </a:tr>
            </a:tbl>
          </a:graphicData>
        </a:graphic>
      </p:graphicFrame>
    </p:spTree>
    <p:extLst>
      <p:ext uri="{BB962C8B-B14F-4D97-AF65-F5344CB8AC3E}">
        <p14:creationId xmlns:p14="http://schemas.microsoft.com/office/powerpoint/2010/main" val="928979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B2808D-3FCA-A205-3868-D1264CDB8ED7}"/>
              </a:ext>
            </a:extLst>
          </p:cNvPr>
          <p:cNvSpPr>
            <a:spLocks noGrp="1"/>
          </p:cNvSpPr>
          <p:nvPr>
            <p:ph type="title"/>
          </p:nvPr>
        </p:nvSpPr>
        <p:spPr>
          <a:xfrm>
            <a:off x="457199" y="914400"/>
            <a:ext cx="9760689" cy="1572768"/>
          </a:xfrm>
        </p:spPr>
        <p:txBody>
          <a:bodyPr/>
          <a:lstStyle/>
          <a:p>
            <a:r>
              <a:rPr lang="en-US" b="1"/>
              <a:t>TO CULTIVATE WISDOM (WATSON, 2018)</a:t>
            </a:r>
          </a:p>
        </p:txBody>
      </p:sp>
      <p:sp>
        <p:nvSpPr>
          <p:cNvPr id="5" name="Text Placeholder 4">
            <a:extLst>
              <a:ext uri="{FF2B5EF4-FFF2-40B4-BE49-F238E27FC236}">
                <a16:creationId xmlns:a16="http://schemas.microsoft.com/office/drawing/2014/main" id="{FBF2DB0E-9824-A73B-4245-2D9A2287D7DD}"/>
              </a:ext>
            </a:extLst>
          </p:cNvPr>
          <p:cNvSpPr>
            <a:spLocks noGrp="1"/>
          </p:cNvSpPr>
          <p:nvPr>
            <p:ph type="body" sz="quarter" idx="14"/>
          </p:nvPr>
        </p:nvSpPr>
        <p:spPr>
          <a:xfrm>
            <a:off x="457199" y="2366682"/>
            <a:ext cx="7546489" cy="3980330"/>
          </a:xfrm>
        </p:spPr>
        <p:txBody>
          <a:bodyPr/>
          <a:lstStyle/>
          <a:p>
            <a:pPr marL="0" indent="0">
              <a:buNone/>
            </a:pPr>
            <a:endParaRPr lang="en-US" sz="2000"/>
          </a:p>
          <a:p>
            <a:pPr marL="0" indent="0">
              <a:buNone/>
            </a:pPr>
            <a:r>
              <a:rPr lang="en-US" sz="2000"/>
              <a:t>Dallas Willard in his book on spiritual disciplines writes, “</a:t>
            </a:r>
            <a:r>
              <a:rPr lang="en-US" sz="2000" i="1"/>
              <a:t>Study</a:t>
            </a:r>
            <a:r>
              <a:rPr lang="en-US" sz="2000"/>
              <a:t> as a spiritual discipline is the focusing of the mind upon God’s works and words. In study our mind takes on the order in the object studied, and order invariably forms the mind itself and thereby the soul and the life arising out of it.” (1998) </a:t>
            </a:r>
          </a:p>
          <a:p>
            <a:pPr marL="0" indent="0">
              <a:buNone/>
            </a:pPr>
            <a:endParaRPr lang="en-US" sz="2000"/>
          </a:p>
          <a:p>
            <a:pPr marL="0" indent="0">
              <a:buNone/>
            </a:pPr>
            <a:r>
              <a:rPr lang="en-US" sz="2000"/>
              <a:t>“Regular study of God’s Word informs our inward and outward habits of thinking and action towards God’s kingdom” (p. 117).</a:t>
            </a:r>
          </a:p>
          <a:p>
            <a:pPr marL="0" indent="0">
              <a:buNone/>
            </a:pPr>
            <a:endParaRPr lang="en-US" sz="2000"/>
          </a:p>
        </p:txBody>
      </p:sp>
      <p:sp>
        <p:nvSpPr>
          <p:cNvPr id="6" name="Picture Placeholder 5">
            <a:extLst>
              <a:ext uri="{FF2B5EF4-FFF2-40B4-BE49-F238E27FC236}">
                <a16:creationId xmlns:a16="http://schemas.microsoft.com/office/drawing/2014/main" id="{06D47203-7BD2-4C91-6981-D4AF6345C212}"/>
              </a:ext>
            </a:extLst>
          </p:cNvPr>
          <p:cNvSpPr>
            <a:spLocks noGrp="1"/>
          </p:cNvSpPr>
          <p:nvPr>
            <p:ph type="pic" sz="quarter" idx="15"/>
          </p:nvPr>
        </p:nvSpPr>
        <p:spPr/>
        <p:txBody>
          <a:bodyPr/>
          <a:lstStyle/>
          <a:p>
            <a:r>
              <a:rPr lang="en-US" sz="2000"/>
              <a:t>What do you study to gain wisdom? Who do you respect? Where do you go to gain wisdom?</a:t>
            </a:r>
          </a:p>
          <a:p>
            <a:r>
              <a:rPr lang="en-US" sz="2000"/>
              <a:t>What habits do have to cultivate wisdom?</a:t>
            </a:r>
          </a:p>
        </p:txBody>
      </p:sp>
    </p:spTree>
    <p:extLst>
      <p:ext uri="{BB962C8B-B14F-4D97-AF65-F5344CB8AC3E}">
        <p14:creationId xmlns:p14="http://schemas.microsoft.com/office/powerpoint/2010/main" val="1035638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D5A5C-3D32-74E8-AE34-BDD4CEAB2EE2}"/>
              </a:ext>
            </a:extLst>
          </p:cNvPr>
          <p:cNvSpPr>
            <a:spLocks noGrp="1"/>
          </p:cNvSpPr>
          <p:nvPr>
            <p:ph type="title"/>
          </p:nvPr>
        </p:nvSpPr>
        <p:spPr/>
        <p:txBody>
          <a:bodyPr/>
          <a:lstStyle/>
          <a:p>
            <a:r>
              <a:rPr lang="en-US" b="1"/>
              <a:t>DISCERNMENT (WATSON, 2018) </a:t>
            </a:r>
          </a:p>
        </p:txBody>
      </p:sp>
      <p:sp>
        <p:nvSpPr>
          <p:cNvPr id="3" name="Text Placeholder 2">
            <a:extLst>
              <a:ext uri="{FF2B5EF4-FFF2-40B4-BE49-F238E27FC236}">
                <a16:creationId xmlns:a16="http://schemas.microsoft.com/office/drawing/2014/main" id="{870C2C2D-69FE-134F-E29A-8AB7734A8F48}"/>
              </a:ext>
            </a:extLst>
          </p:cNvPr>
          <p:cNvSpPr>
            <a:spLocks noGrp="1"/>
          </p:cNvSpPr>
          <p:nvPr>
            <p:ph type="body" sz="quarter" idx="14"/>
          </p:nvPr>
        </p:nvSpPr>
        <p:spPr/>
        <p:txBody>
          <a:bodyPr/>
          <a:lstStyle/>
          <a:p>
            <a:pPr marL="0" indent="0">
              <a:buNone/>
            </a:pPr>
            <a:r>
              <a:rPr lang="en-US"/>
              <a:t>Ignatius of Loyola, founder of the Jesuits from the 1500s, addressed discernment as a habit, a way of seeing that eventually permeates life... He defined the aim of discernment as ”</a:t>
            </a:r>
            <a:r>
              <a:rPr lang="en-US" i="1"/>
              <a:t>finding God in all things in order that we might love and serve God in all</a:t>
            </a:r>
            <a:r>
              <a:rPr lang="en-US"/>
              <a:t>” </a:t>
            </a:r>
          </a:p>
          <a:p>
            <a:pPr marL="0" indent="0">
              <a:buNone/>
            </a:pPr>
            <a:r>
              <a:rPr lang="en-US"/>
              <a:t> </a:t>
            </a:r>
          </a:p>
          <a:p>
            <a:pPr marL="0" indent="0">
              <a:buNone/>
            </a:pPr>
            <a:endParaRPr lang="en-US"/>
          </a:p>
        </p:txBody>
      </p:sp>
      <p:sp>
        <p:nvSpPr>
          <p:cNvPr id="4" name="Picture Placeholder 3">
            <a:extLst>
              <a:ext uri="{FF2B5EF4-FFF2-40B4-BE49-F238E27FC236}">
                <a16:creationId xmlns:a16="http://schemas.microsoft.com/office/drawing/2014/main" id="{9976E021-565A-C09E-3B6F-B33CAE361545}"/>
              </a:ext>
            </a:extLst>
          </p:cNvPr>
          <p:cNvSpPr>
            <a:spLocks noGrp="1"/>
          </p:cNvSpPr>
          <p:nvPr>
            <p:ph type="pic" sz="quarter" idx="15"/>
          </p:nvPr>
        </p:nvSpPr>
        <p:spPr/>
        <p:txBody>
          <a:bodyPr/>
          <a:lstStyle/>
          <a:p>
            <a:pPr marL="0" indent="0" algn="l">
              <a:buNone/>
            </a:pPr>
            <a:r>
              <a:rPr lang="en-US" sz="1800"/>
              <a:t>Ruth Haley Barton (2008) explains that prayerful discernment includes: </a:t>
            </a:r>
          </a:p>
          <a:p>
            <a:pPr marL="0" indent="0" algn="l">
              <a:buNone/>
            </a:pPr>
            <a:endParaRPr lang="en-US" sz="1800"/>
          </a:p>
          <a:p>
            <a:pPr marL="285750" indent="-285750" algn="l">
              <a:buFont typeface="Arial" panose="020B0604020202020204" pitchFamily="34" charset="0"/>
              <a:buChar char="•"/>
            </a:pPr>
            <a:r>
              <a:rPr lang="en-US" sz="1800"/>
              <a:t>Collecting and considering data </a:t>
            </a:r>
          </a:p>
          <a:p>
            <a:pPr marL="285750" indent="-285750" algn="l">
              <a:buFont typeface="Arial" panose="020B0604020202020204" pitchFamily="34" charset="0"/>
              <a:buChar char="•"/>
            </a:pPr>
            <a:r>
              <a:rPr lang="en-US" sz="1800"/>
              <a:t>Inner reflection and confirmation</a:t>
            </a:r>
          </a:p>
          <a:p>
            <a:pPr marL="285750" indent="-285750" algn="l">
              <a:buFont typeface="Arial" panose="020B0604020202020204" pitchFamily="34" charset="0"/>
              <a:buChar char="•"/>
            </a:pPr>
            <a:r>
              <a:rPr lang="en-US" sz="1800"/>
              <a:t>Action</a:t>
            </a:r>
          </a:p>
          <a:p>
            <a:pPr marL="285750" indent="-285750" algn="l">
              <a:buFont typeface="Arial" panose="020B0604020202020204" pitchFamily="34" charset="0"/>
              <a:buChar char="•"/>
            </a:pPr>
            <a:r>
              <a:rPr lang="en-US" sz="1800"/>
              <a:t>Submission to God’s will and guidance</a:t>
            </a:r>
          </a:p>
          <a:p>
            <a:pPr algn="l"/>
            <a:endParaRPr lang="en-US" sz="2000"/>
          </a:p>
          <a:p>
            <a:endParaRPr lang="en-US"/>
          </a:p>
        </p:txBody>
      </p:sp>
    </p:spTree>
    <p:extLst>
      <p:ext uri="{BB962C8B-B14F-4D97-AF65-F5344CB8AC3E}">
        <p14:creationId xmlns:p14="http://schemas.microsoft.com/office/powerpoint/2010/main" val="2496579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4D71E-5AC5-97CA-F0F7-FB548B097320}"/>
              </a:ext>
            </a:extLst>
          </p:cNvPr>
          <p:cNvSpPr>
            <a:spLocks noGrp="1"/>
          </p:cNvSpPr>
          <p:nvPr>
            <p:ph idx="1"/>
          </p:nvPr>
        </p:nvSpPr>
        <p:spPr>
          <a:xfrm>
            <a:off x="563526" y="591344"/>
            <a:ext cx="10790274" cy="5585619"/>
          </a:xfrm>
        </p:spPr>
        <p:txBody>
          <a:bodyPr vert="horz" lIns="91440" tIns="45720" rIns="91440" bIns="45720" rtlCol="0" anchor="ctr">
            <a:normAutofit/>
          </a:bodyPr>
          <a:lstStyle/>
          <a:p>
            <a:pPr marL="0" indent="0">
              <a:buNone/>
            </a:pPr>
            <a:r>
              <a:rPr lang="en-US" sz="3200"/>
              <a:t>Competence for Terri Watson is supported spiritually by seeking God’s wisdom through scripture reading and practicing discernment. </a:t>
            </a:r>
          </a:p>
          <a:p>
            <a:pPr marL="0" indent="0">
              <a:buNone/>
            </a:pPr>
            <a:endParaRPr lang="en-US" sz="3200"/>
          </a:p>
          <a:p>
            <a:pPr marL="0" indent="0">
              <a:buNone/>
            </a:pPr>
            <a:r>
              <a:rPr lang="en-US" sz="3200"/>
              <a:t>What </a:t>
            </a:r>
            <a:r>
              <a:rPr lang="en-US" sz="3200" b="1"/>
              <a:t>practices</a:t>
            </a:r>
            <a:r>
              <a:rPr lang="en-US" sz="3200"/>
              <a:t> will be important for you to take to help you to act competently in the face of inevitable challenges? What are the risks you might encounter that could test your ability to make competent decisions in counseling?   </a:t>
            </a:r>
          </a:p>
        </p:txBody>
      </p:sp>
    </p:spTree>
    <p:extLst>
      <p:ext uri="{BB962C8B-B14F-4D97-AF65-F5344CB8AC3E}">
        <p14:creationId xmlns:p14="http://schemas.microsoft.com/office/powerpoint/2010/main" val="21593329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2E874-2098-4C60-E6F1-4904DDA2EFE4}"/>
              </a:ext>
            </a:extLst>
          </p:cNvPr>
          <p:cNvSpPr>
            <a:spLocks noGrp="1"/>
          </p:cNvSpPr>
          <p:nvPr>
            <p:ph type="title"/>
          </p:nvPr>
        </p:nvSpPr>
        <p:spPr/>
        <p:txBody>
          <a:bodyPr/>
          <a:lstStyle/>
          <a:p>
            <a:r>
              <a:rPr lang="en-US"/>
              <a:t>Intakes: video 7.1</a:t>
            </a:r>
          </a:p>
        </p:txBody>
      </p:sp>
      <p:sp>
        <p:nvSpPr>
          <p:cNvPr id="3" name="Content Placeholder 2">
            <a:extLst>
              <a:ext uri="{FF2B5EF4-FFF2-40B4-BE49-F238E27FC236}">
                <a16:creationId xmlns:a16="http://schemas.microsoft.com/office/drawing/2014/main" id="{D0687883-F432-31B8-52AB-B80A74742F19}"/>
              </a:ext>
            </a:extLst>
          </p:cNvPr>
          <p:cNvSpPr>
            <a:spLocks noGrp="1"/>
          </p:cNvSpPr>
          <p:nvPr>
            <p:ph sz="quarter" idx="13"/>
          </p:nvPr>
        </p:nvSpPr>
        <p:spPr/>
        <p:txBody>
          <a:bodyPr/>
          <a:lstStyle/>
          <a:p>
            <a:r>
              <a:rPr lang="en-US" sz="2400">
                <a:effectLst/>
                <a:latin typeface="Arial" panose="020B0604020202020204" pitchFamily="34" charset="0"/>
                <a:ea typeface="Arial" panose="020B0604020202020204" pitchFamily="34" charset="0"/>
              </a:rPr>
              <a:t>In the video, the counselor learns from the client’s intake forms that she is a single mother who recently finalized a divorce. Yet, the counselor states: “Coming in today, did you have anything you wanted to talk about? Does the counselor’s decision to not immediately inquire about the client’s divorce illustrate an irresponsible approach to the intake interview? Why, or why not?</a:t>
            </a:r>
          </a:p>
          <a:p>
            <a:endParaRPr lang="en-US"/>
          </a:p>
        </p:txBody>
      </p:sp>
      <p:sp>
        <p:nvSpPr>
          <p:cNvPr id="4" name="Content Placeholder 3">
            <a:extLst>
              <a:ext uri="{FF2B5EF4-FFF2-40B4-BE49-F238E27FC236}">
                <a16:creationId xmlns:a16="http://schemas.microsoft.com/office/drawing/2014/main" id="{8628C1DF-1B29-4A20-BE52-503F493E6672}"/>
              </a:ext>
            </a:extLst>
          </p:cNvPr>
          <p:cNvSpPr>
            <a:spLocks noGrp="1"/>
          </p:cNvSpPr>
          <p:nvPr>
            <p:ph sz="quarter" idx="14"/>
          </p:nvPr>
        </p:nvSpPr>
        <p:spPr/>
        <p:txBody>
          <a:bodyPr/>
          <a:lstStyle/>
          <a:p>
            <a:r>
              <a:rPr lang="en-US" sz="2400">
                <a:effectLst/>
                <a:latin typeface="Arial" panose="020B0604020202020204" pitchFamily="34" charset="0"/>
                <a:ea typeface="Arial" panose="020B0604020202020204" pitchFamily="34" charset="0"/>
              </a:rPr>
              <a:t>How does the counselor utilize the concept of birth order in a manner that is strengths-based and respects his client’s unique identity, rather than reducing her personality and attitudes to a narrow label or a confined category? </a:t>
            </a:r>
          </a:p>
          <a:p>
            <a:endParaRPr lang="en-US"/>
          </a:p>
        </p:txBody>
      </p:sp>
    </p:spTree>
    <p:extLst>
      <p:ext uri="{BB962C8B-B14F-4D97-AF65-F5344CB8AC3E}">
        <p14:creationId xmlns:p14="http://schemas.microsoft.com/office/powerpoint/2010/main" val="13877835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9" y="715796"/>
            <a:ext cx="8272253" cy="590349"/>
          </a:xfrm>
        </p:spPr>
        <p:txBody>
          <a:bodyPr vert="horz" wrap="square" lIns="0" tIns="18000" rIns="0" bIns="18000" rtlCol="0" anchor="ctr" anchorCtr="0">
            <a:spAutoFit/>
          </a:bodyPr>
          <a:lstStyle/>
          <a:p>
            <a:r>
              <a:rPr lang="en-US"/>
              <a:t>Assessment</a:t>
            </a:r>
            <a:endParaRPr lang="en-US" sz="2800"/>
          </a:p>
        </p:txBody>
      </p:sp>
      <p:sp>
        <p:nvSpPr>
          <p:cNvPr id="3" name="Content Placeholder 2"/>
          <p:cNvSpPr>
            <a:spLocks noGrp="1"/>
          </p:cNvSpPr>
          <p:nvPr>
            <p:ph sz="quarter" idx="13"/>
          </p:nvPr>
        </p:nvSpPr>
        <p:spPr>
          <a:xfrm>
            <a:off x="1963949" y="1759850"/>
            <a:ext cx="9590742" cy="3369572"/>
          </a:xfrm>
          <a:prstGeom prst="rect">
            <a:avLst/>
          </a:prstGeom>
        </p:spPr>
        <p:txBody>
          <a:bodyPr wrap="square" lIns="0" tIns="18000" rIns="0" bIns="18000" anchor="ctr" anchorCtr="0">
            <a:spAutoFit/>
          </a:bodyPr>
          <a:lstStyle/>
          <a:p>
            <a:pPr marL="342900" indent="-342900">
              <a:spcBef>
                <a:spcPts val="600"/>
              </a:spcBef>
            </a:pPr>
            <a:r>
              <a:rPr lang="en-US"/>
              <a:t>Counselors have the education and skills necessary to conduct certain types of evaluations. </a:t>
            </a:r>
          </a:p>
          <a:p>
            <a:pPr marL="342900" indent="-342900">
              <a:spcBef>
                <a:spcPts val="600"/>
              </a:spcBef>
            </a:pPr>
            <a:r>
              <a:rPr lang="en-US"/>
              <a:t>Some counselors have jobs in which they conduct evaluations on a regular basis</a:t>
            </a:r>
          </a:p>
          <a:p>
            <a:pPr marL="342900" indent="-342900">
              <a:spcBef>
                <a:spcPts val="600"/>
              </a:spcBef>
            </a:pPr>
            <a:r>
              <a:rPr lang="en-US"/>
              <a:t>Some counselors have private practices in which they conduct evaluations occasionally or exclusively. </a:t>
            </a:r>
          </a:p>
          <a:p>
            <a:pPr marL="342900" indent="-342900">
              <a:spcBef>
                <a:spcPts val="600"/>
              </a:spcBef>
            </a:pPr>
            <a:r>
              <a:rPr lang="en-US"/>
              <a:t>To conduct an evaluation, a counselor should have expertise in the area that is being evaluated. </a:t>
            </a:r>
          </a:p>
        </p:txBody>
      </p:sp>
      <p:sp>
        <p:nvSpPr>
          <p:cNvPr id="4" name="TextBox 3">
            <a:extLst>
              <a:ext uri="{FF2B5EF4-FFF2-40B4-BE49-F238E27FC236}">
                <a16:creationId xmlns:a16="http://schemas.microsoft.com/office/drawing/2014/main" id="{FE6197BB-7144-ADDB-2A5B-C39C0EC3C3C8}"/>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024081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Formal Evaluations</a:t>
            </a:r>
            <a:endParaRPr lang="en-US" sz="2800"/>
          </a:p>
        </p:txBody>
      </p:sp>
      <p:sp>
        <p:nvSpPr>
          <p:cNvPr id="3" name="Content Placeholder 2"/>
          <p:cNvSpPr>
            <a:spLocks noGrp="1"/>
          </p:cNvSpPr>
          <p:nvPr>
            <p:ph sz="quarter" idx="13"/>
          </p:nvPr>
        </p:nvSpPr>
        <p:spPr>
          <a:xfrm>
            <a:off x="1963949" y="1242281"/>
            <a:ext cx="8272252" cy="3361364"/>
          </a:xfrm>
          <a:prstGeom prst="rect">
            <a:avLst/>
          </a:prstGeom>
        </p:spPr>
        <p:txBody>
          <a:bodyPr wrap="square" lIns="0" tIns="18000" rIns="0" bIns="18000" anchor="ctr" anchorCtr="0">
            <a:spAutoFit/>
          </a:bodyPr>
          <a:lstStyle/>
          <a:p>
            <a:pPr marL="342900" indent="-342900">
              <a:spcBef>
                <a:spcPts val="600"/>
              </a:spcBef>
            </a:pPr>
            <a:r>
              <a:rPr lang="en-US" sz="2400"/>
              <a:t>Clients who are being assessed need to understand that:</a:t>
            </a:r>
          </a:p>
          <a:p>
            <a:pPr marL="829818" lvl="1" indent="-342900"/>
            <a:r>
              <a:rPr lang="en-US"/>
              <a:t>the process is different from counseling </a:t>
            </a:r>
          </a:p>
          <a:p>
            <a:pPr marL="829818" lvl="1" indent="-342900"/>
            <a:r>
              <a:rPr lang="en-US"/>
              <a:t>what the process entails</a:t>
            </a:r>
          </a:p>
          <a:p>
            <a:pPr marL="829818" lvl="1" indent="-342900"/>
            <a:r>
              <a:rPr lang="en-US"/>
              <a:t>what the final product will be</a:t>
            </a:r>
          </a:p>
          <a:p>
            <a:pPr marL="829818" lvl="1" indent="-342900"/>
            <a:r>
              <a:rPr lang="en-US"/>
              <a:t>how and by whom the assessment is intended to be used. </a:t>
            </a:r>
          </a:p>
          <a:p>
            <a:pPr marL="342900" indent="-342900">
              <a:spcBef>
                <a:spcPts val="600"/>
              </a:spcBef>
            </a:pPr>
            <a:r>
              <a:rPr lang="en-US" sz="2400"/>
              <a:t>According to the </a:t>
            </a:r>
            <a:r>
              <a:rPr lang="en-US" sz="2400" spc="-300"/>
              <a:t>A C </a:t>
            </a:r>
            <a:r>
              <a:rPr lang="en-US" sz="2400"/>
              <a:t>A </a:t>
            </a:r>
            <a:r>
              <a:rPr lang="en-US" sz="2400" i="1"/>
              <a:t>Code of Ethics</a:t>
            </a:r>
            <a:r>
              <a:rPr lang="en-US" sz="2400"/>
              <a:t> (2014), the client’s </a:t>
            </a:r>
            <a:r>
              <a:rPr lang="en-US" sz="2400" i="1"/>
              <a:t>written</a:t>
            </a:r>
            <a:r>
              <a:rPr lang="en-US" sz="2400"/>
              <a:t> informed consent should be secured before beginning a forensic evaluation (</a:t>
            </a:r>
            <a:r>
              <a:rPr lang="en-US" sz="2400" spc="-300"/>
              <a:t>A C </a:t>
            </a:r>
            <a:r>
              <a:rPr lang="en-US" sz="2400"/>
              <a:t>A, 2014). </a:t>
            </a:r>
          </a:p>
        </p:txBody>
      </p:sp>
      <p:sp>
        <p:nvSpPr>
          <p:cNvPr id="4" name="TextBox 3">
            <a:extLst>
              <a:ext uri="{FF2B5EF4-FFF2-40B4-BE49-F238E27FC236}">
                <a16:creationId xmlns:a16="http://schemas.microsoft.com/office/drawing/2014/main" id="{9B2A8156-EAA1-0ABC-91C8-381E6FA08EE0}"/>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6767986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Counselor as Expert Witness</a:t>
            </a:r>
            <a:endParaRPr lang="en-US" sz="2800"/>
          </a:p>
        </p:txBody>
      </p:sp>
      <p:sp>
        <p:nvSpPr>
          <p:cNvPr id="3" name="Content Placeholder 2"/>
          <p:cNvSpPr>
            <a:spLocks noGrp="1"/>
          </p:cNvSpPr>
          <p:nvPr>
            <p:ph sz="quarter" idx="13"/>
          </p:nvPr>
        </p:nvSpPr>
        <p:spPr>
          <a:xfrm>
            <a:off x="1963949" y="1219909"/>
            <a:ext cx="8272252" cy="3181828"/>
          </a:xfrm>
          <a:prstGeom prst="rect">
            <a:avLst/>
          </a:prstGeom>
        </p:spPr>
        <p:txBody>
          <a:bodyPr wrap="square" lIns="0" tIns="18000" rIns="0" bIns="18000" anchor="ctr" anchorCtr="0">
            <a:spAutoFit/>
          </a:bodyPr>
          <a:lstStyle/>
          <a:p>
            <a:pPr marL="342900" indent="-342900">
              <a:spcBef>
                <a:spcPts val="600"/>
              </a:spcBef>
            </a:pPr>
            <a:r>
              <a:rPr lang="en-US" sz="2400"/>
              <a:t>Counselors should avoid conducting evaluations that cast them in the role of expert witness unless they have agreed to do so. </a:t>
            </a:r>
          </a:p>
          <a:p>
            <a:pPr marL="342900" indent="-342900">
              <a:spcBef>
                <a:spcPts val="600"/>
              </a:spcBef>
            </a:pPr>
            <a:r>
              <a:rPr lang="en-US" sz="2400"/>
              <a:t>If your job requires that you conduct evaluations, or if you complete evaluations in your private practice, you must be prepared to testify in court as an expert witness. </a:t>
            </a:r>
          </a:p>
          <a:p>
            <a:pPr marL="342900" indent="-342900">
              <a:spcBef>
                <a:spcPts val="600"/>
              </a:spcBef>
            </a:pPr>
            <a:r>
              <a:rPr lang="en-US" sz="2400"/>
              <a:t>There is a good chance that eventually you will be subpoenaed and ordered to explain and defend your conclusions and recommendations.</a:t>
            </a:r>
          </a:p>
        </p:txBody>
      </p:sp>
      <p:sp>
        <p:nvSpPr>
          <p:cNvPr id="4" name="TextBox 3">
            <a:extLst>
              <a:ext uri="{FF2B5EF4-FFF2-40B4-BE49-F238E27FC236}">
                <a16:creationId xmlns:a16="http://schemas.microsoft.com/office/drawing/2014/main" id="{651DEB99-5103-B87E-FA0D-FC892F994B4D}"/>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3674488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Testing</a:t>
            </a:r>
            <a:endParaRPr lang="en-US" sz="2800"/>
          </a:p>
        </p:txBody>
      </p:sp>
      <p:sp>
        <p:nvSpPr>
          <p:cNvPr id="3" name="Content Placeholder 2"/>
          <p:cNvSpPr>
            <a:spLocks noGrp="1"/>
          </p:cNvSpPr>
          <p:nvPr>
            <p:ph sz="quarter" idx="13"/>
          </p:nvPr>
        </p:nvSpPr>
        <p:spPr>
          <a:xfrm>
            <a:off x="1963949" y="1250510"/>
            <a:ext cx="8272252" cy="4000514"/>
          </a:xfrm>
          <a:prstGeom prst="rect">
            <a:avLst/>
          </a:prstGeom>
        </p:spPr>
        <p:txBody>
          <a:bodyPr wrap="square" lIns="0" tIns="18000" rIns="0" bIns="18000" anchor="ctr" anchorCtr="0">
            <a:spAutoFit/>
          </a:bodyPr>
          <a:lstStyle/>
          <a:p>
            <a:pPr marL="342900" indent="-342900">
              <a:spcBef>
                <a:spcPts val="600"/>
              </a:spcBef>
            </a:pPr>
            <a:r>
              <a:rPr lang="en-US" sz="2400"/>
              <a:t>Counselors use tests in various ways. </a:t>
            </a:r>
          </a:p>
          <a:p>
            <a:pPr marL="342900" indent="-342900">
              <a:spcBef>
                <a:spcPts val="600"/>
              </a:spcBef>
            </a:pPr>
            <a:r>
              <a:rPr lang="en-US" sz="2400"/>
              <a:t>Counselors typically select existing tests, administer them, and interpret them for their clients. </a:t>
            </a:r>
          </a:p>
          <a:p>
            <a:pPr marL="342900" indent="-342900">
              <a:spcBef>
                <a:spcPts val="600"/>
              </a:spcBef>
            </a:pPr>
            <a:r>
              <a:rPr lang="en-US" sz="2400"/>
              <a:t>Competence to use a test always depends on the individual counselor’s training and experience with the particular test.</a:t>
            </a:r>
          </a:p>
          <a:p>
            <a:pPr marL="342900" indent="-342900">
              <a:spcBef>
                <a:spcPts val="600"/>
              </a:spcBef>
            </a:pPr>
            <a:r>
              <a:rPr lang="en-US" sz="2400"/>
              <a:t>Clients have the right to make an informed choice about whether they want to participate or refuse to engage in testing procedures.</a:t>
            </a:r>
          </a:p>
          <a:p>
            <a:pPr marL="342900" indent="-342900">
              <a:spcBef>
                <a:spcPts val="600"/>
              </a:spcBef>
            </a:pPr>
            <a:r>
              <a:rPr lang="en-US" sz="2400"/>
              <a:t>Clients can also expect to receive an explanation of the results of any test they take. </a:t>
            </a:r>
          </a:p>
        </p:txBody>
      </p:sp>
      <p:sp>
        <p:nvSpPr>
          <p:cNvPr id="4" name="TextBox 3">
            <a:extLst>
              <a:ext uri="{FF2B5EF4-FFF2-40B4-BE49-F238E27FC236}">
                <a16:creationId xmlns:a16="http://schemas.microsoft.com/office/drawing/2014/main" id="{9ADCED8B-ADD0-CB71-5B34-914C5E924B1A}"/>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463278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Diagnosis </a:t>
            </a:r>
            <a:r>
              <a:rPr lang="en-US" sz="2800"/>
              <a:t>(1 of 2)</a:t>
            </a:r>
          </a:p>
        </p:txBody>
      </p:sp>
      <p:sp>
        <p:nvSpPr>
          <p:cNvPr id="3" name="Content Placeholder 2"/>
          <p:cNvSpPr>
            <a:spLocks noGrp="1"/>
          </p:cNvSpPr>
          <p:nvPr>
            <p:ph sz="quarter" idx="13"/>
          </p:nvPr>
        </p:nvSpPr>
        <p:spPr>
          <a:xfrm>
            <a:off x="1963949" y="1215943"/>
            <a:ext cx="8272252" cy="3258772"/>
          </a:xfrm>
          <a:prstGeom prst="rect">
            <a:avLst/>
          </a:prstGeom>
        </p:spPr>
        <p:txBody>
          <a:bodyPr wrap="square" lIns="0" tIns="18000" rIns="0" bIns="18000" anchor="ctr" anchorCtr="0">
            <a:spAutoFit/>
          </a:bodyPr>
          <a:lstStyle/>
          <a:p>
            <a:pPr marL="342900" indent="-342900">
              <a:spcBef>
                <a:spcPts val="600"/>
              </a:spcBef>
            </a:pPr>
            <a:r>
              <a:rPr lang="en-US" sz="2400"/>
              <a:t>Counselors are sometimes uncomfortable with participating in the diagnosis of mental disorders. </a:t>
            </a:r>
          </a:p>
          <a:p>
            <a:pPr marL="342900" indent="-342900">
              <a:spcBef>
                <a:spcPts val="600"/>
              </a:spcBef>
            </a:pPr>
            <a:r>
              <a:rPr lang="en-US" sz="2400"/>
              <a:t>Diagnoses usually are made using the </a:t>
            </a:r>
            <a:r>
              <a:rPr lang="en-US" sz="2400" i="1" spc="-300"/>
              <a:t>D S </a:t>
            </a:r>
            <a:r>
              <a:rPr lang="en-US" sz="2400" i="1"/>
              <a:t>M-5-</a:t>
            </a:r>
            <a:r>
              <a:rPr lang="en-US" sz="2400" i="1" spc="-300"/>
              <a:t>T </a:t>
            </a:r>
            <a:r>
              <a:rPr lang="en-US" sz="2400" i="1"/>
              <a:t>R</a:t>
            </a:r>
            <a:r>
              <a:rPr lang="en-US" sz="2400"/>
              <a:t> (American Psychiatric Association, 2022).</a:t>
            </a:r>
          </a:p>
          <a:p>
            <a:pPr marL="342900" indent="-342900">
              <a:spcBef>
                <a:spcPts val="600"/>
              </a:spcBef>
            </a:pPr>
            <a:r>
              <a:rPr lang="en-US" sz="2400"/>
              <a:t>This system of diagnosis is based on the medical model of mental illness.</a:t>
            </a:r>
          </a:p>
          <a:p>
            <a:pPr marL="342900" indent="-342900">
              <a:spcBef>
                <a:spcPts val="600"/>
              </a:spcBef>
            </a:pPr>
            <a:r>
              <a:rPr lang="en-US" sz="2400"/>
              <a:t>When clients want to use their health insurance to help pay for mental health care, counselors typically must assign a diagnosis for their services to be reimbursable. </a:t>
            </a:r>
          </a:p>
        </p:txBody>
      </p:sp>
      <p:sp>
        <p:nvSpPr>
          <p:cNvPr id="4" name="TextBox 3">
            <a:extLst>
              <a:ext uri="{FF2B5EF4-FFF2-40B4-BE49-F238E27FC236}">
                <a16:creationId xmlns:a16="http://schemas.microsoft.com/office/drawing/2014/main" id="{20EC5A4F-F920-66EC-2DB3-34712194855A}"/>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6203216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Diagnosis </a:t>
            </a:r>
            <a:r>
              <a:rPr lang="en-US" sz="2800"/>
              <a:t>(2 of 2)</a:t>
            </a:r>
          </a:p>
        </p:txBody>
      </p:sp>
      <p:sp>
        <p:nvSpPr>
          <p:cNvPr id="3" name="Content Placeholder 2"/>
          <p:cNvSpPr>
            <a:spLocks noGrp="1"/>
          </p:cNvSpPr>
          <p:nvPr>
            <p:ph sz="quarter" idx="13"/>
          </p:nvPr>
        </p:nvSpPr>
        <p:spPr>
          <a:xfrm>
            <a:off x="1963949" y="1248379"/>
            <a:ext cx="8272252" cy="3642467"/>
          </a:xfrm>
          <a:prstGeom prst="rect">
            <a:avLst/>
          </a:prstGeom>
        </p:spPr>
        <p:txBody>
          <a:bodyPr wrap="square" lIns="0" tIns="18000" rIns="0" bIns="18000" anchor="ctr" anchorCtr="0">
            <a:spAutoFit/>
          </a:bodyPr>
          <a:lstStyle/>
          <a:p>
            <a:pPr marL="342900" indent="-342900">
              <a:spcBef>
                <a:spcPts val="600"/>
              </a:spcBef>
            </a:pPr>
            <a:r>
              <a:rPr lang="en-US" sz="2400"/>
              <a:t>Counselors must be knowledgeable about laws that affect testing practices.</a:t>
            </a:r>
          </a:p>
          <a:p>
            <a:pPr marL="342900" indent="-342900">
              <a:spcBef>
                <a:spcPts val="600"/>
              </a:spcBef>
            </a:pPr>
            <a:r>
              <a:rPr lang="en-US" sz="2400"/>
              <a:t>Clients must understand the implications of any diagnosis that might be assigned to them.</a:t>
            </a:r>
          </a:p>
          <a:p>
            <a:pPr marL="342900" indent="-342900">
              <a:spcBef>
                <a:spcPts val="600"/>
              </a:spcBef>
            </a:pPr>
            <a:r>
              <a:rPr lang="en-US" sz="2400"/>
              <a:t>Counselors must be prepared to work cooperatively with physicians when: </a:t>
            </a:r>
          </a:p>
          <a:p>
            <a:pPr marL="829818" lvl="1" indent="-342900"/>
            <a:r>
              <a:rPr lang="en-US"/>
              <a:t>clients may have a physical condition that is contributing to their mental or emotional problems</a:t>
            </a:r>
          </a:p>
          <a:p>
            <a:pPr marL="829818" lvl="1" indent="-342900"/>
            <a:r>
              <a:rPr lang="en-US"/>
              <a:t>clients could benefit from taking medications for their condition</a:t>
            </a:r>
          </a:p>
        </p:txBody>
      </p:sp>
      <p:sp>
        <p:nvSpPr>
          <p:cNvPr id="4" name="TextBox 3">
            <a:extLst>
              <a:ext uri="{FF2B5EF4-FFF2-40B4-BE49-F238E27FC236}">
                <a16:creationId xmlns:a16="http://schemas.microsoft.com/office/drawing/2014/main" id="{35D8E6EE-BB1B-9AD1-FBE9-59126927E4A7}"/>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3983684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DC1FC-1510-45A7-AB01-CA0C9B4C046D}"/>
              </a:ext>
            </a:extLst>
          </p:cNvPr>
          <p:cNvSpPr>
            <a:spLocks noGrp="1"/>
          </p:cNvSpPr>
          <p:nvPr>
            <p:ph type="title"/>
          </p:nvPr>
        </p:nvSpPr>
        <p:spPr/>
        <p:txBody>
          <a:bodyPr/>
          <a:lstStyle/>
          <a:p>
            <a:r>
              <a:rPr lang="en-US"/>
              <a:t>Video 7.2</a:t>
            </a:r>
          </a:p>
        </p:txBody>
      </p:sp>
      <p:sp>
        <p:nvSpPr>
          <p:cNvPr id="3" name="Content Placeholder 2">
            <a:extLst>
              <a:ext uri="{FF2B5EF4-FFF2-40B4-BE49-F238E27FC236}">
                <a16:creationId xmlns:a16="http://schemas.microsoft.com/office/drawing/2014/main" id="{3683719C-F2A0-EF5B-76AF-701FECBDF240}"/>
              </a:ext>
            </a:extLst>
          </p:cNvPr>
          <p:cNvSpPr>
            <a:spLocks noGrp="1"/>
          </p:cNvSpPr>
          <p:nvPr>
            <p:ph sz="quarter" idx="13"/>
          </p:nvPr>
        </p:nvSpPr>
        <p:spPr>
          <a:xfrm>
            <a:off x="609600" y="4109521"/>
            <a:ext cx="10972800" cy="2267528"/>
          </a:xfrm>
        </p:spPr>
        <p:txBody>
          <a:bodyPr/>
          <a:lstStyle/>
          <a:p>
            <a:r>
              <a:rPr lang="en-US" sz="2400">
                <a:effectLst/>
                <a:latin typeface="Arial" panose="020B0604020202020204" pitchFamily="34" charset="0"/>
                <a:ea typeface="Arial" panose="020B0604020202020204" pitchFamily="34" charset="0"/>
              </a:rPr>
              <a:t>In the video, the client expresses concern about his diagnosis being reported to his insurance company, due to the stigma he associates with bipolar disorder. Because the client needs a diagnosis in order to receive health insurance reimbursement, is it ethical for the counselor to code a diagnosis that the client feels is less-stigmatized, but also reflects similar diagnostic criteria? Why, or why not?</a:t>
            </a:r>
            <a:r>
              <a:rPr lang="en-US" sz="2400">
                <a:effectLst/>
              </a:rPr>
              <a:t> </a:t>
            </a:r>
            <a:endParaRPr lang="en-US" sz="2400"/>
          </a:p>
        </p:txBody>
      </p:sp>
      <p:sp>
        <p:nvSpPr>
          <p:cNvPr id="4" name="Content Placeholder 3">
            <a:extLst>
              <a:ext uri="{FF2B5EF4-FFF2-40B4-BE49-F238E27FC236}">
                <a16:creationId xmlns:a16="http://schemas.microsoft.com/office/drawing/2014/main" id="{783D55F5-8D89-2D5E-EA3D-3198403103FB}"/>
              </a:ext>
            </a:extLst>
          </p:cNvPr>
          <p:cNvSpPr>
            <a:spLocks noGrp="1"/>
          </p:cNvSpPr>
          <p:nvPr>
            <p:ph sz="quarter" idx="14"/>
          </p:nvPr>
        </p:nvSpPr>
        <p:spPr>
          <a:xfrm>
            <a:off x="419596" y="1782721"/>
            <a:ext cx="10972800" cy="2105025"/>
          </a:xfrm>
        </p:spPr>
        <p:txBody>
          <a:bodyPr/>
          <a:lstStyle/>
          <a:p>
            <a:pPr marL="0" indent="0">
              <a:buNone/>
            </a:pPr>
            <a:r>
              <a:rPr lang="en-US" sz="2400">
                <a:effectLst/>
                <a:latin typeface="Arial" panose="020B0604020202020204" pitchFamily="34" charset="0"/>
                <a:ea typeface="Arial" panose="020B0604020202020204" pitchFamily="34" charset="0"/>
              </a:rPr>
              <a:t>In the video, the client is deeply troubled by the provisional diagnosis he receives. Imagine that the counselor could have anticipated the impact that this diagnosis has had on her client and, instead, chose to refrain from rendering a diagnosis. Would her decision—based on a desire to prevent causing her client distress—represent an ethical approach? Why, or why not?</a:t>
            </a:r>
          </a:p>
        </p:txBody>
      </p:sp>
    </p:spTree>
    <p:extLst>
      <p:ext uri="{BB962C8B-B14F-4D97-AF65-F5344CB8AC3E}">
        <p14:creationId xmlns:p14="http://schemas.microsoft.com/office/powerpoint/2010/main" val="12707580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B1B74F2-2FD4-BC86-F85C-894FC531B050}"/>
              </a:ext>
            </a:extLst>
          </p:cNvPr>
          <p:cNvSpPr>
            <a:spLocks noGrp="1"/>
          </p:cNvSpPr>
          <p:nvPr>
            <p:ph type="pic" sz="quarter" idx="15"/>
          </p:nvPr>
        </p:nvSpPr>
        <p:spPr>
          <a:xfrm>
            <a:off x="2808732" y="891540"/>
            <a:ext cx="6574536" cy="5074920"/>
          </a:xfrm>
        </p:spPr>
        <p:txBody>
          <a:bodyPr/>
          <a:lstStyle/>
          <a:p>
            <a:r>
              <a:rPr lang="en-US" sz="4800"/>
              <a:t>Your cases!</a:t>
            </a:r>
          </a:p>
          <a:p>
            <a:r>
              <a:rPr lang="en-US" sz="4800"/>
              <a:t>(Isaac, Vijay, Emmanuel, Martina</a:t>
            </a:r>
          </a:p>
          <a:p>
            <a:endParaRPr lang="en-US" sz="4800"/>
          </a:p>
          <a:p>
            <a:r>
              <a:rPr lang="en-US" sz="3600"/>
              <a:t>Lorenzo, Hope, Marcie</a:t>
            </a:r>
          </a:p>
        </p:txBody>
      </p:sp>
    </p:spTree>
    <p:extLst>
      <p:ext uri="{BB962C8B-B14F-4D97-AF65-F5344CB8AC3E}">
        <p14:creationId xmlns:p14="http://schemas.microsoft.com/office/powerpoint/2010/main" val="4041107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86" name="Rectangle 11285">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8" name="Rectangle 11287">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90" name="Rectangle 11289">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2" name="Oval 11291">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65" name="Rectangle 2">
            <a:extLst>
              <a:ext uri="{FF2B5EF4-FFF2-40B4-BE49-F238E27FC236}">
                <a16:creationId xmlns:a16="http://schemas.microsoft.com/office/drawing/2014/main" id="{608AC8BF-D50D-6990-62D4-09F4E9768111}"/>
              </a:ext>
            </a:extLst>
          </p:cNvPr>
          <p:cNvSpPr>
            <a:spLocks noGrp="1" noChangeArrowheads="1"/>
          </p:cNvSpPr>
          <p:nvPr>
            <p:ph type="title"/>
          </p:nvPr>
        </p:nvSpPr>
        <p:spPr>
          <a:xfrm>
            <a:off x="3315031" y="1380754"/>
            <a:ext cx="5561938" cy="2513516"/>
          </a:xfrm>
        </p:spPr>
        <p:txBody>
          <a:bodyPr vert="horz" lIns="91440" tIns="45720" rIns="91440" bIns="45720" rtlCol="0" anchor="b">
            <a:normAutofit/>
          </a:bodyPr>
          <a:lstStyle/>
          <a:p>
            <a:pPr algn="ctr"/>
            <a:r>
              <a:rPr lang="en-US" altLang="en-US" sz="4200" kern="1200">
                <a:solidFill>
                  <a:schemeClr val="tx1"/>
                </a:solidFill>
                <a:latin typeface="+mj-lt"/>
                <a:ea typeface="+mj-ea"/>
                <a:cs typeface="+mj-cs"/>
              </a:rPr>
              <a:t>Malpractice and resolving legal and ethical challenges</a:t>
            </a:r>
          </a:p>
        </p:txBody>
      </p:sp>
      <p:sp>
        <p:nvSpPr>
          <p:cNvPr id="11294" name="Arc 11293">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96" name="Oval 11295">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Text Box 4">
            <a:extLst>
              <a:ext uri="{FF2B5EF4-FFF2-40B4-BE49-F238E27FC236}">
                <a16:creationId xmlns:a16="http://schemas.microsoft.com/office/drawing/2014/main" id="{EBDDEA3F-2929-6B4C-2531-C0A35BEF897E}"/>
              </a:ext>
            </a:extLst>
          </p:cNvPr>
          <p:cNvSpPr txBox="1">
            <a:spLocks noChangeArrowheads="1"/>
          </p:cNvSpPr>
          <p:nvPr/>
        </p:nvSpPr>
        <p:spPr bwMode="auto">
          <a:xfrm>
            <a:off x="1143041" y="5770562"/>
            <a:ext cx="73469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723" tIns="40636" rIns="82723" bIns="40636" anchor="t">
            <a:normAutofit/>
          </a:bodyPr>
          <a:lstStyle>
            <a:lvl1pPr defTabSz="836613">
              <a:lnSpc>
                <a:spcPct val="120000"/>
              </a:lnSpc>
              <a:spcAft>
                <a:spcPct val="30000"/>
              </a:spcAft>
              <a:buClr>
                <a:srgbClr val="0000FF"/>
              </a:buClr>
              <a:buFont typeface="Monotype Sorts" pitchFamily="2" charset="2"/>
              <a:buChar char="¦"/>
              <a:defRPr sz="2400" b="1">
                <a:solidFill>
                  <a:schemeClr val="tx1"/>
                </a:solidFill>
                <a:latin typeface="Helvetica" pitchFamily="2" charset="0"/>
              </a:defRPr>
            </a:lvl1pPr>
            <a:lvl2pPr marL="742950" indent="-285750" defTabSz="836613">
              <a:lnSpc>
                <a:spcPct val="120000"/>
              </a:lnSpc>
              <a:spcAft>
                <a:spcPct val="30000"/>
              </a:spcAft>
              <a:buClr>
                <a:srgbClr val="0000FF"/>
              </a:buClr>
              <a:buSzPct val="100000"/>
              <a:buFont typeface="Monotype Sorts" pitchFamily="2" charset="2"/>
              <a:buChar char="§"/>
              <a:defRPr sz="2200" b="1">
                <a:solidFill>
                  <a:schemeClr val="tx1"/>
                </a:solidFill>
                <a:latin typeface="Helvetica" pitchFamily="2" charset="0"/>
              </a:defRPr>
            </a:lvl2pPr>
            <a:lvl3pPr marL="1143000" indent="-228600" defTabSz="836613">
              <a:lnSpc>
                <a:spcPct val="120000"/>
              </a:lnSpc>
              <a:spcAft>
                <a:spcPct val="20000"/>
              </a:spcAft>
              <a:buClr>
                <a:srgbClr val="0000FF"/>
              </a:buClr>
              <a:buSzPct val="75000"/>
              <a:buFont typeface="Monotype Sorts" pitchFamily="2" charset="2"/>
              <a:buChar char="F"/>
              <a:defRPr sz="2000" b="1">
                <a:solidFill>
                  <a:schemeClr val="tx1"/>
                </a:solidFill>
                <a:latin typeface="Helvetica" pitchFamily="2" charset="0"/>
              </a:defRPr>
            </a:lvl3pPr>
            <a:lvl4pPr marL="1600200" indent="-228600" defTabSz="836613">
              <a:spcBef>
                <a:spcPct val="20000"/>
              </a:spcBef>
              <a:buClr>
                <a:srgbClr val="0000FF"/>
              </a:buClr>
              <a:buSzPct val="65000"/>
              <a:buFont typeface="Monotype Sorts" pitchFamily="2" charset="2"/>
              <a:buChar char="u"/>
              <a:defRPr b="1">
                <a:solidFill>
                  <a:schemeClr val="tx1"/>
                </a:solidFill>
                <a:latin typeface="Helvetica" pitchFamily="2" charset="0"/>
              </a:defRPr>
            </a:lvl4pPr>
            <a:lvl5pPr marL="2057400" indent="-228600" defTabSz="836613">
              <a:spcBef>
                <a:spcPct val="20000"/>
              </a:spcBef>
              <a:buClr>
                <a:srgbClr val="0000FF"/>
              </a:buClr>
              <a:buSzPct val="100000"/>
              <a:buChar char="–"/>
              <a:defRPr sz="1600" b="1">
                <a:solidFill>
                  <a:schemeClr val="tx1"/>
                </a:solidFill>
                <a:latin typeface="Helvetica" pitchFamily="2" charset="0"/>
              </a:defRPr>
            </a:lvl5pPr>
            <a:lvl6pPr marL="25146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6pPr>
            <a:lvl7pPr marL="29718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7pPr>
            <a:lvl8pPr marL="34290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8pPr>
            <a:lvl9pPr marL="3886200" indent="-228600" defTabSz="836613" eaLnBrk="0" fontAlgn="base" hangingPunct="0">
              <a:spcBef>
                <a:spcPct val="20000"/>
              </a:spcBef>
              <a:spcAft>
                <a:spcPct val="0"/>
              </a:spcAft>
              <a:buClr>
                <a:srgbClr val="0000FF"/>
              </a:buClr>
              <a:buSzPct val="100000"/>
              <a:buChar char="–"/>
              <a:defRPr sz="1600" b="1">
                <a:solidFill>
                  <a:schemeClr val="tx1"/>
                </a:solidFill>
                <a:latin typeface="Helvetica" pitchFamily="2" charset="0"/>
              </a:defRPr>
            </a:lvl9pPr>
          </a:lstStyle>
          <a:p>
            <a:pPr>
              <a:lnSpc>
                <a:spcPct val="90000"/>
              </a:lnSpc>
              <a:spcBef>
                <a:spcPct val="50000"/>
              </a:spcBef>
              <a:spcAft>
                <a:spcPct val="0"/>
              </a:spcAft>
              <a:buClr>
                <a:srgbClr val="0000CC"/>
              </a:buClr>
              <a:buSzPct val="75000"/>
              <a:buFont typeface="Monotype Sorts" pitchFamily="2" charset="2"/>
              <a:buNone/>
            </a:pPr>
            <a:endParaRPr lang="en-US" altLang="en-US" sz="1800" b="0">
              <a:ea typeface="ＭＳ Ｐゴシック" panose="020B0600070205080204" pitchFamily="34" charset="-128"/>
            </a:endParaRPr>
          </a:p>
        </p:txBody>
      </p:sp>
    </p:spTree>
    <p:extLst>
      <p:ext uri="{BB962C8B-B14F-4D97-AF65-F5344CB8AC3E}">
        <p14:creationId xmlns:p14="http://schemas.microsoft.com/office/powerpoint/2010/main" val="2063185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Malpractice </a:t>
            </a:r>
            <a:r>
              <a:rPr lang="en-US" sz="2800"/>
              <a:t>(1 of 3)</a:t>
            </a:r>
          </a:p>
        </p:txBody>
      </p:sp>
      <p:sp>
        <p:nvSpPr>
          <p:cNvPr id="3" name="Content Placeholder 2"/>
          <p:cNvSpPr>
            <a:spLocks noGrp="1"/>
          </p:cNvSpPr>
          <p:nvPr>
            <p:ph sz="quarter" idx="13"/>
          </p:nvPr>
        </p:nvSpPr>
        <p:spPr>
          <a:xfrm>
            <a:off x="1963949" y="1176818"/>
            <a:ext cx="8272252" cy="2094864"/>
          </a:xfrm>
          <a:prstGeom prst="rect">
            <a:avLst/>
          </a:prstGeom>
        </p:spPr>
        <p:txBody>
          <a:bodyPr wrap="square" lIns="0" tIns="18000" rIns="0" bIns="18000" anchor="ctr" anchorCtr="0">
            <a:spAutoFit/>
          </a:bodyPr>
          <a:lstStyle/>
          <a:p>
            <a:pPr marL="342900" indent="-342900">
              <a:spcBef>
                <a:spcPts val="600"/>
              </a:spcBef>
            </a:pPr>
            <a:r>
              <a:rPr lang="en-US" sz="2400" i="1"/>
              <a:t>Malpractice</a:t>
            </a:r>
            <a:r>
              <a:rPr lang="en-US" sz="2400"/>
              <a:t> involves professional misconduct or unreasonable lack of skill.</a:t>
            </a:r>
          </a:p>
          <a:p>
            <a:pPr marL="829818" lvl="1" indent="-342900"/>
            <a:r>
              <a:rPr lang="en-US"/>
              <a:t>Has been defined as the failure to render professional services to the level expected in a particular community by a prudent member of the profession with the result that a recipient of services is harmed.</a:t>
            </a:r>
          </a:p>
        </p:txBody>
      </p:sp>
      <p:sp>
        <p:nvSpPr>
          <p:cNvPr id="4" name="TextBox 3">
            <a:extLst>
              <a:ext uri="{FF2B5EF4-FFF2-40B4-BE49-F238E27FC236}">
                <a16:creationId xmlns:a16="http://schemas.microsoft.com/office/drawing/2014/main" id="{1B83E56E-081A-C854-3C2D-87645A22F598}"/>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991979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Malpractice</a:t>
            </a:r>
            <a:endParaRPr lang="en-US" sz="2800"/>
          </a:p>
        </p:txBody>
      </p:sp>
      <p:sp>
        <p:nvSpPr>
          <p:cNvPr id="3" name="Content Placeholder 2"/>
          <p:cNvSpPr>
            <a:spLocks noGrp="1"/>
          </p:cNvSpPr>
          <p:nvPr>
            <p:ph sz="quarter" idx="13"/>
          </p:nvPr>
        </p:nvSpPr>
        <p:spPr>
          <a:xfrm>
            <a:off x="1963949" y="1302209"/>
            <a:ext cx="8272252" cy="4345736"/>
          </a:xfrm>
          <a:prstGeom prst="rect">
            <a:avLst/>
          </a:prstGeom>
        </p:spPr>
        <p:txBody>
          <a:bodyPr wrap="square" lIns="0" tIns="18000" rIns="0" bIns="18000" anchor="ctr" anchorCtr="0">
            <a:spAutoFit/>
          </a:bodyPr>
          <a:lstStyle/>
          <a:p>
            <a:pPr marL="342900" indent="-342900">
              <a:spcBef>
                <a:spcPts val="600"/>
              </a:spcBef>
            </a:pPr>
            <a:r>
              <a:rPr lang="en-US" sz="2400"/>
              <a:t>In order for a client plaintiff to prevail in a malpractice lawsuit against a counselor, the plaintiff must prove the following elements:</a:t>
            </a:r>
          </a:p>
          <a:p>
            <a:pPr marL="829818" lvl="1" indent="-342900"/>
            <a:r>
              <a:rPr lang="en-US"/>
              <a:t>The counselor had a duty to the client to use reasonable care in providing counseling services</a:t>
            </a:r>
          </a:p>
          <a:p>
            <a:pPr marL="829818" lvl="1" indent="-342900"/>
            <a:r>
              <a:rPr lang="en-US"/>
              <a:t>The counselor failed to conform to the required duty of care</a:t>
            </a:r>
          </a:p>
          <a:p>
            <a:pPr marL="829818" lvl="1" indent="-342900"/>
            <a:r>
              <a:rPr lang="en-US"/>
              <a:t>The client was injured</a:t>
            </a:r>
          </a:p>
          <a:p>
            <a:pPr marL="829818" lvl="1" indent="-342900"/>
            <a:r>
              <a:rPr lang="en-US"/>
              <a:t>There was a reasonably close causal connection between the conduct of the counselor and the resulting injury (known as </a:t>
            </a:r>
            <a:r>
              <a:rPr lang="en-US" i="1"/>
              <a:t>proximate</a:t>
            </a:r>
            <a:r>
              <a:rPr lang="en-US"/>
              <a:t> </a:t>
            </a:r>
            <a:r>
              <a:rPr lang="en-US" i="1"/>
              <a:t>cause</a:t>
            </a:r>
            <a:r>
              <a:rPr lang="en-US"/>
              <a:t>)</a:t>
            </a:r>
          </a:p>
          <a:p>
            <a:pPr marL="829818" lvl="1" indent="-342900"/>
            <a:r>
              <a:rPr lang="en-US"/>
              <a:t>The client suffered an actual loss or was damaged</a:t>
            </a:r>
          </a:p>
        </p:txBody>
      </p:sp>
      <p:sp>
        <p:nvSpPr>
          <p:cNvPr id="4" name="TextBox 3">
            <a:extLst>
              <a:ext uri="{FF2B5EF4-FFF2-40B4-BE49-F238E27FC236}">
                <a16:creationId xmlns:a16="http://schemas.microsoft.com/office/drawing/2014/main" id="{B5B93BCE-01C7-320C-3157-38454523EC55}"/>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3155396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266" y="184168"/>
            <a:ext cx="9689936" cy="590349"/>
          </a:xfrm>
        </p:spPr>
        <p:txBody>
          <a:bodyPr vert="horz" wrap="square" lIns="0" tIns="18000" rIns="0" bIns="18000" rtlCol="0" anchor="ctr" anchorCtr="0">
            <a:spAutoFit/>
          </a:bodyPr>
          <a:lstStyle/>
          <a:p>
            <a:r>
              <a:rPr lang="en-US"/>
              <a:t>Most common reasons for malpractice lawsuits</a:t>
            </a:r>
            <a:endParaRPr lang="en-US" sz="2800"/>
          </a:p>
        </p:txBody>
      </p:sp>
      <p:sp>
        <p:nvSpPr>
          <p:cNvPr id="3" name="Content Placeholder 2"/>
          <p:cNvSpPr>
            <a:spLocks noGrp="1"/>
          </p:cNvSpPr>
          <p:nvPr>
            <p:ph sz="quarter" idx="13"/>
          </p:nvPr>
        </p:nvSpPr>
        <p:spPr>
          <a:xfrm>
            <a:off x="1833320" y="1277419"/>
            <a:ext cx="8272252" cy="4303161"/>
          </a:xfrm>
          <a:prstGeom prst="rect">
            <a:avLst/>
          </a:prstGeom>
        </p:spPr>
        <p:txBody>
          <a:bodyPr wrap="square" lIns="0" tIns="18000" rIns="0" bIns="18000" anchor="ctr" anchorCtr="0">
            <a:spAutoFit/>
          </a:bodyPr>
          <a:lstStyle/>
          <a:p>
            <a:pPr marL="342900" indent="-342900">
              <a:spcBef>
                <a:spcPts val="600"/>
              </a:spcBef>
            </a:pPr>
            <a:r>
              <a:rPr lang="en-US" sz="2400"/>
              <a:t>Mental health professionals are sued most often because of sexual relationships with their clients. </a:t>
            </a:r>
          </a:p>
          <a:p>
            <a:pPr lvl="1"/>
            <a:r>
              <a:rPr lang="en-US" sz="2000">
                <a:effectLst/>
                <a:latin typeface="Arial,Italic"/>
              </a:rPr>
              <a:t>One of the biggest payou</a:t>
            </a:r>
            <a:r>
              <a:rPr lang="en-US" sz="2000">
                <a:latin typeface="Arial,Italic"/>
              </a:rPr>
              <a:t>ts to individuals who sued counselors have to do with counselors engaging in sexual relationships with clients.</a:t>
            </a:r>
            <a:endParaRPr lang="en-US" sz="2000">
              <a:effectLst/>
              <a:latin typeface="Arial,Italic"/>
            </a:endParaRPr>
          </a:p>
          <a:p>
            <a:pPr lvl="1"/>
            <a:r>
              <a:rPr lang="en-US" sz="2000">
                <a:effectLst/>
                <a:latin typeface="Arial,Italic"/>
              </a:rPr>
              <a:t>According to WA state law a counselor may never engage or attempt to engage in a sexual relationship with a </a:t>
            </a:r>
            <a:r>
              <a:rPr lang="en-US" sz="2000" b="1">
                <a:effectLst/>
                <a:latin typeface="Arial,Italic"/>
              </a:rPr>
              <a:t>client OR former client </a:t>
            </a:r>
            <a:r>
              <a:rPr lang="en-US" sz="2000">
                <a:effectLst/>
                <a:latin typeface="Arial,Italic"/>
              </a:rPr>
              <a:t>(see WAC </a:t>
            </a:r>
            <a:r>
              <a:rPr lang="en-US" sz="2000">
                <a:solidFill>
                  <a:srgbClr val="0260BF"/>
                </a:solidFill>
                <a:effectLst/>
                <a:latin typeface="Arial,BoldItalic"/>
              </a:rPr>
              <a:t>246-16- 100 </a:t>
            </a:r>
            <a:r>
              <a:rPr lang="en-US" sz="2000">
                <a:effectLst/>
                <a:latin typeface="Arial,Italic"/>
              </a:rPr>
              <a:t>). This is </a:t>
            </a:r>
            <a:r>
              <a:rPr lang="en-US" sz="2000" u="sng">
                <a:effectLst/>
                <a:latin typeface="Arial,Italic"/>
              </a:rPr>
              <a:t>MORE restrictive </a:t>
            </a:r>
            <a:r>
              <a:rPr lang="en-US" sz="2000">
                <a:effectLst/>
                <a:latin typeface="Arial,Italic"/>
              </a:rPr>
              <a:t>than the ACA code of ethics</a:t>
            </a:r>
          </a:p>
          <a:p>
            <a:r>
              <a:rPr lang="en-US" sz="2400"/>
              <a:t>The next leading cause of malpractice lawsuits against counselors revolves around situations in which clients attempt or complete suicide.</a:t>
            </a:r>
            <a:endParaRPr lang="en-US" sz="2400">
              <a:effectLst/>
              <a:latin typeface="Arial,Italic"/>
            </a:endParaRPr>
          </a:p>
          <a:p>
            <a:pPr marL="342900" indent="-342900">
              <a:spcBef>
                <a:spcPts val="600"/>
              </a:spcBef>
            </a:pPr>
            <a:endParaRPr lang="en-US" sz="2400"/>
          </a:p>
        </p:txBody>
      </p:sp>
      <p:sp>
        <p:nvSpPr>
          <p:cNvPr id="6" name="TextBox 5">
            <a:extLst>
              <a:ext uri="{FF2B5EF4-FFF2-40B4-BE49-F238E27FC236}">
                <a16:creationId xmlns:a16="http://schemas.microsoft.com/office/drawing/2014/main" id="{118D01CE-2BD6-38B1-27AC-A446161E94E9}"/>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081918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4D71E-5AC5-97CA-F0F7-FB548B097320}"/>
              </a:ext>
            </a:extLst>
          </p:cNvPr>
          <p:cNvSpPr>
            <a:spLocks noGrp="1"/>
          </p:cNvSpPr>
          <p:nvPr>
            <p:ph idx="1"/>
          </p:nvPr>
        </p:nvSpPr>
        <p:spPr>
          <a:xfrm>
            <a:off x="4447308" y="591344"/>
            <a:ext cx="6906491" cy="5585619"/>
          </a:xfrm>
        </p:spPr>
        <p:txBody>
          <a:bodyPr anchor="ctr">
            <a:normAutofit/>
          </a:bodyPr>
          <a:lstStyle/>
          <a:p>
            <a:pPr>
              <a:spcBef>
                <a:spcPts val="0"/>
              </a:spcBef>
              <a:tabLst>
                <a:tab pos="342900" algn="l"/>
                <a:tab pos="685800" algn="l"/>
                <a:tab pos="1028700" algn="l"/>
              </a:tabLst>
            </a:pPr>
            <a:r>
              <a:rPr lang="en-US" sz="2400">
                <a:effectLst/>
                <a:ea typeface="Times New Roman" panose="02020603050405020304" pitchFamily="18" charset="0"/>
                <a:cs typeface="Times New Roman" panose="02020603050405020304" pitchFamily="18" charset="0"/>
              </a:rPr>
              <a:t>respond fully and in writing to each of the charges made.</a:t>
            </a:r>
          </a:p>
          <a:p>
            <a:pPr>
              <a:spcBef>
                <a:spcPts val="0"/>
              </a:spcBef>
              <a:tabLst>
                <a:tab pos="342900" algn="l"/>
                <a:tab pos="685800" algn="l"/>
                <a:tab pos="1028700" algn="l"/>
              </a:tabLst>
            </a:pPr>
            <a:endParaRPr lang="en-US" sz="2400">
              <a:effectLst/>
              <a:ea typeface="Times New Roman" panose="02020603050405020304" pitchFamily="18" charset="0"/>
              <a:cs typeface="Times New Roman" panose="02020603050405020304" pitchFamily="18" charset="0"/>
            </a:endParaRPr>
          </a:p>
          <a:p>
            <a:pPr>
              <a:spcBef>
                <a:spcPts val="0"/>
              </a:spcBef>
              <a:tabLst>
                <a:tab pos="342900" algn="l"/>
                <a:tab pos="685800" algn="l"/>
                <a:tab pos="1028700" algn="l"/>
              </a:tabLst>
            </a:pPr>
            <a:r>
              <a:rPr lang="en-US" sz="2400">
                <a:effectLst/>
                <a:ea typeface="Times New Roman" panose="02020603050405020304" pitchFamily="18" charset="0"/>
                <a:cs typeface="Times New Roman" panose="02020603050405020304" pitchFamily="18" charset="0"/>
              </a:rPr>
              <a:t>consult with an attorney.</a:t>
            </a:r>
          </a:p>
          <a:p>
            <a:pPr>
              <a:spcBef>
                <a:spcPts val="0"/>
              </a:spcBef>
              <a:tabLst>
                <a:tab pos="342900" algn="l"/>
                <a:tab pos="685800" algn="l"/>
                <a:tab pos="1028700" algn="l"/>
              </a:tabLst>
            </a:pPr>
            <a:endParaRPr lang="en-US" sz="2400">
              <a:effectLst/>
              <a:ea typeface="Times New Roman" panose="02020603050405020304" pitchFamily="18" charset="0"/>
              <a:cs typeface="Times New Roman" panose="02020603050405020304" pitchFamily="18" charset="0"/>
            </a:endParaRPr>
          </a:p>
          <a:p>
            <a:pPr>
              <a:spcBef>
                <a:spcPts val="0"/>
              </a:spcBef>
              <a:tabLst>
                <a:tab pos="342900" algn="l"/>
                <a:tab pos="685800" algn="l"/>
                <a:tab pos="1028700" algn="l"/>
              </a:tabLst>
            </a:pPr>
            <a:r>
              <a:rPr lang="en-US" sz="2400">
                <a:effectLst/>
                <a:ea typeface="Times New Roman" panose="02020603050405020304" pitchFamily="18" charset="0"/>
                <a:cs typeface="Times New Roman" panose="02020603050405020304" pitchFamily="18" charset="0"/>
              </a:rPr>
              <a:t>submit as much documentation as you can that will help the ethics committee in its deliberations.</a:t>
            </a:r>
          </a:p>
          <a:p>
            <a:pPr>
              <a:spcBef>
                <a:spcPts val="0"/>
              </a:spcBef>
              <a:tabLst>
                <a:tab pos="342900" algn="l"/>
                <a:tab pos="685800" algn="l"/>
                <a:tab pos="1028700" algn="l"/>
              </a:tabLst>
            </a:pPr>
            <a:endParaRPr lang="en-US" sz="2400">
              <a:effectLst/>
              <a:ea typeface="Times New Roman" panose="02020603050405020304" pitchFamily="18" charset="0"/>
              <a:cs typeface="Times New Roman" panose="02020603050405020304" pitchFamily="18" charset="0"/>
            </a:endParaRPr>
          </a:p>
          <a:p>
            <a:r>
              <a:rPr lang="en-US" sz="2400">
                <a:effectLst/>
                <a:ea typeface="Times New Roman" panose="02020603050405020304" pitchFamily="18" charset="0"/>
              </a:rPr>
              <a:t>contact your professional liability insurance carrier</a:t>
            </a:r>
            <a:r>
              <a:rPr lang="en-US" sz="2400">
                <a:effectLst/>
              </a:rPr>
              <a:t> </a:t>
            </a:r>
          </a:p>
          <a:p>
            <a:endParaRPr lang="en-US" sz="1600">
              <a:solidFill>
                <a:schemeClr val="bg2"/>
              </a:solidFill>
            </a:endParaRPr>
          </a:p>
          <a:p>
            <a:pPr marL="0" indent="0">
              <a:buNone/>
            </a:pPr>
            <a:endParaRPr lang="en-US" sz="1600">
              <a:solidFill>
                <a:srgbClr val="FF0000"/>
              </a:solidFill>
            </a:endParaRPr>
          </a:p>
          <a:p>
            <a:endParaRPr lang="en-US" sz="1800">
              <a:solidFill>
                <a:srgbClr val="FF0000"/>
              </a:solidFill>
            </a:endParaRPr>
          </a:p>
          <a:p>
            <a:pPr marL="0" indent="0">
              <a:buNone/>
            </a:pPr>
            <a:r>
              <a:rPr lang="en-US" sz="1800">
                <a:solidFill>
                  <a:srgbClr val="FF0000"/>
                </a:solidFill>
              </a:rPr>
              <a:t>Do not </a:t>
            </a:r>
            <a:r>
              <a:rPr lang="en-US" sz="1800">
                <a:solidFill>
                  <a:srgbClr val="FF0000"/>
                </a:solidFill>
                <a:effectLst/>
                <a:ea typeface="Times New Roman" panose="02020603050405020304" pitchFamily="18" charset="0"/>
                <a:cs typeface="Times New Roman" panose="02020603050405020304" pitchFamily="18" charset="0"/>
              </a:rPr>
              <a:t>contact the client who filed the complaint to see if you can work things out.</a:t>
            </a:r>
          </a:p>
          <a:p>
            <a:endParaRPr lang="en-US" sz="1500"/>
          </a:p>
        </p:txBody>
      </p:sp>
      <p:sp>
        <p:nvSpPr>
          <p:cNvPr id="2" name="TextBox 1">
            <a:extLst>
              <a:ext uri="{FF2B5EF4-FFF2-40B4-BE49-F238E27FC236}">
                <a16:creationId xmlns:a16="http://schemas.microsoft.com/office/drawing/2014/main" id="{CC94A788-8865-2258-A21B-DBD6AAE8D063}"/>
              </a:ext>
            </a:extLst>
          </p:cNvPr>
          <p:cNvSpPr txBox="1"/>
          <p:nvPr/>
        </p:nvSpPr>
        <p:spPr>
          <a:xfrm>
            <a:off x="705058" y="1178206"/>
            <a:ext cx="2493818" cy="3416320"/>
          </a:xfrm>
          <a:prstGeom prst="rect">
            <a:avLst/>
          </a:prstGeom>
          <a:noFill/>
        </p:spPr>
        <p:txBody>
          <a:bodyPr wrap="square" rtlCol="0">
            <a:spAutoFit/>
          </a:bodyPr>
          <a:lstStyle/>
          <a:p>
            <a:r>
              <a:rPr lang="en-US" sz="3600">
                <a:effectLst/>
                <a:latin typeface="+mj-lt"/>
                <a:ea typeface="Times New Roman" panose="02020603050405020304" pitchFamily="18" charset="0"/>
              </a:rPr>
              <a:t>If a formal ethics complaint is filed against you, you should:</a:t>
            </a:r>
            <a:endParaRPr lang="en-US" sz="3600">
              <a:latin typeface="+mj-lt"/>
            </a:endParaRPr>
          </a:p>
        </p:txBody>
      </p:sp>
    </p:spTree>
    <p:extLst>
      <p:ext uri="{BB962C8B-B14F-4D97-AF65-F5344CB8AC3E}">
        <p14:creationId xmlns:p14="http://schemas.microsoft.com/office/powerpoint/2010/main" val="2232240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A3742-0AA3-1D2E-770B-009AFEF162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76298-85D0-79F8-7A17-04F94C6D073E}"/>
              </a:ext>
            </a:extLst>
          </p:cNvPr>
          <p:cNvSpPr>
            <a:spLocks noGrp="1"/>
          </p:cNvSpPr>
          <p:nvPr>
            <p:ph idx="1"/>
          </p:nvPr>
        </p:nvSpPr>
        <p:spPr>
          <a:xfrm>
            <a:off x="3423684" y="591344"/>
            <a:ext cx="7930115" cy="5585619"/>
          </a:xfrm>
        </p:spPr>
        <p:txBody>
          <a:bodyPr anchor="ctr">
            <a:normAutofit/>
          </a:bodyPr>
          <a:lstStyle/>
          <a:p>
            <a:r>
              <a:rPr lang="en-US" sz="2400">
                <a:effectLst/>
                <a:ea typeface="Arial" panose="020B0604020202020204" pitchFamily="34" charset="0"/>
              </a:rPr>
              <a:t>In the video, the prosecutor calls the counselor’s competency into question. How does the counselor’s referencing of his clinical records strengthen the credibility and clinical justifications for discontinuing counseling with the client who is suing him?</a:t>
            </a:r>
          </a:p>
          <a:p>
            <a:endParaRPr lang="en-US" sz="1800"/>
          </a:p>
          <a:p>
            <a:r>
              <a:rPr lang="en-US" sz="2400">
                <a:effectLst/>
                <a:ea typeface="Arial" panose="020B0604020202020204" pitchFamily="34" charset="0"/>
              </a:rPr>
              <a:t>The counselor indicates that he sought consultation for his client’s issues on two separate occasions. Do the counselor’s efforts to gain outside perspectives and insight from other experienced clinicians support the client’s accusation of malpractice? Why, or why not?</a:t>
            </a:r>
          </a:p>
          <a:p>
            <a:endParaRPr lang="en-US" sz="1500"/>
          </a:p>
        </p:txBody>
      </p:sp>
      <p:sp>
        <p:nvSpPr>
          <p:cNvPr id="2" name="TextBox 1">
            <a:extLst>
              <a:ext uri="{FF2B5EF4-FFF2-40B4-BE49-F238E27FC236}">
                <a16:creationId xmlns:a16="http://schemas.microsoft.com/office/drawing/2014/main" id="{FFE14824-8B01-91F6-ED16-4A06CCFB855F}"/>
              </a:ext>
            </a:extLst>
          </p:cNvPr>
          <p:cNvSpPr txBox="1"/>
          <p:nvPr/>
        </p:nvSpPr>
        <p:spPr>
          <a:xfrm>
            <a:off x="705058" y="1178206"/>
            <a:ext cx="2493818" cy="646331"/>
          </a:xfrm>
          <a:prstGeom prst="rect">
            <a:avLst/>
          </a:prstGeom>
          <a:noFill/>
        </p:spPr>
        <p:txBody>
          <a:bodyPr wrap="square" rtlCol="0">
            <a:spAutoFit/>
          </a:bodyPr>
          <a:lstStyle/>
          <a:p>
            <a:r>
              <a:rPr lang="en-US" sz="3600">
                <a:effectLst/>
                <a:latin typeface="+mj-lt"/>
                <a:ea typeface="Times New Roman" panose="02020603050405020304" pitchFamily="18" charset="0"/>
              </a:rPr>
              <a:t>video 8.1</a:t>
            </a:r>
            <a:endParaRPr lang="en-US" sz="3600">
              <a:latin typeface="+mj-lt"/>
            </a:endParaRPr>
          </a:p>
        </p:txBody>
      </p:sp>
    </p:spTree>
    <p:extLst>
      <p:ext uri="{BB962C8B-B14F-4D97-AF65-F5344CB8AC3E}">
        <p14:creationId xmlns:p14="http://schemas.microsoft.com/office/powerpoint/2010/main" val="2731269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9554" y="1327789"/>
            <a:ext cx="7976646" cy="1698345"/>
          </a:xfrm>
        </p:spPr>
        <p:txBody>
          <a:bodyPr vert="horz" wrap="square" lIns="0" tIns="18000" rIns="0" bIns="18000" rtlCol="0" anchor="ctr" anchorCtr="0">
            <a:spAutoFit/>
          </a:bodyPr>
          <a:lstStyle/>
          <a:p>
            <a:r>
              <a:rPr lang="en-US"/>
              <a:t>When a client threatens to commit suicide, an ethical duty arises to protect the client from harm to self.</a:t>
            </a:r>
          </a:p>
        </p:txBody>
      </p:sp>
      <p:sp>
        <p:nvSpPr>
          <p:cNvPr id="3" name="TextBox 2">
            <a:extLst>
              <a:ext uri="{FF2B5EF4-FFF2-40B4-BE49-F238E27FC236}">
                <a16:creationId xmlns:a16="http://schemas.microsoft.com/office/drawing/2014/main" id="{AEFBBC02-FE89-6CC3-F62F-3738CD2303F6}"/>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4116008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Clients at Risk for Suicide</a:t>
            </a:r>
            <a:endParaRPr lang="en-US" sz="2800"/>
          </a:p>
        </p:txBody>
      </p:sp>
      <p:sp>
        <p:nvSpPr>
          <p:cNvPr id="3" name="Content Placeholder 2"/>
          <p:cNvSpPr>
            <a:spLocks noGrp="1"/>
          </p:cNvSpPr>
          <p:nvPr>
            <p:ph sz="quarter" idx="13"/>
          </p:nvPr>
        </p:nvSpPr>
        <p:spPr>
          <a:xfrm>
            <a:off x="1963949" y="1267321"/>
            <a:ext cx="8272252" cy="3897922"/>
          </a:xfrm>
          <a:prstGeom prst="rect">
            <a:avLst/>
          </a:prstGeom>
        </p:spPr>
        <p:txBody>
          <a:bodyPr wrap="square" lIns="0" tIns="18000" rIns="0" bIns="18000" anchor="ctr" anchorCtr="0">
            <a:spAutoFit/>
          </a:bodyPr>
          <a:lstStyle/>
          <a:p>
            <a:pPr marL="342900" indent="-342900">
              <a:spcBef>
                <a:spcPts val="600"/>
              </a:spcBef>
            </a:pPr>
            <a:r>
              <a:rPr lang="en-US" sz="2400"/>
              <a:t>Confidentiality requirements are waived when disclosure is necessary to protect clients or others from </a:t>
            </a:r>
            <a:r>
              <a:rPr lang="en-US" sz="2400" i="1"/>
              <a:t>serious and foreseeable harm</a:t>
            </a:r>
            <a:r>
              <a:rPr lang="en-US" sz="2400"/>
              <a:t> (</a:t>
            </a:r>
            <a:r>
              <a:rPr lang="en-US" sz="2400" spc="-300"/>
              <a:t>A C </a:t>
            </a:r>
            <a:r>
              <a:rPr lang="en-US" sz="2400"/>
              <a:t>A, 2014, </a:t>
            </a:r>
            <a:r>
              <a:rPr lang="en-US" sz="2400" i="1"/>
              <a:t>Code of Ethics</a:t>
            </a:r>
            <a:r>
              <a:rPr lang="en-US" sz="2400"/>
              <a:t>, §B.2.a.). </a:t>
            </a:r>
          </a:p>
          <a:p>
            <a:pPr marL="342900" indent="-342900">
              <a:spcBef>
                <a:spcPts val="600"/>
              </a:spcBef>
            </a:pPr>
            <a:r>
              <a:rPr lang="en-US" sz="2400"/>
              <a:t>The counselor’s first responsibility is to determine that a particular client may be in danger of attempting suicide. </a:t>
            </a:r>
          </a:p>
          <a:p>
            <a:pPr marL="829818" lvl="1" indent="-342900"/>
            <a:r>
              <a:rPr lang="en-US"/>
              <a:t>Evaluating and managing suicide risk is one of the most stressful situations that you will encounter in your work.</a:t>
            </a:r>
          </a:p>
          <a:p>
            <a:pPr marL="829818" lvl="1" indent="-342900"/>
            <a:r>
              <a:rPr lang="en-US"/>
              <a:t>Counselors should focus on assessing client protective factors against suicide while also assessing client risk factors for suicide. </a:t>
            </a:r>
          </a:p>
        </p:txBody>
      </p:sp>
      <p:sp>
        <p:nvSpPr>
          <p:cNvPr id="4" name="TextBox 3">
            <a:extLst>
              <a:ext uri="{FF2B5EF4-FFF2-40B4-BE49-F238E27FC236}">
                <a16:creationId xmlns:a16="http://schemas.microsoft.com/office/drawing/2014/main" id="{61558C88-2D1F-5E5C-4AA4-3924F3BBC96A}"/>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22622013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184168"/>
            <a:ext cx="8272253" cy="590349"/>
          </a:xfrm>
        </p:spPr>
        <p:txBody>
          <a:bodyPr vert="horz" wrap="square" lIns="0" tIns="18000" rIns="0" bIns="18000" rtlCol="0" anchor="ctr" anchorCtr="0">
            <a:spAutoFit/>
          </a:bodyPr>
          <a:lstStyle/>
          <a:p>
            <a:r>
              <a:rPr lang="en-US"/>
              <a:t>Clients at Risk for Suicide</a:t>
            </a:r>
            <a:endParaRPr lang="en-US" sz="2800"/>
          </a:p>
        </p:txBody>
      </p:sp>
      <p:sp>
        <p:nvSpPr>
          <p:cNvPr id="3" name="Content Placeholder 2"/>
          <p:cNvSpPr>
            <a:spLocks noGrp="1"/>
          </p:cNvSpPr>
          <p:nvPr>
            <p:ph sz="quarter" idx="13"/>
          </p:nvPr>
        </p:nvSpPr>
        <p:spPr>
          <a:xfrm>
            <a:off x="1783195" y="1361269"/>
            <a:ext cx="8272252" cy="4626839"/>
          </a:xfrm>
          <a:prstGeom prst="rect">
            <a:avLst/>
          </a:prstGeom>
        </p:spPr>
        <p:txBody>
          <a:bodyPr wrap="square" lIns="0" tIns="18000" rIns="0" bIns="18000" anchor="ctr" anchorCtr="0">
            <a:spAutoFit/>
          </a:bodyPr>
          <a:lstStyle/>
          <a:p>
            <a:pPr marL="342900" indent="-342900">
              <a:spcBef>
                <a:spcPts val="600"/>
              </a:spcBef>
            </a:pPr>
            <a:r>
              <a:rPr lang="en-US" sz="2400"/>
              <a:t>It is necessary for all counselors to know the warning signs that a particular person is at risk for suicide. </a:t>
            </a:r>
          </a:p>
          <a:p>
            <a:pPr marL="342900" indent="-342900">
              <a:spcBef>
                <a:spcPts val="600"/>
              </a:spcBef>
            </a:pPr>
            <a:r>
              <a:rPr lang="en-US" sz="2400"/>
              <a:t>Counselors have a legal duty to evaluate accurately a client’s potential for suicide.</a:t>
            </a:r>
          </a:p>
          <a:p>
            <a:pPr marL="829818" lvl="1" indent="-342900"/>
            <a:r>
              <a:rPr lang="en-US"/>
              <a:t>Counselors can be held liable for overreacting and for underreacting. </a:t>
            </a:r>
          </a:p>
          <a:p>
            <a:pPr marL="829818" lvl="1" indent="-342900"/>
            <a:r>
              <a:rPr lang="en-US"/>
              <a:t>However, courts have generally been reluctant to hold counselors accountable for harm that results from clients who attempt or complete suicide.</a:t>
            </a:r>
          </a:p>
          <a:p>
            <a:pPr marL="829818" lvl="1" indent="-342900"/>
            <a:r>
              <a:rPr lang="en-US"/>
              <a:t>Some counselors require clients at risk for suicide submit to an evaluation by a mental health professional who has an expertise in suicide as a condition for continuing to provide counseling. </a:t>
            </a:r>
          </a:p>
        </p:txBody>
      </p:sp>
      <p:sp>
        <p:nvSpPr>
          <p:cNvPr id="4" name="TextBox 3">
            <a:extLst>
              <a:ext uri="{FF2B5EF4-FFF2-40B4-BE49-F238E27FC236}">
                <a16:creationId xmlns:a16="http://schemas.microsoft.com/office/drawing/2014/main" id="{52D6B3E3-0C39-2756-EF19-1A791755A69E}"/>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7000027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8" y="399828"/>
            <a:ext cx="8272253" cy="590349"/>
          </a:xfrm>
        </p:spPr>
        <p:txBody>
          <a:bodyPr vert="horz" wrap="square" lIns="0" tIns="18000" rIns="0" bIns="18000" rtlCol="0" anchor="ctr" anchorCtr="0">
            <a:spAutoFit/>
          </a:bodyPr>
          <a:lstStyle/>
          <a:p>
            <a:r>
              <a:rPr lang="en-US"/>
              <a:t>Making Assessments for Suicide Risk</a:t>
            </a:r>
            <a:endParaRPr lang="en-US" sz="2800"/>
          </a:p>
        </p:txBody>
      </p:sp>
      <p:sp>
        <p:nvSpPr>
          <p:cNvPr id="3" name="Content Placeholder 2"/>
          <p:cNvSpPr>
            <a:spLocks noGrp="1"/>
          </p:cNvSpPr>
          <p:nvPr>
            <p:ph sz="quarter" idx="13"/>
          </p:nvPr>
        </p:nvSpPr>
        <p:spPr>
          <a:xfrm>
            <a:off x="1963949" y="1426957"/>
            <a:ext cx="8272252" cy="3181828"/>
          </a:xfrm>
          <a:prstGeom prst="rect">
            <a:avLst/>
          </a:prstGeom>
        </p:spPr>
        <p:txBody>
          <a:bodyPr wrap="square" lIns="0" tIns="18000" rIns="0" bIns="18000" anchor="ctr" anchorCtr="0">
            <a:spAutoFit/>
          </a:bodyPr>
          <a:lstStyle/>
          <a:p>
            <a:pPr marL="342900" indent="-342900">
              <a:spcBef>
                <a:spcPts val="600"/>
              </a:spcBef>
            </a:pPr>
            <a:r>
              <a:rPr lang="en-US" sz="2400"/>
              <a:t>If you work in an agency, school, hospital, or other organizational setting, you must always follow procedures established by your employer. </a:t>
            </a:r>
          </a:p>
          <a:p>
            <a:pPr marL="0" indent="0">
              <a:spcBef>
                <a:spcPts val="600"/>
              </a:spcBef>
              <a:buNone/>
            </a:pPr>
            <a:endParaRPr lang="en-US" sz="2400"/>
          </a:p>
          <a:p>
            <a:pPr marL="342900" indent="-342900">
              <a:spcBef>
                <a:spcPts val="600"/>
              </a:spcBef>
            </a:pPr>
            <a:r>
              <a:rPr lang="en-US" sz="2400"/>
              <a:t>If your employer does not have guidelines for how to manage potentially suicidal clients, you should ask that guidelines be established for the welfare of clients and to protect the counselors who have to make decisions in these difficult situations. </a:t>
            </a:r>
          </a:p>
        </p:txBody>
      </p:sp>
      <p:sp>
        <p:nvSpPr>
          <p:cNvPr id="4" name="TextBox 3">
            <a:extLst>
              <a:ext uri="{FF2B5EF4-FFF2-40B4-BE49-F238E27FC236}">
                <a16:creationId xmlns:a16="http://schemas.microsoft.com/office/drawing/2014/main" id="{6AC08424-9C76-D8AA-44BE-5F7025E1D314}"/>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6333216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3949" y="524121"/>
            <a:ext cx="8280402" cy="590349"/>
          </a:xfrm>
        </p:spPr>
        <p:txBody>
          <a:bodyPr vert="horz" wrap="square" lIns="0" tIns="18000" rIns="0" bIns="18000" rtlCol="0" anchor="ctr" anchorCtr="0">
            <a:spAutoFit/>
          </a:bodyPr>
          <a:lstStyle/>
          <a:p>
            <a:r>
              <a:rPr lang="en-US"/>
              <a:t>Non-suicidal self injury</a:t>
            </a:r>
          </a:p>
        </p:txBody>
      </p:sp>
      <p:sp>
        <p:nvSpPr>
          <p:cNvPr id="3" name="Content Placeholder 2"/>
          <p:cNvSpPr>
            <a:spLocks noGrp="1"/>
          </p:cNvSpPr>
          <p:nvPr>
            <p:ph sz="quarter" idx="13"/>
          </p:nvPr>
        </p:nvSpPr>
        <p:spPr>
          <a:xfrm>
            <a:off x="1963949" y="1448473"/>
            <a:ext cx="8272252" cy="3897922"/>
          </a:xfrm>
          <a:prstGeom prst="rect">
            <a:avLst/>
          </a:prstGeom>
        </p:spPr>
        <p:txBody>
          <a:bodyPr wrap="square" lIns="0" tIns="18000" rIns="0" bIns="18000" anchor="ctr" anchorCtr="0">
            <a:spAutoFit/>
          </a:bodyPr>
          <a:lstStyle/>
          <a:p>
            <a:pPr marL="342900" indent="-342900">
              <a:spcBef>
                <a:spcPts val="600"/>
              </a:spcBef>
            </a:pPr>
            <a:r>
              <a:rPr lang="en-US" sz="2400"/>
              <a:t>In recent years, the professional counseling literature has introduced considerable discussion regarding </a:t>
            </a:r>
            <a:r>
              <a:rPr lang="en-US" sz="2400" i="1" err="1"/>
              <a:t>nonsuicidal</a:t>
            </a:r>
            <a:r>
              <a:rPr lang="en-US" sz="2400" i="1"/>
              <a:t> self-injury </a:t>
            </a:r>
          </a:p>
          <a:p>
            <a:pPr marL="829818" lvl="1" indent="-342900"/>
            <a:r>
              <a:rPr lang="en-US"/>
              <a:t>such behaviors involve intentional bodily harm that cause tissue damage without an individual having the intent to die</a:t>
            </a:r>
          </a:p>
          <a:p>
            <a:pPr marL="342900" indent="-342900">
              <a:spcBef>
                <a:spcPts val="600"/>
              </a:spcBef>
            </a:pPr>
            <a:r>
              <a:rPr lang="en-US" sz="2400"/>
              <a:t>The prevailing belief among mental health professionals is that self-injury is not automatically a predictor of suicide attempts. </a:t>
            </a:r>
          </a:p>
          <a:p>
            <a:pPr marL="829818" lvl="1" indent="-342900"/>
            <a:r>
              <a:rPr lang="en-US"/>
              <a:t>self-injury and suicidal ideation are two separate behaviors and therefore should be assessed separately </a:t>
            </a:r>
          </a:p>
        </p:txBody>
      </p:sp>
      <p:sp>
        <p:nvSpPr>
          <p:cNvPr id="4" name="TextBox 3">
            <a:extLst>
              <a:ext uri="{FF2B5EF4-FFF2-40B4-BE49-F238E27FC236}">
                <a16:creationId xmlns:a16="http://schemas.microsoft.com/office/drawing/2014/main" id="{F42329F2-4C45-D2C8-5457-893252E5E411}"/>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40012294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C2EDB75-B02A-2E4E-FE46-6A54765ABC06}"/>
              </a:ext>
            </a:extLst>
          </p:cNvPr>
          <p:cNvSpPr txBox="1"/>
          <p:nvPr/>
        </p:nvSpPr>
        <p:spPr>
          <a:xfrm>
            <a:off x="1115568" y="548640"/>
            <a:ext cx="10168128" cy="117957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85A0A9"/>
                </a:solidFill>
                <a:latin typeface="+mj-lt"/>
                <a:ea typeface="+mj-ea"/>
                <a:cs typeface="+mj-cs"/>
              </a:rPr>
              <a:t>How do you determine if a client is suicidal?</a:t>
            </a:r>
          </a:p>
          <a:p>
            <a:pPr>
              <a:lnSpc>
                <a:spcPct val="90000"/>
              </a:lnSpc>
              <a:spcBef>
                <a:spcPct val="0"/>
              </a:spcBef>
              <a:spcAft>
                <a:spcPts val="600"/>
              </a:spcAft>
            </a:pPr>
            <a:endParaRPr lang="en-US" sz="4000" kern="1200">
              <a:solidFill>
                <a:schemeClr val="tx1"/>
              </a:solidFill>
              <a:latin typeface="+mj-lt"/>
              <a:ea typeface="+mj-ea"/>
              <a:cs typeface="+mj-cs"/>
            </a:endParaRP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D64D71E-5AC5-97CA-F0F7-FB548B097320}"/>
              </a:ext>
            </a:extLst>
          </p:cNvPr>
          <p:cNvSpPr>
            <a:spLocks noGrp="1"/>
          </p:cNvSpPr>
          <p:nvPr>
            <p:ph idx="1"/>
          </p:nvPr>
        </p:nvSpPr>
        <p:spPr>
          <a:xfrm>
            <a:off x="1115568" y="2481943"/>
            <a:ext cx="10168128" cy="3695020"/>
          </a:xfrm>
        </p:spPr>
        <p:txBody>
          <a:bodyPr vert="horz" lIns="91440" tIns="45720" rIns="91440" bIns="45720" rtlCol="0">
            <a:normAutofit/>
          </a:bodyPr>
          <a:lstStyle/>
          <a:p>
            <a:pPr marL="742950" marR="0" lvl="1">
              <a:spcBef>
                <a:spcPts val="0"/>
              </a:spcBef>
              <a:spcAft>
                <a:spcPts val="600"/>
              </a:spcAft>
              <a:tabLst>
                <a:tab pos="342900" algn="l"/>
                <a:tab pos="685800" algn="l"/>
                <a:tab pos="1028700" algn="l"/>
              </a:tabLst>
            </a:pPr>
            <a:r>
              <a:rPr lang="en-US" sz="2200">
                <a:effectLst/>
              </a:rPr>
              <a:t>Do you have a plan?</a:t>
            </a:r>
          </a:p>
          <a:p>
            <a:pPr marL="457200" marR="0" lvl="1">
              <a:spcBef>
                <a:spcPts val="0"/>
              </a:spcBef>
              <a:spcAft>
                <a:spcPts val="600"/>
              </a:spcAft>
              <a:tabLst>
                <a:tab pos="342900" algn="l"/>
                <a:tab pos="685800" algn="l"/>
                <a:tab pos="1028700" algn="l"/>
              </a:tabLst>
            </a:pPr>
            <a:endParaRPr lang="en-US" sz="2200">
              <a:effectLst/>
            </a:endParaRPr>
          </a:p>
          <a:p>
            <a:pPr marL="742950" marR="0" lvl="1">
              <a:spcBef>
                <a:spcPts val="0"/>
              </a:spcBef>
              <a:spcAft>
                <a:spcPts val="600"/>
              </a:spcAft>
              <a:tabLst>
                <a:tab pos="342900" algn="l"/>
                <a:tab pos="685800" algn="l"/>
                <a:tab pos="1028700" algn="l"/>
              </a:tabLst>
            </a:pPr>
            <a:r>
              <a:rPr lang="en-US" sz="2200">
                <a:effectLst/>
              </a:rPr>
              <a:t>Can you tell me specifically what you plan to do?</a:t>
            </a:r>
          </a:p>
          <a:p>
            <a:pPr marL="457200" marR="0" lvl="1">
              <a:spcBef>
                <a:spcPts val="0"/>
              </a:spcBef>
              <a:spcAft>
                <a:spcPts val="600"/>
              </a:spcAft>
              <a:tabLst>
                <a:tab pos="342900" algn="l"/>
                <a:tab pos="685800" algn="l"/>
                <a:tab pos="1028700" algn="l"/>
              </a:tabLst>
            </a:pPr>
            <a:endParaRPr lang="en-US" sz="2200">
              <a:effectLst/>
            </a:endParaRPr>
          </a:p>
          <a:p>
            <a:pPr marL="742950" marR="0" lvl="1">
              <a:spcBef>
                <a:spcPts val="0"/>
              </a:spcBef>
              <a:spcAft>
                <a:spcPts val="600"/>
              </a:spcAft>
              <a:tabLst>
                <a:tab pos="342900" algn="l"/>
                <a:tab pos="685800" algn="l"/>
                <a:tab pos="1028700" algn="l"/>
              </a:tabLst>
            </a:pPr>
            <a:r>
              <a:rPr lang="en-US" sz="2200">
                <a:effectLst/>
              </a:rPr>
              <a:t>Do you have access to the weapons, pills, etc., that you plan to use to end your life?</a:t>
            </a:r>
          </a:p>
          <a:p>
            <a:pPr marL="457200" marR="0" lvl="1">
              <a:spcBef>
                <a:spcPts val="0"/>
              </a:spcBef>
              <a:spcAft>
                <a:spcPts val="600"/>
              </a:spcAft>
              <a:tabLst>
                <a:tab pos="342900" algn="l"/>
                <a:tab pos="685800" algn="l"/>
                <a:tab pos="1028700" algn="l"/>
              </a:tabLst>
            </a:pPr>
            <a:endParaRPr lang="en-US" sz="2200">
              <a:effectLst/>
            </a:endParaRPr>
          </a:p>
          <a:p>
            <a:pPr marL="742950" marR="0" lvl="1">
              <a:spcBef>
                <a:spcPts val="0"/>
              </a:spcBef>
              <a:spcAft>
                <a:spcPts val="600"/>
              </a:spcAft>
              <a:tabLst>
                <a:tab pos="342900" algn="l"/>
                <a:tab pos="685800" algn="l"/>
                <a:tab pos="1028700" algn="l"/>
              </a:tabLst>
            </a:pPr>
            <a:r>
              <a:rPr lang="en-US" sz="2200">
                <a:effectLst/>
              </a:rPr>
              <a:t>Have you ever attempted to take your life before?  If yes, what happened </a:t>
            </a:r>
            <a:endParaRPr lang="en-US" sz="2200"/>
          </a:p>
        </p:txBody>
      </p:sp>
    </p:spTree>
    <p:extLst>
      <p:ext uri="{BB962C8B-B14F-4D97-AF65-F5344CB8AC3E}">
        <p14:creationId xmlns:p14="http://schemas.microsoft.com/office/powerpoint/2010/main" val="2804702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29" name="Rectangle 512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31" name="Rectangle 513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21" name="Rectangle 2">
            <a:extLst>
              <a:ext uri="{FF2B5EF4-FFF2-40B4-BE49-F238E27FC236}">
                <a16:creationId xmlns:a16="http://schemas.microsoft.com/office/drawing/2014/main" id="{C3C6B2A5-89C3-551F-993D-EB881838D2E0}"/>
              </a:ext>
            </a:extLst>
          </p:cNvPr>
          <p:cNvSpPr>
            <a:spLocks noGrp="1" noChangeArrowheads="1"/>
          </p:cNvSpPr>
          <p:nvPr>
            <p:ph type="title"/>
          </p:nvPr>
        </p:nvSpPr>
        <p:spPr>
          <a:xfrm>
            <a:off x="1115568" y="548640"/>
            <a:ext cx="10168128" cy="1179576"/>
          </a:xfrm>
        </p:spPr>
        <p:txBody>
          <a:bodyPr vert="horz" lIns="91440" tIns="45720" rIns="91440" bIns="45720" rtlCol="0">
            <a:normAutofit/>
          </a:bodyPr>
          <a:lstStyle/>
          <a:p>
            <a:r>
              <a:rPr lang="en-US" altLang="en-US" sz="3700" b="1" kern="1200" cap="none">
                <a:solidFill>
                  <a:srgbClr val="85A0A9"/>
                </a:solidFill>
                <a:latin typeface="+mj-lt"/>
                <a:ea typeface="+mj-ea"/>
                <a:cs typeface="+mj-cs"/>
              </a:rPr>
              <a:t>Guidelines for assessing suicidal behavior</a:t>
            </a:r>
          </a:p>
        </p:txBody>
      </p:sp>
      <p:sp>
        <p:nvSpPr>
          <p:cNvPr id="5133" name="Rectangle 513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22" name="Rectangle 3">
            <a:extLst>
              <a:ext uri="{FF2B5EF4-FFF2-40B4-BE49-F238E27FC236}">
                <a16:creationId xmlns:a16="http://schemas.microsoft.com/office/drawing/2014/main" id="{B21D0384-CDF6-DBDC-BB7F-6D4631C6FD58}"/>
              </a:ext>
            </a:extLst>
          </p:cNvPr>
          <p:cNvSpPr>
            <a:spLocks noGrp="1" noChangeArrowheads="1"/>
          </p:cNvSpPr>
          <p:nvPr>
            <p:ph type="body" idx="1"/>
          </p:nvPr>
        </p:nvSpPr>
        <p:spPr>
          <a:xfrm>
            <a:off x="1115568" y="2481943"/>
            <a:ext cx="10168128" cy="3695020"/>
          </a:xfrm>
        </p:spPr>
        <p:txBody>
          <a:bodyPr vert="horz" lIns="91440" tIns="45720" rIns="91440" bIns="45720" rtlCol="0">
            <a:normAutofit/>
          </a:bodyPr>
          <a:lstStyle/>
          <a:p>
            <a:r>
              <a:rPr lang="en-US" altLang="en-US" sz="1700" b="0"/>
              <a:t>Take direct verbal warnings seriously</a:t>
            </a:r>
          </a:p>
          <a:p>
            <a:r>
              <a:rPr lang="en-US" altLang="en-US" sz="1700" b="0"/>
              <a:t>Pay attention to previous suicide attempts</a:t>
            </a:r>
          </a:p>
          <a:p>
            <a:r>
              <a:rPr lang="en-US" altLang="en-US" sz="1700" b="0"/>
              <a:t>Identify clients suffering from depression</a:t>
            </a:r>
          </a:p>
          <a:p>
            <a:r>
              <a:rPr lang="en-US" altLang="en-US" sz="1700" b="0"/>
              <a:t>Be alert for feelings of hopelessness and helplessness (giving up prized belongings)</a:t>
            </a:r>
          </a:p>
          <a:p>
            <a:r>
              <a:rPr lang="en-US" altLang="en-US" sz="1700" b="0"/>
              <a:t>Monitor severe anxiety and panic attacks</a:t>
            </a:r>
          </a:p>
          <a:p>
            <a:r>
              <a:rPr lang="en-US" altLang="en-US" sz="1700" b="0"/>
              <a:t>Determine whether individual has a plan</a:t>
            </a:r>
          </a:p>
          <a:p>
            <a:r>
              <a:rPr lang="en-US" altLang="en-US" sz="1700" b="0"/>
              <a:t>Identify clients who have a history of severe alcohol or drug abuse</a:t>
            </a:r>
          </a:p>
          <a:p>
            <a:r>
              <a:rPr lang="en-US" altLang="en-US" sz="1700" b="0"/>
              <a:t>Be alert to client behaviors (e.g. giving prized possessions away, finalizing business affairs, or revising wills)</a:t>
            </a:r>
          </a:p>
          <a:p>
            <a:r>
              <a:rPr lang="en-US" altLang="en-US" sz="1700" b="0"/>
              <a:t>Determine history of psychiatric treatment</a:t>
            </a:r>
          </a:p>
        </p:txBody>
      </p:sp>
    </p:spTree>
    <p:extLst>
      <p:ext uri="{BB962C8B-B14F-4D97-AF65-F5344CB8AC3E}">
        <p14:creationId xmlns:p14="http://schemas.microsoft.com/office/powerpoint/2010/main" val="26661516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9581" y="485865"/>
            <a:ext cx="9545085" cy="590349"/>
          </a:xfrm>
        </p:spPr>
        <p:txBody>
          <a:bodyPr vert="horz" wrap="square" lIns="0" tIns="18000" rIns="0" bIns="18000" rtlCol="0" anchor="ctr" anchorCtr="0">
            <a:spAutoFit/>
          </a:bodyPr>
          <a:lstStyle/>
          <a:p>
            <a:r>
              <a:rPr lang="en-US"/>
              <a:t>Clients Who May Be at Risk for Harming Others</a:t>
            </a:r>
            <a:endParaRPr lang="en-US" sz="2800"/>
          </a:p>
        </p:txBody>
      </p:sp>
      <p:sp>
        <p:nvSpPr>
          <p:cNvPr id="3" name="Content Placeholder 2"/>
          <p:cNvSpPr>
            <a:spLocks noGrp="1"/>
          </p:cNvSpPr>
          <p:nvPr>
            <p:ph sz="quarter" idx="13"/>
          </p:nvPr>
        </p:nvSpPr>
        <p:spPr>
          <a:xfrm>
            <a:off x="1955799" y="1525818"/>
            <a:ext cx="8272252" cy="4255968"/>
          </a:xfrm>
          <a:prstGeom prst="rect">
            <a:avLst/>
          </a:prstGeom>
        </p:spPr>
        <p:txBody>
          <a:bodyPr wrap="square" lIns="0" tIns="18000" rIns="0" bIns="18000" anchor="ctr" anchorCtr="0">
            <a:spAutoFit/>
          </a:bodyPr>
          <a:lstStyle/>
          <a:p>
            <a:pPr marL="342900" indent="-342900">
              <a:spcBef>
                <a:spcPts val="600"/>
              </a:spcBef>
            </a:pPr>
            <a:r>
              <a:rPr lang="en-US" sz="2400"/>
              <a:t>Making this decision as to whether a client may be violent in the future is difficult, as there is no scientific certainty for such decisions. </a:t>
            </a:r>
          </a:p>
          <a:p>
            <a:pPr marL="342900" indent="-342900">
              <a:spcBef>
                <a:spcPts val="600"/>
              </a:spcBef>
            </a:pPr>
            <a:r>
              <a:rPr lang="en-US" sz="2400"/>
              <a:t>Standard B.2.a. of the </a:t>
            </a:r>
            <a:r>
              <a:rPr lang="en-US" sz="2400" i="1"/>
              <a:t>Code of Ethics </a:t>
            </a:r>
            <a:r>
              <a:rPr lang="en-US" sz="2400"/>
              <a:t>(</a:t>
            </a:r>
            <a:r>
              <a:rPr lang="en-US" sz="2400" spc="-300"/>
              <a:t>A C </a:t>
            </a:r>
            <a:r>
              <a:rPr lang="en-US" sz="2400"/>
              <a:t>A, 2014) states that the counselor’s confidentiality requirement “does not apply when disclosure is required to protect clients or identified others from serious and foreseeable harm.” </a:t>
            </a:r>
          </a:p>
          <a:p>
            <a:pPr marL="342900" indent="-342900">
              <a:spcBef>
                <a:spcPts val="600"/>
              </a:spcBef>
            </a:pPr>
            <a:r>
              <a:rPr lang="en-US" sz="2400"/>
              <a:t>If you do determine that a client may be a danger to another person, the law requires that you take whatever steps are necessary to prevent the harm and protect the foreseeable victim from danger (</a:t>
            </a:r>
            <a:r>
              <a:rPr lang="en-US" sz="2400" err="1"/>
              <a:t>Terasoff</a:t>
            </a:r>
            <a:r>
              <a:rPr lang="en-US" sz="2400"/>
              <a:t> case)</a:t>
            </a:r>
          </a:p>
          <a:p>
            <a:pPr marL="342900" indent="-342900">
              <a:spcBef>
                <a:spcPts val="600"/>
              </a:spcBef>
            </a:pPr>
            <a:endParaRPr lang="en-US" sz="2400"/>
          </a:p>
        </p:txBody>
      </p:sp>
      <p:sp>
        <p:nvSpPr>
          <p:cNvPr id="5" name="TextBox 4">
            <a:extLst>
              <a:ext uri="{FF2B5EF4-FFF2-40B4-BE49-F238E27FC236}">
                <a16:creationId xmlns:a16="http://schemas.microsoft.com/office/drawing/2014/main" id="{2EFBBA15-C988-5743-D573-806A3BCE803B}"/>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42287769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2112" y="460212"/>
            <a:ext cx="9867014" cy="590349"/>
          </a:xfrm>
        </p:spPr>
        <p:txBody>
          <a:bodyPr vert="horz" wrap="square" lIns="0" tIns="18000" rIns="0" bIns="18000" rtlCol="0" anchor="ctr" anchorCtr="0">
            <a:spAutoFit/>
          </a:bodyPr>
          <a:lstStyle/>
          <a:p>
            <a:r>
              <a:rPr lang="en-US"/>
              <a:t>Clients Who May Be at Risk for Harming Others</a:t>
            </a:r>
            <a:endParaRPr lang="en-US" sz="2800"/>
          </a:p>
        </p:txBody>
      </p:sp>
      <p:sp>
        <p:nvSpPr>
          <p:cNvPr id="3" name="Content Placeholder 2"/>
          <p:cNvSpPr>
            <a:spLocks noGrp="1"/>
          </p:cNvSpPr>
          <p:nvPr>
            <p:ph sz="quarter" idx="13"/>
          </p:nvPr>
        </p:nvSpPr>
        <p:spPr>
          <a:xfrm>
            <a:off x="1963949" y="1749585"/>
            <a:ext cx="8272252" cy="4330861"/>
          </a:xfrm>
          <a:prstGeom prst="rect">
            <a:avLst/>
          </a:prstGeom>
        </p:spPr>
        <p:txBody>
          <a:bodyPr wrap="square" lIns="0" tIns="18000" rIns="0" bIns="18000" anchor="ctr" anchorCtr="0">
            <a:spAutoFit/>
          </a:bodyPr>
          <a:lstStyle/>
          <a:p>
            <a:pPr marL="342900" indent="-342900">
              <a:spcBef>
                <a:spcPts val="600"/>
              </a:spcBef>
            </a:pPr>
            <a:r>
              <a:rPr lang="en-US" sz="2200"/>
              <a:t>Choices range from the least intrusive action (obtaining a promise from your client not to harm anyone else) to the most intrusive (having the client involuntarily committed to a psychiatric facility). </a:t>
            </a:r>
          </a:p>
          <a:p>
            <a:pPr marL="342900" indent="-342900">
              <a:spcBef>
                <a:spcPts val="600"/>
              </a:spcBef>
            </a:pPr>
            <a:r>
              <a:rPr lang="en-US" sz="2200"/>
              <a:t>Numerous possibilities exist between these two extremes, such as:</a:t>
            </a:r>
          </a:p>
          <a:p>
            <a:pPr marL="829818" lvl="1" indent="-342900"/>
            <a:r>
              <a:rPr lang="en-US" sz="2200"/>
              <a:t>notifying the client’s family members and getting one of them to take responsibility for keeping the client under control</a:t>
            </a:r>
          </a:p>
          <a:p>
            <a:pPr marL="829818" lvl="1" indent="-342900"/>
            <a:r>
              <a:rPr lang="en-US" sz="2200"/>
              <a:t>persuading the client to be voluntarily committed to a residential facility</a:t>
            </a:r>
          </a:p>
          <a:p>
            <a:pPr marL="829818" lvl="1" indent="-342900"/>
            <a:r>
              <a:rPr lang="en-US" sz="2200"/>
              <a:t>notifying the police </a:t>
            </a:r>
          </a:p>
          <a:p>
            <a:pPr marL="829818" lvl="1" indent="-342900"/>
            <a:r>
              <a:rPr lang="en-US" sz="2200"/>
              <a:t>calling the client periodically</a:t>
            </a:r>
          </a:p>
        </p:txBody>
      </p:sp>
      <p:sp>
        <p:nvSpPr>
          <p:cNvPr id="4" name="TextBox 3">
            <a:extLst>
              <a:ext uri="{FF2B5EF4-FFF2-40B4-BE49-F238E27FC236}">
                <a16:creationId xmlns:a16="http://schemas.microsoft.com/office/drawing/2014/main" id="{6772F744-BA41-F916-7F30-1EE15DB045FF}"/>
              </a:ext>
            </a:extLst>
          </p:cNvPr>
          <p:cNvSpPr txBox="1"/>
          <p:nvPr/>
        </p:nvSpPr>
        <p:spPr>
          <a:xfrm>
            <a:off x="7552706" y="6187044"/>
            <a:ext cx="2660073" cy="369332"/>
          </a:xfrm>
          <a:prstGeom prst="rect">
            <a:avLst/>
          </a:prstGeom>
          <a:noFill/>
        </p:spPr>
        <p:txBody>
          <a:bodyPr wrap="square" rtlCol="0">
            <a:spAutoFit/>
          </a:bodyPr>
          <a:lstStyle/>
          <a:p>
            <a:r>
              <a:rPr lang="en-US"/>
              <a:t>Pearson, 2025</a:t>
            </a:r>
          </a:p>
        </p:txBody>
      </p:sp>
    </p:spTree>
    <p:extLst>
      <p:ext uri="{BB962C8B-B14F-4D97-AF65-F5344CB8AC3E}">
        <p14:creationId xmlns:p14="http://schemas.microsoft.com/office/powerpoint/2010/main" val="10811659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64D71E-5AC5-97CA-F0F7-FB548B097320}"/>
              </a:ext>
            </a:extLst>
          </p:cNvPr>
          <p:cNvSpPr>
            <a:spLocks noGrp="1"/>
          </p:cNvSpPr>
          <p:nvPr>
            <p:ph idx="1"/>
          </p:nvPr>
        </p:nvSpPr>
        <p:spPr>
          <a:xfrm>
            <a:off x="4447308" y="591344"/>
            <a:ext cx="6906491" cy="5585619"/>
          </a:xfrm>
        </p:spPr>
        <p:txBody>
          <a:bodyPr anchor="ctr">
            <a:normAutofit/>
          </a:bodyPr>
          <a:lstStyle/>
          <a:p>
            <a:pPr>
              <a:spcBef>
                <a:spcPts val="0"/>
              </a:spcBef>
              <a:tabLst>
                <a:tab pos="342900" algn="l"/>
                <a:tab pos="685800" algn="l"/>
                <a:tab pos="1028700" algn="l"/>
              </a:tabLst>
            </a:pPr>
            <a:r>
              <a:rPr lang="en-US">
                <a:effectLst/>
                <a:ea typeface="Times New Roman" panose="02020603050405020304" pitchFamily="18" charset="0"/>
                <a:cs typeface="Times New Roman" panose="02020603050405020304" pitchFamily="18" charset="0"/>
              </a:rPr>
              <a:t>respond directly to the person making the threat, if possible.</a:t>
            </a:r>
          </a:p>
          <a:p>
            <a:pPr>
              <a:spcBef>
                <a:spcPts val="0"/>
              </a:spcBef>
              <a:tabLst>
                <a:tab pos="342900" algn="l"/>
                <a:tab pos="685800" algn="l"/>
                <a:tab pos="1028700" algn="l"/>
              </a:tabLst>
            </a:pPr>
            <a:endParaRPr lang="en-US">
              <a:effectLst/>
              <a:ea typeface="Times New Roman" panose="02020603050405020304" pitchFamily="18" charset="0"/>
              <a:cs typeface="Times New Roman" panose="02020603050405020304" pitchFamily="18" charset="0"/>
            </a:endParaRPr>
          </a:p>
          <a:p>
            <a:pPr>
              <a:spcBef>
                <a:spcPts val="0"/>
              </a:spcBef>
              <a:tabLst>
                <a:tab pos="342900" algn="l"/>
                <a:tab pos="685800" algn="l"/>
                <a:tab pos="1028700" algn="l"/>
              </a:tabLst>
            </a:pPr>
            <a:r>
              <a:rPr lang="en-US">
                <a:ea typeface="Times New Roman" panose="02020603050405020304" pitchFamily="18" charset="0"/>
                <a:cs typeface="Times New Roman" panose="02020603050405020304" pitchFamily="18" charset="0"/>
              </a:rPr>
              <a:t>C</a:t>
            </a:r>
            <a:r>
              <a:rPr lang="en-US">
                <a:effectLst/>
                <a:ea typeface="Times New Roman" panose="02020603050405020304" pitchFamily="18" charset="0"/>
                <a:cs typeface="Times New Roman" panose="02020603050405020304" pitchFamily="18" charset="0"/>
              </a:rPr>
              <a:t>alm the person down, if possible, and listen to the concerns.</a:t>
            </a:r>
          </a:p>
          <a:p>
            <a:pPr>
              <a:spcBef>
                <a:spcPts val="0"/>
              </a:spcBef>
              <a:tabLst>
                <a:tab pos="342900" algn="l"/>
                <a:tab pos="685800" algn="l"/>
                <a:tab pos="1028700" algn="l"/>
              </a:tabLst>
            </a:pPr>
            <a:endParaRPr lang="en-US">
              <a:effectLst/>
              <a:ea typeface="Times New Roman" panose="02020603050405020304" pitchFamily="18" charset="0"/>
              <a:cs typeface="Times New Roman" panose="02020603050405020304" pitchFamily="18" charset="0"/>
            </a:endParaRPr>
          </a:p>
          <a:p>
            <a:pPr>
              <a:spcBef>
                <a:spcPts val="0"/>
              </a:spcBef>
              <a:tabLst>
                <a:tab pos="342900" algn="l"/>
                <a:tab pos="685800" algn="l"/>
                <a:tab pos="1028700" algn="l"/>
              </a:tabLst>
            </a:pPr>
            <a:r>
              <a:rPr lang="en-US">
                <a:ea typeface="Times New Roman" panose="02020603050405020304" pitchFamily="18" charset="0"/>
                <a:cs typeface="Times New Roman" panose="02020603050405020304" pitchFamily="18" charset="0"/>
              </a:rPr>
              <a:t>B</a:t>
            </a:r>
            <a:r>
              <a:rPr lang="en-US">
                <a:effectLst/>
                <a:ea typeface="Times New Roman" panose="02020603050405020304" pitchFamily="18" charset="0"/>
                <a:cs typeface="Times New Roman" panose="02020603050405020304" pitchFamily="18" charset="0"/>
              </a:rPr>
              <a:t>e careful and not admit to wrongdoing.</a:t>
            </a:r>
          </a:p>
          <a:p>
            <a:pPr>
              <a:spcBef>
                <a:spcPts val="0"/>
              </a:spcBef>
              <a:tabLst>
                <a:tab pos="342900" algn="l"/>
                <a:tab pos="685800" algn="l"/>
                <a:tab pos="1028700" algn="l"/>
              </a:tabLst>
            </a:pPr>
            <a:endParaRPr lang="en-US">
              <a:effectLst/>
              <a:ea typeface="Times New Roman" panose="02020603050405020304" pitchFamily="18" charset="0"/>
              <a:cs typeface="Times New Roman" panose="02020603050405020304" pitchFamily="18" charset="0"/>
            </a:endParaRPr>
          </a:p>
          <a:p>
            <a:pPr>
              <a:spcBef>
                <a:spcPts val="0"/>
              </a:spcBef>
              <a:tabLst>
                <a:tab pos="342900" algn="l"/>
                <a:tab pos="685800" algn="l"/>
                <a:tab pos="1028700" algn="l"/>
              </a:tabLst>
            </a:pPr>
            <a:r>
              <a:rPr lang="en-US">
                <a:effectLst/>
                <a:ea typeface="Times New Roman" panose="02020603050405020304" pitchFamily="18" charset="0"/>
                <a:cs typeface="Times New Roman" panose="02020603050405020304" pitchFamily="18" charset="0"/>
              </a:rPr>
              <a:t>Do not say anything that you would not want repeated or would not want to repeat under oath at a later time.</a:t>
            </a:r>
          </a:p>
          <a:p>
            <a:pPr marL="0" indent="0">
              <a:spcBef>
                <a:spcPts val="0"/>
              </a:spcBef>
              <a:buNone/>
              <a:tabLst>
                <a:tab pos="342900" algn="l"/>
                <a:tab pos="685800" algn="l"/>
                <a:tab pos="1028700" algn="l"/>
              </a:tabLst>
            </a:pPr>
            <a:endParaRPr lang="en-US">
              <a:effectLst/>
              <a:ea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C94A788-8865-2258-A21B-DBD6AAE8D063}"/>
              </a:ext>
            </a:extLst>
          </p:cNvPr>
          <p:cNvSpPr txBox="1"/>
          <p:nvPr/>
        </p:nvSpPr>
        <p:spPr>
          <a:xfrm>
            <a:off x="705058" y="1178206"/>
            <a:ext cx="2493818" cy="3416320"/>
          </a:xfrm>
          <a:prstGeom prst="rect">
            <a:avLst/>
          </a:prstGeom>
          <a:noFill/>
        </p:spPr>
        <p:txBody>
          <a:bodyPr wrap="square" rtlCol="0">
            <a:spAutoFit/>
          </a:bodyPr>
          <a:lstStyle/>
          <a:p>
            <a:r>
              <a:rPr lang="en-US" sz="3600">
                <a:solidFill>
                  <a:schemeClr val="bg1"/>
                </a:solidFill>
                <a:latin typeface="+mj-lt"/>
              </a:rPr>
              <a:t>What should you do if an angry client threatens to sue you?</a:t>
            </a:r>
          </a:p>
        </p:txBody>
      </p:sp>
    </p:spTree>
    <p:extLst>
      <p:ext uri="{BB962C8B-B14F-4D97-AF65-F5344CB8AC3E}">
        <p14:creationId xmlns:p14="http://schemas.microsoft.com/office/powerpoint/2010/main" val="27951753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710BC-9DA9-2E78-3A6E-85BDEB622C36}"/>
              </a:ext>
            </a:extLst>
          </p:cNvPr>
          <p:cNvSpPr>
            <a:spLocks noGrp="1"/>
          </p:cNvSpPr>
          <p:nvPr>
            <p:ph type="title"/>
          </p:nvPr>
        </p:nvSpPr>
        <p:spPr>
          <a:xfrm>
            <a:off x="457199" y="914400"/>
            <a:ext cx="10015871" cy="1572768"/>
          </a:xfrm>
        </p:spPr>
        <p:txBody>
          <a:bodyPr/>
          <a:lstStyle/>
          <a:p>
            <a:r>
              <a:rPr lang="en-US"/>
              <a:t>The cases of Monica and the case of Javier</a:t>
            </a:r>
          </a:p>
        </p:txBody>
      </p:sp>
      <p:sp>
        <p:nvSpPr>
          <p:cNvPr id="4" name="Text Placeholder 3">
            <a:extLst>
              <a:ext uri="{FF2B5EF4-FFF2-40B4-BE49-F238E27FC236}">
                <a16:creationId xmlns:a16="http://schemas.microsoft.com/office/drawing/2014/main" id="{EA187A32-AA50-DE9E-6C9E-39CB7D18843C}"/>
              </a:ext>
            </a:extLst>
          </p:cNvPr>
          <p:cNvSpPr>
            <a:spLocks noGrp="1"/>
          </p:cNvSpPr>
          <p:nvPr>
            <p:ph type="body" sz="quarter" idx="14"/>
          </p:nvPr>
        </p:nvSpPr>
        <p:spPr>
          <a:xfrm>
            <a:off x="457200" y="2540000"/>
            <a:ext cx="10015870" cy="3403600"/>
          </a:xfrm>
        </p:spPr>
        <p:txBody>
          <a:bodyPr lIns="91440" tIns="45720" rIns="91440" bIns="45720" anchor="t"/>
          <a:lstStyle/>
          <a:p>
            <a:r>
              <a:rPr lang="en-US"/>
              <a:t>Review the cases of Monica (p.202) and </a:t>
            </a:r>
            <a:r>
              <a:rPr lang="en-US" err="1"/>
              <a:t>Jovier</a:t>
            </a:r>
            <a:r>
              <a:rPr lang="en-US"/>
              <a:t> (p.207) in pairs and discuss action steps you would take. Then take turns role playing the counselor and client for these two cases. </a:t>
            </a:r>
          </a:p>
        </p:txBody>
      </p:sp>
    </p:spTree>
    <p:extLst>
      <p:ext uri="{BB962C8B-B14F-4D97-AF65-F5344CB8AC3E}">
        <p14:creationId xmlns:p14="http://schemas.microsoft.com/office/powerpoint/2010/main" val="855884897"/>
      </p:ext>
    </p:extLst>
  </p:cSld>
  <p:clrMapOvr>
    <a:masterClrMapping/>
  </p:clrMapOvr>
</p:sld>
</file>

<file path=ppt/theme/theme1.xml><?xml version="1.0" encoding="utf-8"?>
<a:theme xmlns:a="http://schemas.openxmlformats.org/drawingml/2006/main" name="Balancing Act">
  <a:themeElements>
    <a:clrScheme name="Balancing Act">
      <a:dk1>
        <a:sysClr val="windowText" lastClr="000000"/>
      </a:dk1>
      <a:lt1>
        <a:sysClr val="window" lastClr="FFFFFF"/>
      </a:lt1>
      <a:dk2>
        <a:srgbClr val="8A4C5D"/>
      </a:dk2>
      <a:lt2>
        <a:srgbClr val="9E838E"/>
      </a:lt2>
      <a:accent1>
        <a:srgbClr val="C6ADB0"/>
      </a:accent1>
      <a:accent2>
        <a:srgbClr val="E3C0BF"/>
      </a:accent2>
      <a:accent3>
        <a:srgbClr val="D4937F"/>
      </a:accent3>
      <a:accent4>
        <a:srgbClr val="CCB87E"/>
      </a:accent4>
      <a:accent5>
        <a:srgbClr val="6667AB"/>
      </a:accent5>
      <a:accent6>
        <a:srgbClr val="86A094"/>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lspring">
  <a:themeElements>
    <a:clrScheme name="Wellspring">
      <a:dk1>
        <a:sysClr val="windowText" lastClr="000000"/>
      </a:dk1>
      <a:lt1>
        <a:sysClr val="window" lastClr="FFFFFF"/>
      </a:lt1>
      <a:dk2>
        <a:srgbClr val="A1CAC9"/>
      </a:dk2>
      <a:lt2>
        <a:srgbClr val="48996B"/>
      </a:lt2>
      <a:accent1>
        <a:srgbClr val="759F51"/>
      </a:accent1>
      <a:accent2>
        <a:srgbClr val="436A2F"/>
      </a:accent2>
      <a:accent3>
        <a:srgbClr val="CFBF54"/>
      </a:accent3>
      <a:accent4>
        <a:srgbClr val="B3832F"/>
      </a:accent4>
      <a:accent5>
        <a:srgbClr val="8C5896"/>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tar of the show">
  <a:themeElements>
    <a:clrScheme name="Star of the show">
      <a:dk1>
        <a:sysClr val="windowText" lastClr="000000"/>
      </a:dk1>
      <a:lt1>
        <a:sysClr val="window" lastClr="FFFFFF"/>
      </a:lt1>
      <a:dk2>
        <a:srgbClr val="29282D"/>
      </a:dk2>
      <a:lt2>
        <a:srgbClr val="625C60"/>
      </a:lt2>
      <a:accent1>
        <a:srgbClr val="7C6560"/>
      </a:accent1>
      <a:accent2>
        <a:srgbClr val="AEA392"/>
      </a:accent2>
      <a:accent3>
        <a:srgbClr val="DBD4D0"/>
      </a:accent3>
      <a:accent4>
        <a:srgbClr val="8E7961"/>
      </a:accent4>
      <a:accent5>
        <a:srgbClr val="F0EDE8"/>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musements">
  <a:themeElements>
    <a:clrScheme name="Amusements">
      <a:dk1>
        <a:sysClr val="windowText" lastClr="000000"/>
      </a:dk1>
      <a:lt1>
        <a:sysClr val="window" lastClr="FFFFFF"/>
      </a:lt1>
      <a:dk2>
        <a:srgbClr val="D77E6F"/>
      </a:dk2>
      <a:lt2>
        <a:srgbClr val="6667AB"/>
      </a:lt2>
      <a:accent1>
        <a:srgbClr val="B38F6A"/>
      </a:accent1>
      <a:accent2>
        <a:srgbClr val="D75078"/>
      </a:accent2>
      <a:accent3>
        <a:srgbClr val="E288B6"/>
      </a:accent3>
      <a:accent4>
        <a:srgbClr val="E9445D"/>
      </a:accent4>
      <a:accent5>
        <a:srgbClr val="EEC272"/>
      </a:accent5>
      <a:accent6>
        <a:srgbClr val="85A0A9"/>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tf66906339_win32</Template>
  <TotalTime>0</TotalTime>
  <Words>5179</Words>
  <Application>Microsoft Macintosh PowerPoint</Application>
  <PresentationFormat>Widescreen</PresentationFormat>
  <Paragraphs>527</Paragraphs>
  <Slides>66</Slides>
  <Notes>23</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66</vt:i4>
      </vt:variant>
    </vt:vector>
  </HeadingPairs>
  <TitlesOfParts>
    <vt:vector size="80" baseType="lpstr">
      <vt:lpstr>ＭＳ Ｐゴシック</vt:lpstr>
      <vt:lpstr>Arial</vt:lpstr>
      <vt:lpstr>Arial,BoldItalic</vt:lpstr>
      <vt:lpstr>Arial,Italic</vt:lpstr>
      <vt:lpstr>Calibri</vt:lpstr>
      <vt:lpstr>LucidaSans</vt:lpstr>
      <vt:lpstr>Monotype Sorts</vt:lpstr>
      <vt:lpstr>Segoe UI</vt:lpstr>
      <vt:lpstr>Segoe UI Light</vt:lpstr>
      <vt:lpstr>Times New Roman</vt:lpstr>
      <vt:lpstr>Balancing Act</vt:lpstr>
      <vt:lpstr>Wellspring</vt:lpstr>
      <vt:lpstr>Star of the show</vt:lpstr>
      <vt:lpstr>Amusements</vt:lpstr>
      <vt:lpstr>Class 4</vt:lpstr>
      <vt:lpstr>agenda</vt:lpstr>
      <vt:lpstr>Records and Subpoenas </vt:lpstr>
      <vt:lpstr>ACA on Records: what stands out or Suprises you?</vt:lpstr>
      <vt:lpstr>Why should counselors keep good notes?  </vt:lpstr>
      <vt:lpstr>A few important considerations regarding note taking</vt:lpstr>
      <vt:lpstr>A few important considerations regarding note taking</vt:lpstr>
      <vt:lpstr>Writing what we did as counselors is an important part of notes</vt:lpstr>
      <vt:lpstr>Other Records counselors keep  </vt:lpstr>
      <vt:lpstr>Audio and video tapes  </vt:lpstr>
      <vt:lpstr>Read the case of Paolo on p. 136-137</vt:lpstr>
      <vt:lpstr>If a client requests their records </vt:lpstr>
      <vt:lpstr>activity: Watch the 6.1 video and answer the following questions  </vt:lpstr>
      <vt:lpstr>Counselors must take steps to ensure client notes remain confidential. What steps are important (see case 6-2). However, you should also assume others will see your records.</vt:lpstr>
      <vt:lpstr>The Health Insurance Portability and Accountability Act (HIPAA) requires   </vt:lpstr>
      <vt:lpstr>HIPPA EXCEPTIONS For Clients that need extra support (P. 150)  </vt:lpstr>
      <vt:lpstr>Subpoenas</vt:lpstr>
      <vt:lpstr>If you are subpoenaed:</vt:lpstr>
      <vt:lpstr>CCS-R, (E) on Records</vt:lpstr>
      <vt:lpstr>Counselor Competency</vt:lpstr>
      <vt:lpstr>PowerPoint Presentation</vt:lpstr>
      <vt:lpstr>PowerPoint Presentation</vt:lpstr>
      <vt:lpstr>How does the field encourage counselor competency? </vt:lpstr>
      <vt:lpstr>Licensure </vt:lpstr>
      <vt:lpstr>Washington Counseling Licenses   Https://doh.Wa.Gov/licenses-permits-and-certificates/professions-new-renew-or-update/mental-health-counselor/licensing-information  </vt:lpstr>
      <vt:lpstr>certification  </vt:lpstr>
      <vt:lpstr>Once counselors begin to practice, they are responsible for determining their own competence.</vt:lpstr>
      <vt:lpstr>Maintaining Competence (1 of 4)</vt:lpstr>
      <vt:lpstr>Maintaining Competence (2 of 4)</vt:lpstr>
      <vt:lpstr>Maintaining Competence (3 of 4)</vt:lpstr>
      <vt:lpstr>Maintaining Competence (4 of 4)</vt:lpstr>
      <vt:lpstr>Erosion of Competence (1 of 3)</vt:lpstr>
      <vt:lpstr>Erosion of Competence (2 of 3)</vt:lpstr>
      <vt:lpstr>Erosion of Competence (3 of 3)</vt:lpstr>
      <vt:lpstr>2014 ACA codes on impairment</vt:lpstr>
      <vt:lpstr>If counselors determine they are impaired, they must limit, suspend, or terminate their professional responsibilities and seek assistance to address their problems.</vt:lpstr>
      <vt:lpstr>Christian character virtues, Watson, 2018</vt:lpstr>
      <vt:lpstr>TO CULTIVATE WISDOM (WATSON, 2018)</vt:lpstr>
      <vt:lpstr>DISCERNMENT (WATSON, 2018) </vt:lpstr>
      <vt:lpstr>PowerPoint Presentation</vt:lpstr>
      <vt:lpstr>Intakes: video 7.1</vt:lpstr>
      <vt:lpstr>Assessment</vt:lpstr>
      <vt:lpstr>Formal Evaluations</vt:lpstr>
      <vt:lpstr>Counselor as Expert Witness</vt:lpstr>
      <vt:lpstr>Testing</vt:lpstr>
      <vt:lpstr>Diagnosis (1 of 2)</vt:lpstr>
      <vt:lpstr>Diagnosis (2 of 2)</vt:lpstr>
      <vt:lpstr>Video 7.2</vt:lpstr>
      <vt:lpstr>PowerPoint Presentation</vt:lpstr>
      <vt:lpstr>Malpractice and resolving legal and ethical challenges</vt:lpstr>
      <vt:lpstr>Malpractice (1 of 3)</vt:lpstr>
      <vt:lpstr>Malpractice</vt:lpstr>
      <vt:lpstr>Most common reasons for malpractice lawsuits</vt:lpstr>
      <vt:lpstr>PowerPoint Presentation</vt:lpstr>
      <vt:lpstr>PowerPoint Presentation</vt:lpstr>
      <vt:lpstr>When a client threatens to commit suicide, an ethical duty arises to protect the client from harm to self.</vt:lpstr>
      <vt:lpstr>Clients at Risk for Suicide</vt:lpstr>
      <vt:lpstr>Clients at Risk for Suicide</vt:lpstr>
      <vt:lpstr>Making Assessments for Suicide Risk</vt:lpstr>
      <vt:lpstr>Non-suicidal self injury</vt:lpstr>
      <vt:lpstr>PowerPoint Presentation</vt:lpstr>
      <vt:lpstr>Guidelines for assessing suicidal behavior</vt:lpstr>
      <vt:lpstr>Clients Who May Be at Risk for Harming Others</vt:lpstr>
      <vt:lpstr>Clients Who May Be at Risk for Harming Others</vt:lpstr>
      <vt:lpstr>PowerPoint Presentation</vt:lpstr>
      <vt:lpstr>The cases of Monica and the case of Javier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4</dc:title>
  <dc:creator/>
  <cp:revision>1</cp:revision>
  <dcterms:created xsi:type="dcterms:W3CDTF">2021-12-08T21:54:28Z</dcterms:created>
  <dcterms:modified xsi:type="dcterms:W3CDTF">2026-02-13T01:44:04Z</dcterms:modified>
</cp:coreProperties>
</file>